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63cd241ad2b48ae" /><Relationship Type="http://schemas.openxmlformats.org/officeDocument/2006/relationships/extended-properties" Target="/docProps/app.xml" Id="R09df912c38074a5a" /><Relationship Type="http://schemas.openxmlformats.org/officeDocument/2006/relationships/officeDocument" Target="/ppt/presentation.xml" Id="Rf5ec72a92eb2484b" /></Relationships>
</file>

<file path=ppt/presentation.xml><?xml version="1.0" encoding="utf-8"?>
<p:presentation xmlns:p="http://schemas.openxmlformats.org/presentationml/2006/main">
  <p:sldMasterIdLst>
    <p:sldMasterId xmlns:r="http://schemas.openxmlformats.org/officeDocument/2006/relationships" id="2147483648" r:id="Recb777733af24ffb"/>
  </p:sldMasterIdLst>
  <p:notesMasterIdLst>
    <p:notesMasterId xmlns:r="http://schemas.openxmlformats.org/officeDocument/2006/relationships" r:id="Rf9a87a5ab0844615"/>
  </p:notesMasterIdLst>
  <p:sldIdLst>
    <p:sldId xmlns:r="http://schemas.openxmlformats.org/officeDocument/2006/relationships" id="256" r:id="Raa43d0deae21494a"/>
    <p:sldId xmlns:r="http://schemas.openxmlformats.org/officeDocument/2006/relationships" id="257" r:id="Rb0fdfd181b2c4222"/>
    <p:sldId xmlns:r="http://schemas.openxmlformats.org/officeDocument/2006/relationships" id="258" r:id="R759a5b87a795408c"/>
    <p:sldId xmlns:r="http://schemas.openxmlformats.org/officeDocument/2006/relationships" id="259" r:id="R5f137f01d20941a3"/>
    <p:sldId xmlns:r="http://schemas.openxmlformats.org/officeDocument/2006/relationships" id="260" r:id="R6d57b444e81e447d"/>
    <p:sldId xmlns:r="http://schemas.openxmlformats.org/officeDocument/2006/relationships" id="261" r:id="R0c61d3e434164f96"/>
    <p:sldId xmlns:r="http://schemas.openxmlformats.org/officeDocument/2006/relationships" id="262" r:id="R5d5f85a9db70485e"/>
    <p:sldId xmlns:r="http://schemas.openxmlformats.org/officeDocument/2006/relationships" id="263" r:id="R7740ce7c2d3a4df3"/>
    <p:sldId xmlns:r="http://schemas.openxmlformats.org/officeDocument/2006/relationships" id="264" r:id="Re1b23c99f90d4de4"/>
    <p:sldId xmlns:r="http://schemas.openxmlformats.org/officeDocument/2006/relationships" id="265" r:id="R66a864c83c404768"/>
    <p:sldId xmlns:r="http://schemas.openxmlformats.org/officeDocument/2006/relationships" id="266" r:id="R87548d72d0cf4803"/>
    <p:sldId xmlns:r="http://schemas.openxmlformats.org/officeDocument/2006/relationships" id="267" r:id="R6bc35b648e684cb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051307e1522491a" /><Relationship Type="http://schemas.openxmlformats.org/officeDocument/2006/relationships/slideMaster" Target="/ppt/slideMasters/slideMaster1.xml" Id="Recb777733af24ffb" /><Relationship Type="http://schemas.openxmlformats.org/officeDocument/2006/relationships/notesMaster" Target="/ppt/notesMasters/notesMaster1.xml" Id="Rf9a87a5ab0844615" /><Relationship Type="http://schemas.openxmlformats.org/officeDocument/2006/relationships/presProps" Target="/ppt/presProps.xml" Id="R1df1d504e176491b" /><Relationship Type="http://schemas.openxmlformats.org/officeDocument/2006/relationships/tableStyles" Target="/ppt/tableStyles.xml" Id="R502e0f8308d64ac5" /><Relationship Type="http://schemas.openxmlformats.org/officeDocument/2006/relationships/slide" Target="/ppt/slides/slide1.xml" Id="Raa43d0deae21494a" /><Relationship Type="http://schemas.openxmlformats.org/officeDocument/2006/relationships/slide" Target="/ppt/slides/slide2.xml" Id="Rb0fdfd181b2c4222" /><Relationship Type="http://schemas.openxmlformats.org/officeDocument/2006/relationships/slide" Target="/ppt/slides/slide3.xml" Id="R759a5b87a795408c" /><Relationship Type="http://schemas.openxmlformats.org/officeDocument/2006/relationships/slide" Target="/ppt/slides/slide4.xml" Id="R5f137f01d20941a3" /><Relationship Type="http://schemas.openxmlformats.org/officeDocument/2006/relationships/slide" Target="/ppt/slides/slide5.xml" Id="R6d57b444e81e447d" /><Relationship Type="http://schemas.openxmlformats.org/officeDocument/2006/relationships/slide" Target="/ppt/slides/slide6.xml" Id="R0c61d3e434164f96" /><Relationship Type="http://schemas.openxmlformats.org/officeDocument/2006/relationships/slide" Target="/ppt/slides/slide7.xml" Id="R5d5f85a9db70485e" /><Relationship Type="http://schemas.openxmlformats.org/officeDocument/2006/relationships/slide" Target="/ppt/slides/slide8.xml" Id="R7740ce7c2d3a4df3" /><Relationship Type="http://schemas.openxmlformats.org/officeDocument/2006/relationships/slide" Target="/ppt/slides/slide9.xml" Id="Re1b23c99f90d4de4" /><Relationship Type="http://schemas.openxmlformats.org/officeDocument/2006/relationships/slide" Target="/ppt/slides/slide10.xml" Id="R66a864c83c404768" /><Relationship Type="http://schemas.openxmlformats.org/officeDocument/2006/relationships/slide" Target="/ppt/slides/slide11.xml" Id="R87548d72d0cf4803" /><Relationship Type="http://schemas.openxmlformats.org/officeDocument/2006/relationships/slide" Target="/ppt/slides/slide12.xml" Id="R6bc35b648e684cb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c4403f4f5eb47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38fbc376a904866" /><Relationship Type="http://schemas.openxmlformats.org/officeDocument/2006/relationships/notesMaster" Target="/ppt/notesMasters/notesMaster1.xml" Id="Ra96f4e1ffa434ff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145213e479a45e1" /><Relationship Type="http://schemas.openxmlformats.org/officeDocument/2006/relationships/notesMaster" Target="/ppt/notesMasters/notesMaster1.xml" Id="R1e3be4f95ff246e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532cb24bbf744ca" /><Relationship Type="http://schemas.openxmlformats.org/officeDocument/2006/relationships/notesMaster" Target="/ppt/notesMasters/notesMaster1.xml" Id="R8fb5e299951d43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96e75bd76bc412d" /><Relationship Type="http://schemas.openxmlformats.org/officeDocument/2006/relationships/notesMaster" Target="/ppt/notesMasters/notesMaster1.xml" Id="Re6efd34df7594531" /></Relationships>
</file>

<file path=ppt/notesSlides/_rels/notesSlide5.xml.rels>&#65279;<?xml version="1.0" encoding="utf-8"?><Relationships xmlns="http://schemas.openxmlformats.org/package/2006/relationships"><Relationship Type="http://schemas.openxmlformats.org/officeDocument/2006/relationships/slide" Target="/ppt/slides/slide5.xml" Id="R08335470df2a4c7d" /><Relationship Type="http://schemas.openxmlformats.org/officeDocument/2006/relationships/notesMaster" Target="/ppt/notesMasters/notesMaster1.xml" Id="R6d3f35eb58d14e57"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f5be0e95c745ab" /><Relationship Type="http://schemas.openxmlformats.org/officeDocument/2006/relationships/notesMaster" Target="/ppt/notesMasters/notesMaster1.xml" Id="R6b61a7babbe64c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152e00991c6f451e" /><Relationship Type="http://schemas.openxmlformats.org/officeDocument/2006/relationships/notesMaster" Target="/ppt/notesMasters/notesMaster1.xml" Id="R0044983a6d8948e9" /></Relationships>
</file>

<file path=ppt/notesSlides/_rels/notesSlide8.xml.rels>&#65279;<?xml version="1.0" encoding="utf-8"?><Relationships xmlns="http://schemas.openxmlformats.org/package/2006/relationships"><Relationship Type="http://schemas.openxmlformats.org/officeDocument/2006/relationships/slide" Target="/ppt/slides/slide8.xml" Id="Rf9d8d2f4f2804a10" /><Relationship Type="http://schemas.openxmlformats.org/officeDocument/2006/relationships/notesMaster" Target="/ppt/notesMasters/notesMaster1.xml" Id="R71967368af8942e3" /></Relationships>
</file>

<file path=ppt/notesSlides/_rels/notesSlide9.xml.rels>&#65279;<?xml version="1.0" encoding="utf-8"?><Relationships xmlns="http://schemas.openxmlformats.org/package/2006/relationships"><Relationship Type="http://schemas.openxmlformats.org/officeDocument/2006/relationships/slide" Target="/ppt/slides/slide9.xml" Id="R729973872c184440" /><Relationship Type="http://schemas.openxmlformats.org/officeDocument/2006/relationships/notesMaster" Target="/ppt/notesMasters/notesMaster1.xml" Id="R3ab4ff02b4b8449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d1970b52b584f03" /><Relationship Type="http://schemas.openxmlformats.org/officeDocument/2006/relationships/notesMaster" Target="/ppt/notesMasters/notesMaster1.xml" Id="Rdee0f0a3411e4ea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07bcb7219d346ed" /><Relationship Type="http://schemas.openxmlformats.org/officeDocument/2006/relationships/notesMaster" Target="/ppt/notesMasters/notesMaster1.xml" Id="Rb6a863d64691423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8e4396920ab4618" /><Relationship Type="http://schemas.openxmlformats.org/officeDocument/2006/relationships/notesMaster" Target="/ppt/notesMasters/notesMaster1.xml" Id="R2ad97377dac842f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저희의 원래 프로젝트 주제는 사용자의 호텔 검색 의도와 조건이 결과 노출, 호텔 선택, 재검색, 이탈에 어떤 영향을 주는지 분석하는 것입니다. 이 전체 흐름을 분석하는 과정에서 결과 0건 검색이 310건으로 많이 관찰됐기 때문에, 이번 가설 검증에서는 0건 이후의 재검색과 회복 행동을 핵심 사례로 선택했습니다. 오늘은 이 가설을 검증할 수 있도록 데이터를 어떻게 증강할지 말씀드리겠습니다.</a:t>
            </a:r>
          </a:p>
          <a:p xmlns:a="http://schemas.openxmlformats.org/drawingml/2006/main">
            <a:r>
              <a:t/>
            </a:r>
          </a:p>
          <a:p xmlns:a="http://schemas.openxmlformats.org/drawingml/2006/main">
            <a:r>
              <a:t>[Sources]</a:t>
            </a:r>
          </a:p>
          <a:p xmlns:a="http://schemas.openxmlformats.org/drawingml/2006/main">
            <a:r>
              <a:t>- team_i_analysis_20260901 (1).db (프로젝트 내부 DB, 2026-09-01 조회)</a:t>
            </a:r>
          </a:p>
          <a:p xmlns:a="http://schemas.openxmlformats.org/drawingml/2006/main">
            <a:r>
              <a:t>- 호텔검색_31일차실습해답_가설증강통합_20260901_v03.docx</a:t>
            </a:r>
          </a:p>
          <a:p xmlns:a="http://schemas.openxmlformats.org/drawingml/2006/main">
            <a:r>
              <a:t>- 호텔검색_가설문서_핵심가설사용자세그먼트_20260901_v03.docx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프로젝트 전체 범위와 이번 발표의 초점을 구분하겠습니다. 원래 주제는 검색 의도와 조건에서 시작해 결과 노출, 호텔 선택, 재검색, 이탈까지 이어지는 전체 검색 행동입니다. 그중 결과 0건 검색이 전체 608건 중 310건으로 많이 관찰됐기 때문에, 이번 분석에서는 0건을 핵심 실패 신호로 좁혔습니다. 하지만 증강 데이터는 0건 사용자만 만드는 것이 아니라 직접 성공과 결과 노출 후 미선택 같은 전체 사용자 집단을 함께 유지합니다. 표본이 작고 검색량 편차가 크기 때문에 상대비율로 가설을 세우고, 검색 의도별 집단을 확장한 뒤 같은 가설을 다시 검증합니다.</a:t>
            </a:r>
          </a:p>
          <a:p xmlns:a="http://schemas.openxmlformats.org/drawingml/2006/main">
            <a:r>
              <a:t/>
            </a:r>
          </a:p>
          <a:p xmlns:a="http://schemas.openxmlformats.org/drawingml/2006/main">
            <a:r>
              <a:t>[Sources]</a:t>
            </a:r>
          </a:p>
          <a:p xmlns:a="http://schemas.openxmlformats.org/drawingml/2006/main">
            <a:r>
              <a:t>- team_i_analysis_20260901 (1).db (프로젝트 내부 DB, 2026-09-01 조회)</a:t>
            </a:r>
          </a:p>
          <a:p xmlns:a="http://schemas.openxmlformats.org/drawingml/2006/main">
            <a:r>
              <a:t>- 호텔검색_31일차실습해답_가설증강통합_20260901_v03.docx</a:t>
            </a:r>
          </a:p>
          <a:p xmlns:a="http://schemas.openxmlformats.org/drawingml/2006/main">
            <a:r>
              <a:t>- 호텔검색_가설문서_핵심가설사용자세그먼트_20260901_v03.docx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DB의 전체 검색은 608건입니다. 이 가운데 결과가 0건인 검색은 310건이므로, 전체 검색을 분모로 한 0건률은 51퍼센트입니다. 결과 0건 310건 가운데 같은 세션에서 다음 검색이 발생한 경우는 298건으로, 0건 후 재검색률은 96.1퍼센트입니다. 그리고 재검색 298건 가운데 바로 다음 검색에서 결과가 발생한 경우는 67건으로, 재검색 즉시 회복률은 22.5퍼센트입니다. 세 지표의 분모가 서로 다르므로 22.5퍼센트를 전체 성공률이나 최종 회복률로 말하면 안 됩니다. 검색 건수와 결과 여부는 SEARCH와 SEARCH_RESULT에서 확인하고, 같은 세션의 다음 검색은 session_id와 search_time으로 연결하며, 사용자는 EVENT의 user_id로 연결했습니다. 또한 상위 5명이 전체 검색의 48.5퍼센트를 차지하므로, 절대 건수 복제 대신 상대비율과 가중치를 사용합니다.</a:t>
            </a:r>
          </a:p>
          <a:p xmlns:a="http://schemas.openxmlformats.org/drawingml/2006/main">
            <a:r>
              <a:t/>
            </a:r>
          </a:p>
          <a:p xmlns:a="http://schemas.openxmlformats.org/drawingml/2006/main">
            <a:r>
              <a:t>[Sources]</a:t>
            </a:r>
          </a:p>
          <a:p xmlns:a="http://schemas.openxmlformats.org/drawingml/2006/main">
            <a:r>
              <a:t>- team_i_analysis_20260901 (1).db (프로젝트 내부 DB, 2026-09-01 조회)</a:t>
            </a:r>
          </a:p>
          <a:p xmlns:a="http://schemas.openxmlformats.org/drawingml/2006/main">
            <a:r>
              <a:t>- 호텔검색_31일차실습해답_가설증강통합_20260901_v03.docx</a:t>
            </a:r>
          </a:p>
          <a:p xmlns:a="http://schemas.openxmlformats.org/drawingml/2006/main">
            <a:r>
              <a:t>- 호텔검색_가설문서_핵심가설사용자세그먼트_20260901_v03.docx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가설을 보기 전에 표본의 한계를 먼저 말씀드리겠습니다. 전체 등록 사용자는 169명이지만 검색 품질 분석의 분모는 실제로 검색한 68명입니다. 또한 상위 5명이 전체 검색의 48.5퍼센트를 발생시켜 특정 사용자의 영향이 큽니다. 첫 실패 검색과 바로 다음 검색을 비교할 수 있는 사용자는 27명뿐이며, 참여자는 5개 지역 안에서 자유롭게 검색했기 때문에 전체 호텔 시장으로 일반화하기 어렵습니다. 따라서 증강에서는 현재 표본의 상대비율을 기준으로 하되 개인별 영향에 상한을 두고, 검색 의도별로 층화해 집단을 확장하며, 가중치 적용 전후 결과를 함께 비교하겠습니다. BOOKING과 ROOM은 가상 데이터이므로 실제 전환 근거와 분리하고, 날짜 예약 가능 여부는 일치도 계산에서 제외합니다.</a:t>
            </a:r>
          </a:p>
          <a:p xmlns:a="http://schemas.openxmlformats.org/drawingml/2006/main">
            <a:r>
              <a:t/>
            </a:r>
          </a:p>
          <a:p xmlns:a="http://schemas.openxmlformats.org/drawingml/2006/main">
            <a:r>
              <a:t>[Sources]</a:t>
            </a:r>
          </a:p>
          <a:p xmlns:a="http://schemas.openxmlformats.org/drawingml/2006/main">
            <a:r>
              <a:t>- team_i_analysis_20260901 (1).db (프로젝트 내부 DB, 2026-09-01 조회)</a:t>
            </a:r>
          </a:p>
          <a:p xmlns:a="http://schemas.openxmlformats.org/drawingml/2006/main">
            <a:r>
              <a:t>- 호텔검색_31일차실습해답_가설증강통합_20260901_v03.docx</a:t>
            </a:r>
          </a:p>
          <a:p xmlns:a="http://schemas.openxmlformats.org/drawingml/2006/main">
            <a:r>
              <a:t>- 호텔검색_가설문서_핵심가설사용자세그먼트_20260901_v03.docx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가설은 현재 DB에서 실제로 나온 결과를 기준으로 두 개만 남겼습니다. 첫 번째 관찰 결과는 편의시설을 3개 이상 선택한 검색의 0건률이 85.9퍼센트, 평점 필터를 설정한 검색은 70.6퍼센트, 가격 필터를 설정한 검색은 66.8퍼센트였다는 것입니다. 따라서 H1은 편의시설, 평점, 가격 조건의 조합에 따라 결과 0건률에 차이가 있을 것이라는 가설입니다. 두 번째 관찰 결과는 재검색 유형별 성과가 달랐다는 것입니다. 지역 변경은 즉시 회복률 46.4퍼센트와 클릭률 14.3퍼센트, 검색어 수정은 회복률 34.7퍼센트와 클릭률 5퍼센트, 조건 완화는 회복률 22.7퍼센트와 클릭률 13.3퍼센트였고, 동일 조건 반복은 즉시 회복이 없었습니다. 따라서 H2는 재검색에서 변경한 조건의 유형에 따라 즉시 회복률과 호텔 클릭률에 차이가 있을 것이라는 가설입니다. 반면 첫 검색 0건 여부에 따라 검색 횟수가 증가한다는 가설은 7.43회와 7.88회, p값 .953으로 차이가 없어 제외했습니다.</a:t>
            </a:r>
          </a:p>
          <a:p xmlns:a="http://schemas.openxmlformats.org/drawingml/2006/main">
            <a:r>
              <a:t/>
            </a:r>
          </a:p>
          <a:p xmlns:a="http://schemas.openxmlformats.org/drawingml/2006/main">
            <a:r>
              <a:t>[Sources]</a:t>
            </a:r>
          </a:p>
          <a:p xmlns:a="http://schemas.openxmlformats.org/drawingml/2006/main">
            <a:r>
              <a:t>- team_i_analysis_20260901 (1).db (프로젝트 내부 DB, 2026-09-01 조회)</a:t>
            </a:r>
          </a:p>
          <a:p xmlns:a="http://schemas.openxmlformats.org/drawingml/2006/main">
            <a:r>
              <a:t>- 호텔검색_31일차실습해답_가설증강통합_20260901_v03.docx</a:t>
            </a:r>
          </a:p>
          <a:p xmlns:a="http://schemas.openxmlformats.org/drawingml/2006/main">
            <a:r>
              <a:t>- 호텔검색_가설문서_핵심가설사용자세그먼트_20260901_v03.docx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분류는 한 가지 기준만 사용하지 않습니다. 먼저 검색 성향은 한 사용자에게 여러 개가 동시에 붙을 수 있는 다중 라벨입니다. 검색 조건에서는 지역 고정형, 가격 민감형, 품질 우선형, 테마 또는 호텔 지명형을 구분합니다. 세션 행동에서는 비교 탐색형, 빠른 결정형, 입력 탐색형, 지역 전환형을 구분합니다. 예를 들어 한 사용자는 지역 고정형이면서 가격 민감형일 수 있습니다. 따라서 이 분류의 인원수를 합쳐 전체 사용자 수나 100퍼센트로 해석하지 않고, 증강 시 어떤 검색 조건과 행동을 생성할지 결정하는 데 사용합니다.</a:t>
            </a:r>
          </a:p>
          <a:p xmlns:a="http://schemas.openxmlformats.org/drawingml/2006/main">
            <a:r>
              <a:t/>
            </a:r>
          </a:p>
          <a:p xmlns:a="http://schemas.openxmlformats.org/drawingml/2006/main">
            <a:r>
              <a:t>[Sources]</a:t>
            </a:r>
          </a:p>
          <a:p xmlns:a="http://schemas.openxmlformats.org/drawingml/2006/main">
            <a:r>
              <a:t>- team_i_analysis_20260901 (1).db (프로젝트 내부 DB, 2026-09-01 조회)</a:t>
            </a:r>
          </a:p>
          <a:p xmlns:a="http://schemas.openxmlformats.org/drawingml/2006/main">
            <a:r>
              <a:t>- 호텔검색_31일차실습해답_가설증강통합_20260901_v03.docx</a:t>
            </a:r>
          </a:p>
          <a:p xmlns:a="http://schemas.openxmlformats.org/drawingml/2006/main">
            <a:r>
              <a:t>- 호텔검색_가설문서_핵심가설사용자세그먼트_20260901_v03.docx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번째 분류는 검색 결과 행동 세그먼트입니다. 여기서는 실제 검색 사용자 68명을 중복 없이 한 집단에만 배정하므로 합계가 100퍼센트가 됩니다. 직접 성공 12명, 결과 노출 후 미선택 18명, 재검색 후 회복 26명, 지속 실패 6명, 결과 0건 후 즉시 종료 6명입니다. 이 분류는 증강 사용자 수의 목표 비율과 결과 행동의 분포를 정하는 데 사용합니다.</a:t>
            </a:r>
          </a:p>
          <a:p xmlns:a="http://schemas.openxmlformats.org/drawingml/2006/main">
            <a:r>
              <a:t/>
            </a:r>
          </a:p>
          <a:p xmlns:a="http://schemas.openxmlformats.org/drawingml/2006/main">
            <a:r>
              <a:t>[Sources]</a:t>
            </a:r>
          </a:p>
          <a:p xmlns:a="http://schemas.openxmlformats.org/drawingml/2006/main">
            <a:r>
              <a:t>- team_i_analysis_20260901 (1).db (프로젝트 내부 DB, 2026-09-01 조회)</a:t>
            </a:r>
          </a:p>
          <a:p xmlns:a="http://schemas.openxmlformats.org/drawingml/2006/main">
            <a:r>
              <a:t>- 호텔검색_31일차실습해답_가설증강통합_20260901_v03.docx</a:t>
            </a:r>
          </a:p>
          <a:p xmlns:a="http://schemas.openxmlformats.org/drawingml/2006/main">
            <a:r>
              <a:t>- 호텔검색_가설문서_핵심가설사용자세그먼트_20260901_v03.docx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번째 분류는 재검색 수정 전략입니다. 이 분류의 분모는 전체 검색 사용자 68명이 아니라, 첫 실패 검색과 바로 다음 검색을 조건 단위로 비교할 수 있는 27명입니다. 동일 반복형은 12명으로 즉시 성공률 0퍼센트, 이후 최종 성공률 75퍼센트였습니다. 필터 완화형은 8명으로 즉시 성공률 37.5퍼센트, 최종 성공률 100퍼센트였습니다. 필터 강화형은 4명으로 즉시 성공률 0퍼센트, 최종 성공률 50퍼센트였고, 복합 수정형은 3명으로 즉시 성공률 33.3퍼센트, 최종 성공률 66.7퍼센트였습니다. 이 27명의 비율을 전체 사용자 구성비로 사용하지 않고, 재검색 전환 확률을 보정하는 참고값으로만 사용합니다.</a:t>
            </a:r>
          </a:p>
          <a:p xmlns:a="http://schemas.openxmlformats.org/drawingml/2006/main">
            <a:r>
              <a:t/>
            </a:r>
          </a:p>
          <a:p xmlns:a="http://schemas.openxmlformats.org/drawingml/2006/main">
            <a:r>
              <a:t>[Sources]</a:t>
            </a:r>
          </a:p>
          <a:p xmlns:a="http://schemas.openxmlformats.org/drawingml/2006/main">
            <a:r>
              <a:t>- team_i_analysis_20260901 (1).db (프로젝트 내부 DB, 2026-09-01 조회)</a:t>
            </a:r>
          </a:p>
          <a:p xmlns:a="http://schemas.openxmlformats.org/drawingml/2006/main">
            <a:r>
              <a:t>- 호텔검색_31일차실습해답_가설증강통합_20260901_v03.docx</a:t>
            </a:r>
          </a:p>
          <a:p xmlns:a="http://schemas.openxmlformats.org/drawingml/2006/main">
            <a:r>
              <a:t>- 호텔검색_가설문서_핵심가설사용자세그먼트_20260901_v03.docx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증강 대상은 호텔과 룸을 제외한 여섯 개 테이블입니다. USER의 아이디는 고정하고 성향과 세그먼트를 배정합니다. 그 아래 SEARCH, FILTER, RESULT, EVENT, BOOKING을 시간 순서와 외래키가 깨지지 않게 함께 생성합니다. 이벤트에는 이미지 행동을 제외하고 세션 종료시각을 추가합니다. 호텔과 룸은 기준정보이므로 증강하지 않습니다.</a:t>
            </a:r>
          </a:p>
          <a:p xmlns:a="http://schemas.openxmlformats.org/drawingml/2006/main">
            <a:r>
              <a:t/>
            </a:r>
          </a:p>
          <a:p xmlns:a="http://schemas.openxmlformats.org/drawingml/2006/main">
            <a:r>
              <a:t>[Sources]</a:t>
            </a:r>
          </a:p>
          <a:p xmlns:a="http://schemas.openxmlformats.org/drawingml/2006/main">
            <a:r>
              <a:t>- team_i_analysis_20260901 (1).db (프로젝트 내부 DB, 2026-09-01 조회)</a:t>
            </a:r>
          </a:p>
          <a:p xmlns:a="http://schemas.openxmlformats.org/drawingml/2006/main">
            <a:r>
              <a:t>- 호텔검색_31일차실습해답_가설증강통합_20260901_v03.docx</a:t>
            </a:r>
          </a:p>
          <a:p xmlns:a="http://schemas.openxmlformats.org/drawingml/2006/main">
            <a:r>
              <a:t>- 호텔검색_가설문서_핵심가설사용자세그먼트_20260901_v03.docx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로우 단위로 보면 한 사용자의 첫 검색이 0건이면, 다음 검색에서 가격이나 지역 등 한두 조건만 바꾸고, 결과 노출과 클릭 여부를 확률로 생성합니다. 중요한 점은 실패면 무조건 이탈하도록 만들지 않는 것입니다. 일치도가 낮아도 클릭할 수 있고 높아도 이탈할 수 있게 변동성을 둡니다. 날짜 예약 가능성은 임의 데이터이므로 실제 일치도에서는 제외합니다.</a:t>
            </a:r>
          </a:p>
          <a:p xmlns:a="http://schemas.openxmlformats.org/drawingml/2006/main">
            <a:r>
              <a:t/>
            </a:r>
          </a:p>
          <a:p xmlns:a="http://schemas.openxmlformats.org/drawingml/2006/main">
            <a:r>
              <a:t>[Sources]</a:t>
            </a:r>
          </a:p>
          <a:p xmlns:a="http://schemas.openxmlformats.org/drawingml/2006/main">
            <a:r>
              <a:t>- team_i_analysis_20260901 (1).db (프로젝트 내부 DB, 2026-09-01 조회)</a:t>
            </a:r>
          </a:p>
          <a:p xmlns:a="http://schemas.openxmlformats.org/drawingml/2006/main">
            <a:r>
              <a:t>- 호텔검색_31일차실습해답_가설증강통합_20260901_v03.docx</a:t>
            </a:r>
          </a:p>
          <a:p xmlns:a="http://schemas.openxmlformats.org/drawingml/2006/main">
            <a:r>
              <a:t>- 호텔검색_가설문서_핵심가설사용자세그먼트_20260901_v03.docx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분석에는 검증과 실험 측면의 한계가 있습니다. 먼저 현재 데이터의 관찰 결과로 생성 확률을 설정하고, 같은 지표를 다시 검증하면 결론을 데이터에 되풀이하는 순환 검증이 발생할 수 있습니다. 또한 원표본이 검색 사용자 68명과 5개 지역에 한정되어 그 편향이 증강 규칙에 남을 수 있습니다. 증강 데이터에서 통계적으로 유의한 차이가 나와도 실제 사용자 행동의 인과효과를 입증하는 것은 아닙니다. 추천 실험 측면에서는 대체 지역 추천군과 기존 0건 화면을 무작위로 비교한 실제 A/B 테스트가 없고, BOOKING과 ROOM이 가상이어서 실제 예약 전환을 판단할 수 없습니다. 인접 지역의 거리와 재고 기준도 운영 데이터와 연결되지 않았습니다. 이를 보완하기 위해 일부 실제 로그는 생성 규칙에 사용하지 않는 홀드아웃으로 남기고, 가중치 적용 전후와 생성 확률 변화에 따른 민감도 결과를 함께 제시하며, 실제 행과 생성 행을 구분합니다. 최종 효과 판단은 실제 서비스 A/B 테스트에서 진행해야 합니다.</a:t>
            </a:r>
          </a:p>
          <a:p xmlns:a="http://schemas.openxmlformats.org/drawingml/2006/main">
            <a:r>
              <a:t/>
            </a:r>
          </a:p>
          <a:p xmlns:a="http://schemas.openxmlformats.org/drawingml/2006/main">
            <a:r>
              <a:t>[Sources]</a:t>
            </a:r>
          </a:p>
          <a:p xmlns:a="http://schemas.openxmlformats.org/drawingml/2006/main">
            <a:r>
              <a:t>- team_i_analysis_20260901 (1).db (프로젝트 내부 DB, 2026-09-01 조회)</a:t>
            </a:r>
          </a:p>
          <a:p xmlns:a="http://schemas.openxmlformats.org/drawingml/2006/main">
            <a:r>
              <a:t>- 호텔검색_31일차실습해답_가설증강통합_20260901_v03.docx</a:t>
            </a:r>
          </a:p>
          <a:p xmlns:a="http://schemas.openxmlformats.org/drawingml/2006/main">
            <a:r>
              <a:t>- 호텔검색_가설문서_핵심가설사용자세그먼트_20260901_v03.docx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마지막으로 증강 데이터는 네 가지로 검증합니다. 현재 표본의 상대비율과 가중치가 적절한지, 키와 행동 순서가 보존되는지, 특정 결론을 미리 심지 않았는지, 그리고 가설을 다시 검정할 수 있는지를 확인합니다. 저희의 전체 주제는 검색 의도와 조건이 결과 노출, 선택, 재검색, 이탈에 미치는 영향입니다. 증강에서도 직접 성공, 결과 노출 후 미선택, 재검색 회복, 지속 실패와 즉시 종료를 모두 유지합니다. 다만 실제 데이터에서 0건이 많이 관찰됐기 때문에, 0건 발생 조건과 이후 회복 전략을 핵심 가설로 검증합니다. 이를 통해 0건 화면에서 인접 지역 추천 같은 개선안의 이탈 감소 효과를 확인하겠습니다.</a:t>
            </a:r>
          </a:p>
          <a:p xmlns:a="http://schemas.openxmlformats.org/drawingml/2006/main">
            <a:r>
              <a:t/>
            </a:r>
          </a:p>
          <a:p xmlns:a="http://schemas.openxmlformats.org/drawingml/2006/main">
            <a:r>
              <a:t>[Sources]</a:t>
            </a:r>
          </a:p>
          <a:p xmlns:a="http://schemas.openxmlformats.org/drawingml/2006/main">
            <a:r>
              <a:t>- team_i_analysis_20260901 (1).db (프로젝트 내부 DB, 2026-09-01 조회)</a:t>
            </a:r>
          </a:p>
          <a:p xmlns:a="http://schemas.openxmlformats.org/drawingml/2006/main">
            <a:r>
              <a:t>- 호텔검색_31일차실습해답_가설증강통합_20260901_v03.docx</a:t>
            </a:r>
          </a:p>
          <a:p xmlns:a="http://schemas.openxmlformats.org/drawingml/2006/main">
            <a:r>
              <a:t>- 호텔검색_가설문서_핵심가설사용자세그먼트_20260901_v03.docx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4c92b92102e437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6185dd02e9645be" /><Relationship Type="http://schemas.openxmlformats.org/officeDocument/2006/relationships/slideLayout" Target="/ppt/slideLayouts/slideLayout1.xml" Id="R9c91d528594246e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91d528594246e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1fac69623ab4a66" /><Relationship Type="http://schemas.openxmlformats.org/officeDocument/2006/relationships/notesSlide" Target="/ppt/notesSlides/notesSlide1.xml" Id="R4150e06b75f74c0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892d75785b448e8" /><Relationship Type="http://schemas.openxmlformats.org/officeDocument/2006/relationships/notesSlide" Target="/ppt/notesSlides/notesSlide2.xml" Id="R099c1e3ad88e42b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8421a7cd1df4651" /><Relationship Type="http://schemas.openxmlformats.org/officeDocument/2006/relationships/notesSlide" Target="/ppt/notesSlides/notesSlide3.xml" Id="Rbb9e383dd04f40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2714e70af8d4842" /><Relationship Type="http://schemas.openxmlformats.org/officeDocument/2006/relationships/notesSlide" Target="/ppt/notesSlides/notesSlide4.xml" Id="Rd6a38e4d61cd4c5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8f0d7bb8e734c64" /><Relationship Type="http://schemas.openxmlformats.org/officeDocument/2006/relationships/notesSlide" Target="/ppt/notesSlides/notesSlide5.xml" Id="R1aeb59952fa9436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b3f00b68e7c4f49" /><Relationship Type="http://schemas.openxmlformats.org/officeDocument/2006/relationships/notesSlide" Target="/ppt/notesSlides/notesSlide6.xml" Id="R40ae9fc8b1044d5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0995e7b7572444c" /><Relationship Type="http://schemas.openxmlformats.org/officeDocument/2006/relationships/notesSlide" Target="/ppt/notesSlides/notesSlide7.xml" Id="R320fc09c7f5c44a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ef42a9014d54d77" /><Relationship Type="http://schemas.openxmlformats.org/officeDocument/2006/relationships/notesSlide" Target="/ppt/notesSlides/notesSlide8.xml" Id="R4d6c626fbad6480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d72648ced1545a2" /><Relationship Type="http://schemas.openxmlformats.org/officeDocument/2006/relationships/notesSlide" Target="/ppt/notesSlides/notesSlide9.xml" Id="Rcc4f25ae7eb54a5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2f8f473878f4afb" /><Relationship Type="http://schemas.openxmlformats.org/officeDocument/2006/relationships/notesSlide" Target="/ppt/notesSlides/notesSlide10.xml" Id="R8ac3933b2f0144b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5b4f3f43dd64d5d" /><Relationship Type="http://schemas.openxmlformats.org/officeDocument/2006/relationships/notesSlide" Target="/ppt/notesSlides/notesSlide11.xml" Id="Rf10488759e424fc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07e51ae6ebf41d7" /><Relationship Type="http://schemas.openxmlformats.org/officeDocument/2006/relationships/notesSlide" Target="/ppt/notesSlides/notesSlide12.xml" Id="R6ac40d1957bd45c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0C1AF58-9498-42D6-8667-DC58C9CD461B}"/>
              </a:ext>
            </a:extLst>
          </p:cNvPr>
          <p:cNvSpPr>
            <a:spLocks xmlns:a="http://schemas.openxmlformats.org/drawingml/2006/main" noGrp="1"/>
          </p:cNvSpPr>
          <p:nvPr/>
        </p:nvSpPr>
        <p:spPr>
          <a:xfrm xmlns:a="http://schemas.openxmlformats.org/drawingml/2006/main">
            <a:off x="685800" y="514350"/>
            <a:ext cx="571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F80ED"/>
                </a:solidFill>
              </a:defRPr>
            </a:pPr>
            <a:r>
              <a:rPr sz="1200" b="1">
                <a:solidFill>
                  <a:srgbClr val="2F80ED"/>
                </a:solidFill>
              </a:rPr>
              <a:t>2팀 · 호텔 검색 이탈 대시보드</a:t>
            </a:r>
          </a:p>
        </p:txBody>
      </p:sp>
      <p:sp>
        <p:nvSpPr>
          <p:cNvPr id="2" name="">
            <a:extLst xmlns:a="http://schemas.openxmlformats.org/drawingml/2006/main">
              <a:ext uri="{FF2B5EF4-FFF2-40B4-BE49-F238E27FC236}">
                <a16:creationId xmlns:a16="http://schemas.microsoft.com/office/drawing/2014/main" id="{02029E19-4938-4E5A-AEC7-DCFF2A442F71}"/>
              </a:ext>
            </a:extLst>
          </p:cNvPr>
          <p:cNvSpPr>
            <a:spLocks xmlns:a="http://schemas.openxmlformats.org/drawingml/2006/main" noGrp="1"/>
          </p:cNvSpPr>
          <p:nvPr/>
        </p:nvSpPr>
        <p:spPr>
          <a:xfrm xmlns:a="http://schemas.openxmlformats.org/drawingml/2006/main">
            <a:off x="685800" y="1476375"/>
            <a:ext cx="6667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200" b="1">
                <a:solidFill>
                  <a:srgbClr val="111827"/>
                </a:solidFill>
              </a:defRPr>
            </a:pPr>
            <a:r>
              <a:rPr sz="4200" b="1">
                <a:solidFill>
                  <a:srgbClr val="111827"/>
                </a:solidFill>
              </a:rPr>
              <a:t>검색 의도와 행동의 관계를</a:t>
            </a:r>
          </a:p>
          <a:p xmlns:a="http://schemas.openxmlformats.org/drawingml/2006/main">
            <a:pPr algn="l">
              <a:defRPr sz="4200" b="1">
                <a:solidFill>
                  <a:srgbClr val="111827"/>
                </a:solidFill>
              </a:defRPr>
            </a:pPr>
            <a:r>
              <a:rPr sz="4200" b="1">
                <a:solidFill>
                  <a:srgbClr val="111827"/>
                </a:solidFill>
              </a:rPr>
              <a:t>가설로 검증한다</a:t>
            </a:r>
          </a:p>
        </p:txBody>
      </p:sp>
      <p:sp>
        <p:nvSpPr>
          <p:cNvPr id="3" name="">
            <a:extLst xmlns:a="http://schemas.openxmlformats.org/drawingml/2006/main">
              <a:ext uri="{FF2B5EF4-FFF2-40B4-BE49-F238E27FC236}">
                <a16:creationId xmlns:a16="http://schemas.microsoft.com/office/drawing/2014/main" id="{34398549-1EBC-4C72-9EF1-14EE01BDA41F}"/>
              </a:ext>
            </a:extLst>
          </p:cNvPr>
          <p:cNvSpPr>
            <a:spLocks xmlns:a="http://schemas.openxmlformats.org/drawingml/2006/main" noGrp="1"/>
          </p:cNvSpPr>
          <p:nvPr/>
        </p:nvSpPr>
        <p:spPr>
          <a:xfrm xmlns:a="http://schemas.openxmlformats.org/drawingml/2006/main">
            <a:off x="704850" y="32956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0">
                <a:solidFill>
                  <a:srgbClr val="5B6472"/>
                </a:solidFill>
              </a:defRPr>
            </a:pPr>
            <a:r>
              <a:rPr sz="2025" b="0">
                <a:solidFill>
                  <a:srgbClr val="5B6472"/>
                </a:solidFill>
              </a:rPr>
              <a:t>가설 중심 데이터 증강 계획</a:t>
            </a:r>
          </a:p>
        </p:txBody>
      </p:sp>
      <p:sp>
        <p:nvSpPr>
          <p:cNvPr id="4" name="">
            <a:extLst xmlns:a="http://schemas.openxmlformats.org/drawingml/2006/main">
              <a:ext uri="{FF2B5EF4-FFF2-40B4-BE49-F238E27FC236}">
                <a16:creationId xmlns:a16="http://schemas.microsoft.com/office/drawing/2014/main" id="{B56CA0D3-261F-4640-BA27-BF9CFF419EE4}"/>
              </a:ext>
            </a:extLst>
          </p:cNvPr>
          <p:cNvSpPr>
            <a:spLocks xmlns:a="http://schemas.openxmlformats.org/drawingml/2006/main" noGrp="1"/>
          </p:cNvSpPr>
          <p:nvPr/>
        </p:nvSpPr>
        <p:spPr>
          <a:xfrm xmlns:a="http://schemas.openxmlformats.org/drawingml/2006/main">
            <a:off x="8143875" y="1143000"/>
            <a:ext cx="2762250" cy="37147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ECF84D6-2578-477F-8B20-32E2043C853D}"/>
              </a:ext>
            </a:extLst>
          </p:cNvPr>
          <p:cNvSpPr>
            <a:spLocks xmlns:a="http://schemas.openxmlformats.org/drawingml/2006/main" noGrp="1"/>
          </p:cNvSpPr>
          <p:nvPr/>
        </p:nvSpPr>
        <p:spPr>
          <a:xfrm xmlns:a="http://schemas.openxmlformats.org/drawingml/2006/main">
            <a:off x="8572500" y="1619250"/>
            <a:ext cx="1905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4800" b="1">
                <a:solidFill>
                  <a:srgbClr val="FFFFFF"/>
                </a:solidFill>
              </a:defRPr>
            </a:pPr>
            <a:r>
              <a:rPr sz="4800" b="1">
                <a:solidFill>
                  <a:srgbClr val="FFFFFF"/>
                </a:solidFill>
              </a:rPr>
              <a:t>0건</a:t>
            </a:r>
          </a:p>
        </p:txBody>
      </p:sp>
      <p:sp>
        <p:nvSpPr>
          <p:cNvPr id="6" name="">
            <a:extLst xmlns:a="http://schemas.openxmlformats.org/drawingml/2006/main">
              <a:ext uri="{FF2B5EF4-FFF2-40B4-BE49-F238E27FC236}">
                <a16:creationId xmlns:a16="http://schemas.microsoft.com/office/drawing/2014/main" id="{06E017BF-70FA-4778-B108-FAB8ACDB9F90}"/>
              </a:ext>
            </a:extLst>
          </p:cNvPr>
          <p:cNvSpPr>
            <a:spLocks xmlns:a="http://schemas.openxmlformats.org/drawingml/2006/main" noGrp="1"/>
          </p:cNvSpPr>
          <p:nvPr/>
        </p:nvSpPr>
        <p:spPr>
          <a:xfrm xmlns:a="http://schemas.openxmlformats.org/drawingml/2006/main">
            <a:off x="8953500" y="2619375"/>
            <a:ext cx="114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600" b="1">
                <a:solidFill>
                  <a:srgbClr val="2F80ED"/>
                </a:solidFill>
              </a:defRPr>
            </a:pPr>
            <a:r>
              <a:rPr sz="3600" b="1">
                <a:solidFill>
                  <a:srgbClr val="2F80ED"/>
                </a:solidFill>
              </a:rPr>
              <a:t>→</a:t>
            </a:r>
          </a:p>
        </p:txBody>
      </p:sp>
      <p:sp>
        <p:nvSpPr>
          <p:cNvPr id="7" name="">
            <a:extLst xmlns:a="http://schemas.openxmlformats.org/drawingml/2006/main">
              <a:ext uri="{FF2B5EF4-FFF2-40B4-BE49-F238E27FC236}">
                <a16:creationId xmlns:a16="http://schemas.microsoft.com/office/drawing/2014/main" id="{19714C45-7AD6-4BFA-967C-60D53AEC1B73}"/>
              </a:ext>
            </a:extLst>
          </p:cNvPr>
          <p:cNvSpPr>
            <a:spLocks xmlns:a="http://schemas.openxmlformats.org/drawingml/2006/main" noGrp="1"/>
          </p:cNvSpPr>
          <p:nvPr/>
        </p:nvSpPr>
        <p:spPr>
          <a:xfrm xmlns:a="http://schemas.openxmlformats.org/drawingml/2006/main">
            <a:off x="8572500" y="333375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000" b="1">
                <a:solidFill>
                  <a:srgbClr val="FFFFFF"/>
                </a:solidFill>
              </a:defRPr>
            </a:pPr>
            <a:r>
              <a:rPr sz="3000" b="1">
                <a:solidFill>
                  <a:srgbClr val="FFFFFF"/>
                </a:solidFill>
              </a:rPr>
              <a:t>재검색</a:t>
            </a:r>
          </a:p>
        </p:txBody>
      </p:sp>
      <p:sp>
        <p:nvSpPr>
          <p:cNvPr id="8" name="">
            <a:extLst xmlns:a="http://schemas.openxmlformats.org/drawingml/2006/main">
              <a:ext uri="{FF2B5EF4-FFF2-40B4-BE49-F238E27FC236}">
                <a16:creationId xmlns:a16="http://schemas.microsoft.com/office/drawing/2014/main" id="{092A0755-745D-4808-9BD2-6C69494E74EF}"/>
              </a:ext>
            </a:extLst>
          </p:cNvPr>
          <p:cNvSpPr>
            <a:spLocks xmlns:a="http://schemas.openxmlformats.org/drawingml/2006/main" noGrp="1"/>
          </p:cNvSpPr>
          <p:nvPr/>
        </p:nvSpPr>
        <p:spPr>
          <a:xfrm xmlns:a="http://schemas.openxmlformats.org/drawingml/2006/main">
            <a:off x="685800" y="59245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5B6472"/>
                </a:solidFill>
              </a:defRPr>
            </a:pPr>
            <a:r>
              <a:rPr sz="1200" b="1">
                <a:solidFill>
                  <a:srgbClr val="5B6472"/>
                </a:solidFill>
              </a:rPr>
              <a:t>5분 발표</a:t>
            </a:r>
          </a:p>
        </p:txBody>
      </p:sp>
    </p:spTree>
    <p:extLst>
      <p:ext uri="{BB962C8B-B14F-4D97-AF65-F5344CB8AC3E}">
        <p14:creationId xmlns:p14="http://schemas.microsoft.com/office/powerpoint/2010/main" val="52669844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74D5A16-E63D-4617-8531-8E2961A8FA25}"/>
              </a:ext>
            </a:extLst>
          </p:cNvPr>
          <p:cNvSpPr>
            <a:spLocks xmlns:a="http://schemas.openxmlformats.org/drawingml/2006/main" noGrp="1"/>
          </p:cNvSpPr>
          <p:nvPr/>
        </p:nvSpPr>
        <p:spPr>
          <a:xfrm xmlns:a="http://schemas.openxmlformats.org/drawingml/2006/main">
            <a:off x="685800" y="4000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2F80ED"/>
                </a:solidFill>
              </a:defRPr>
            </a:pPr>
            <a:r>
              <a:rPr sz="1050" b="1">
                <a:solidFill>
                  <a:srgbClr val="2F80ED"/>
                </a:solidFill>
              </a:rPr>
              <a:t>OVERVIEW</a:t>
            </a:r>
          </a:p>
        </p:txBody>
      </p:sp>
      <p:sp>
        <p:nvSpPr>
          <p:cNvPr id="2" name="">
            <a:extLst xmlns:a="http://schemas.openxmlformats.org/drawingml/2006/main">
              <a:ext uri="{FF2B5EF4-FFF2-40B4-BE49-F238E27FC236}">
                <a16:creationId xmlns:a16="http://schemas.microsoft.com/office/drawing/2014/main" id="{9643FF79-B21F-4063-B956-A21F89FA4B45}"/>
              </a:ext>
            </a:extLst>
          </p:cNvPr>
          <p:cNvSpPr>
            <a:spLocks xmlns:a="http://schemas.openxmlformats.org/drawingml/2006/main" noGrp="1"/>
          </p:cNvSpPr>
          <p:nvPr/>
        </p:nvSpPr>
        <p:spPr>
          <a:xfrm xmlns:a="http://schemas.openxmlformats.org/drawingml/2006/main">
            <a:off x="685800" y="762000"/>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11827"/>
                </a:solidFill>
              </a:defRPr>
            </a:pPr>
            <a:r>
              <a:rPr sz="2700" b="1">
                <a:solidFill>
                  <a:srgbClr val="111827"/>
                </a:solidFill>
              </a:rPr>
              <a:t>전체 검색 행동 중 0건을 핵심 사례로 좁혀 검증한다</a:t>
            </a:r>
          </a:p>
        </p:txBody>
      </p:sp>
      <p:sp>
        <p:nvSpPr>
          <p:cNvPr id="3" name="">
            <a:extLst xmlns:a="http://schemas.openxmlformats.org/drawingml/2006/main">
              <a:ext uri="{FF2B5EF4-FFF2-40B4-BE49-F238E27FC236}">
                <a16:creationId xmlns:a16="http://schemas.microsoft.com/office/drawing/2014/main" id="{3CE62988-8500-411E-AF97-2BE85F972473}"/>
              </a:ext>
            </a:extLst>
          </p:cNvPr>
          <p:cNvSpPr>
            <a:spLocks xmlns:a="http://schemas.openxmlformats.org/drawingml/2006/main" noGrp="1"/>
          </p:cNvSpPr>
          <p:nvPr/>
        </p:nvSpPr>
        <p:spPr>
          <a:xfrm xmlns:a="http://schemas.openxmlformats.org/drawingml/2006/main">
            <a:off x="685800" y="1504950"/>
            <a:ext cx="10820400" cy="0"/>
          </a:xfrm>
          <a:prstGeom xmlns:a="http://schemas.openxmlformats.org/drawingml/2006/main" prst="line">
            <a:avLst/>
          </a:prstGeom>
          <a:noFill xmlns:a="http://schemas.openxmlformats.org/drawingml/2006/main"/>
          <a:ln xmlns:a="http://schemas.openxmlformats.org/drawingml/2006/main" w="9525">
            <a:solidFill>
              <a:srgbClr val="CBD0D8"/>
            </a:solidFill>
            <a:prstDash val="solid"/>
          </a:ln>
        </p:spPr>
      </p:sp>
      <p:sp>
        <p:nvSpPr>
          <p:cNvPr id="4" name="">
            <a:extLst xmlns:a="http://schemas.openxmlformats.org/drawingml/2006/main">
              <a:ext uri="{FF2B5EF4-FFF2-40B4-BE49-F238E27FC236}">
                <a16:creationId xmlns:a16="http://schemas.microsoft.com/office/drawing/2014/main" id="{C8E00F22-4293-49A2-9FF3-B54002468302}"/>
              </a:ext>
            </a:extLst>
          </p:cNvPr>
          <p:cNvSpPr>
            <a:spLocks xmlns:a="http://schemas.openxmlformats.org/drawingml/2006/main" noGrp="1"/>
          </p:cNvSpPr>
          <p:nvPr/>
        </p:nvSpPr>
        <p:spPr>
          <a:xfrm xmlns:a="http://schemas.openxmlformats.org/drawingml/2006/main">
            <a:off x="11144250" y="400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5B6472"/>
                </a:solidFill>
              </a:defRPr>
            </a:pPr>
            <a:r>
              <a:rPr sz="1050" b="1">
                <a:solidFill>
                  <a:srgbClr val="5B6472"/>
                </a:solidFill>
              </a:rPr>
              <a:t>02</a:t>
            </a:r>
          </a:p>
        </p:txBody>
      </p:sp>
      <p:sp>
        <p:nvSpPr>
          <p:cNvPr id="5" name="">
            <a:extLst xmlns:a="http://schemas.openxmlformats.org/drawingml/2006/main">
              <a:ext uri="{FF2B5EF4-FFF2-40B4-BE49-F238E27FC236}">
                <a16:creationId xmlns:a16="http://schemas.microsoft.com/office/drawing/2014/main" id="{2CE0BD1E-B69A-4FB7-8E26-01372AC7B173}"/>
              </a:ext>
            </a:extLst>
          </p:cNvPr>
          <p:cNvSpPr>
            <a:spLocks xmlns:a="http://schemas.openxmlformats.org/drawingml/2006/main" noGrp="1"/>
          </p:cNvSpPr>
          <p:nvPr/>
        </p:nvSpPr>
        <p:spPr>
          <a:xfrm xmlns:a="http://schemas.openxmlformats.org/drawingml/2006/main">
            <a:off x="742950" y="186690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2F80ED"/>
                </a:solidFill>
              </a:defRPr>
            </a:pPr>
            <a:r>
              <a:rPr sz="1500" b="1">
                <a:solidFill>
                  <a:srgbClr val="2F80ED"/>
                </a:solidFill>
              </a:rPr>
              <a:t>주제</a:t>
            </a:r>
          </a:p>
        </p:txBody>
      </p:sp>
      <p:sp>
        <p:nvSpPr>
          <p:cNvPr id="6" name="">
            <a:extLst xmlns:a="http://schemas.openxmlformats.org/drawingml/2006/main">
              <a:ext uri="{FF2B5EF4-FFF2-40B4-BE49-F238E27FC236}">
                <a16:creationId xmlns:a16="http://schemas.microsoft.com/office/drawing/2014/main" id="{3BEEB030-F2C5-4BB5-B1C7-091C16C98720}"/>
              </a:ext>
            </a:extLst>
          </p:cNvPr>
          <p:cNvSpPr>
            <a:spLocks xmlns:a="http://schemas.openxmlformats.org/drawingml/2006/main" noGrp="1"/>
          </p:cNvSpPr>
          <p:nvPr/>
        </p:nvSpPr>
        <p:spPr>
          <a:xfrm xmlns:a="http://schemas.openxmlformats.org/drawingml/2006/main">
            <a:off x="2381250" y="1790700"/>
            <a:ext cx="857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111827"/>
                </a:solidFill>
              </a:defRPr>
            </a:pPr>
            <a:r>
              <a:rPr sz="2025" b="1">
                <a:solidFill>
                  <a:srgbClr val="111827"/>
                </a:solidFill>
              </a:rPr>
              <a:t>검색 의도·조건 → 결과 노출 → 호텔 선택·재검색·이탈의 관계</a:t>
            </a:r>
          </a:p>
        </p:txBody>
      </p:sp>
      <p:sp>
        <p:nvSpPr>
          <p:cNvPr id="7" name="">
            <a:extLst xmlns:a="http://schemas.openxmlformats.org/drawingml/2006/main">
              <a:ext uri="{FF2B5EF4-FFF2-40B4-BE49-F238E27FC236}">
                <a16:creationId xmlns:a16="http://schemas.microsoft.com/office/drawing/2014/main" id="{8A7C9E5B-56B8-4DBD-80B6-90C592685CE2}"/>
              </a:ext>
            </a:extLst>
          </p:cNvPr>
          <p:cNvSpPr>
            <a:spLocks xmlns:a="http://schemas.openxmlformats.org/drawingml/2006/main" noGrp="1"/>
          </p:cNvSpPr>
          <p:nvPr/>
        </p:nvSpPr>
        <p:spPr>
          <a:xfrm xmlns:a="http://schemas.openxmlformats.org/drawingml/2006/main">
            <a:off x="1104900" y="2771775"/>
            <a:ext cx="9667875" cy="0"/>
          </a:xfrm>
          <a:prstGeom xmlns:a="http://schemas.openxmlformats.org/drawingml/2006/main" prst="line">
            <a:avLst/>
          </a:prstGeom>
          <a:noFill xmlns:a="http://schemas.openxmlformats.org/drawingml/2006/main"/>
          <a:ln xmlns:a="http://schemas.openxmlformats.org/drawingml/2006/main" w="19050">
            <a:solidFill>
              <a:srgbClr val="CBD0D8"/>
            </a:solidFill>
            <a:prstDash val="solid"/>
          </a:ln>
        </p:spPr>
      </p:sp>
      <p:sp>
        <p:nvSpPr>
          <p:cNvPr id="8" name="">
            <a:extLst xmlns:a="http://schemas.openxmlformats.org/drawingml/2006/main">
              <a:ext uri="{FF2B5EF4-FFF2-40B4-BE49-F238E27FC236}">
                <a16:creationId xmlns:a16="http://schemas.microsoft.com/office/drawing/2014/main" id="{BCF9A1C0-647D-41C3-B3A4-FF86E3BA8F52}"/>
              </a:ext>
            </a:extLst>
          </p:cNvPr>
          <p:cNvSpPr>
            <a:spLocks xmlns:a="http://schemas.openxmlformats.org/drawingml/2006/main" noGrp="1"/>
          </p:cNvSpPr>
          <p:nvPr/>
        </p:nvSpPr>
        <p:spPr>
          <a:xfrm xmlns:a="http://schemas.openxmlformats.org/drawingml/2006/main">
            <a:off x="10506075" y="2581275"/>
            <a:ext cx="342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2F80ED"/>
                </a:solidFill>
              </a:defRPr>
            </a:pPr>
            <a:r>
              <a:rPr sz="1800" b="1">
                <a:solidFill>
                  <a:srgbClr val="2F80ED"/>
                </a:solidFill>
              </a:rPr>
              <a:t>→</a:t>
            </a:r>
          </a:p>
        </p:txBody>
      </p:sp>
      <p:sp>
        <p:nvSpPr>
          <p:cNvPr id="9" name="">
            <a:extLst xmlns:a="http://schemas.openxmlformats.org/drawingml/2006/main">
              <a:ext uri="{FF2B5EF4-FFF2-40B4-BE49-F238E27FC236}">
                <a16:creationId xmlns:a16="http://schemas.microsoft.com/office/drawing/2014/main" id="{1413EC05-667A-4E50-B499-C27E6C323D61}"/>
              </a:ext>
            </a:extLst>
          </p:cNvPr>
          <p:cNvSpPr>
            <a:spLocks xmlns:a="http://schemas.openxmlformats.org/drawingml/2006/main" noGrp="1"/>
          </p:cNvSpPr>
          <p:nvPr/>
        </p:nvSpPr>
        <p:spPr>
          <a:xfrm xmlns:a="http://schemas.openxmlformats.org/drawingml/2006/main">
            <a:off x="742950" y="30480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2F80ED"/>
                </a:solidFill>
              </a:defRPr>
            </a:pPr>
            <a:r>
              <a:rPr sz="1350" b="1">
                <a:solidFill>
                  <a:srgbClr val="2F80ED"/>
                </a:solidFill>
              </a:rPr>
              <a:t>01</a:t>
            </a:r>
          </a:p>
        </p:txBody>
      </p:sp>
      <p:sp>
        <p:nvSpPr>
          <p:cNvPr id="10" name="">
            <a:extLst xmlns:a="http://schemas.openxmlformats.org/drawingml/2006/main">
              <a:ext uri="{FF2B5EF4-FFF2-40B4-BE49-F238E27FC236}">
                <a16:creationId xmlns:a16="http://schemas.microsoft.com/office/drawing/2014/main" id="{5FCEE8C3-CCEB-4226-B621-631BA8CAF723}"/>
              </a:ext>
            </a:extLst>
          </p:cNvPr>
          <p:cNvSpPr>
            <a:spLocks xmlns:a="http://schemas.openxmlformats.org/drawingml/2006/main" noGrp="1"/>
          </p:cNvSpPr>
          <p:nvPr/>
        </p:nvSpPr>
        <p:spPr>
          <a:xfrm xmlns:a="http://schemas.openxmlformats.org/drawingml/2006/main">
            <a:off x="742950" y="3476625"/>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11827"/>
                </a:solidFill>
              </a:defRPr>
            </a:pPr>
            <a:r>
              <a:rPr sz="1725" b="1">
                <a:solidFill>
                  <a:srgbClr val="111827"/>
                </a:solidFill>
              </a:rPr>
              <a:t>왜 증강하나</a:t>
            </a:r>
          </a:p>
        </p:txBody>
      </p:sp>
      <p:sp>
        <p:nvSpPr>
          <p:cNvPr id="11" name="">
            <a:extLst xmlns:a="http://schemas.openxmlformats.org/drawingml/2006/main">
              <a:ext uri="{FF2B5EF4-FFF2-40B4-BE49-F238E27FC236}">
                <a16:creationId xmlns:a16="http://schemas.microsoft.com/office/drawing/2014/main" id="{E9E509BE-290B-41B9-BF77-9B4535CFE436}"/>
              </a:ext>
            </a:extLst>
          </p:cNvPr>
          <p:cNvSpPr>
            <a:spLocks xmlns:a="http://schemas.openxmlformats.org/drawingml/2006/main" noGrp="1"/>
          </p:cNvSpPr>
          <p:nvPr/>
        </p:nvSpPr>
        <p:spPr>
          <a:xfrm xmlns:a="http://schemas.openxmlformats.org/drawingml/2006/main">
            <a:off x="742950" y="3952875"/>
            <a:ext cx="3000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5B6472"/>
                </a:solidFill>
              </a:defRPr>
            </a:pPr>
            <a:r>
              <a:rPr sz="1425" b="0">
                <a:solidFill>
                  <a:srgbClr val="5B6472"/>
                </a:solidFill>
              </a:rPr>
              <a:t>실제 로그는 표본이 작고</a:t>
            </a:r>
          </a:p>
          <a:p xmlns:a="http://schemas.openxmlformats.org/drawingml/2006/main">
            <a:pPr algn="l">
              <a:defRPr sz="1425" b="0">
                <a:solidFill>
                  <a:srgbClr val="5B6472"/>
                </a:solidFill>
              </a:defRPr>
            </a:pPr>
            <a:r>
              <a:rPr sz="1425" b="0">
                <a:solidFill>
                  <a:srgbClr val="5B6472"/>
                </a:solidFill>
              </a:rPr>
              <a:t>사용자별 검색량 편차가 큼</a:t>
            </a:r>
          </a:p>
        </p:txBody>
      </p:sp>
      <p:sp>
        <p:nvSpPr>
          <p:cNvPr id="12" name="">
            <a:extLst xmlns:a="http://schemas.openxmlformats.org/drawingml/2006/main">
              <a:ext uri="{FF2B5EF4-FFF2-40B4-BE49-F238E27FC236}">
                <a16:creationId xmlns:a16="http://schemas.microsoft.com/office/drawing/2014/main" id="{FABE2935-C48F-47DC-A3D1-C132D843A150}"/>
              </a:ext>
            </a:extLst>
          </p:cNvPr>
          <p:cNvSpPr>
            <a:spLocks xmlns:a="http://schemas.openxmlformats.org/drawingml/2006/main" noGrp="1"/>
          </p:cNvSpPr>
          <p:nvPr/>
        </p:nvSpPr>
        <p:spPr>
          <a:xfrm xmlns:a="http://schemas.openxmlformats.org/drawingml/2006/main">
            <a:off x="4314825" y="30480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2F80ED"/>
                </a:solidFill>
              </a:defRPr>
            </a:pPr>
            <a:r>
              <a:rPr sz="1350" b="1">
                <a:solidFill>
                  <a:srgbClr val="2F80ED"/>
                </a:solidFill>
              </a:rPr>
              <a:t>02</a:t>
            </a:r>
          </a:p>
        </p:txBody>
      </p:sp>
      <p:sp>
        <p:nvSpPr>
          <p:cNvPr id="13" name="">
            <a:extLst xmlns:a="http://schemas.openxmlformats.org/drawingml/2006/main">
              <a:ext uri="{FF2B5EF4-FFF2-40B4-BE49-F238E27FC236}">
                <a16:creationId xmlns:a16="http://schemas.microsoft.com/office/drawing/2014/main" id="{60F9561F-7EA2-480E-B18B-672330EC1B3A}"/>
              </a:ext>
            </a:extLst>
          </p:cNvPr>
          <p:cNvSpPr>
            <a:spLocks xmlns:a="http://schemas.openxmlformats.org/drawingml/2006/main" noGrp="1"/>
          </p:cNvSpPr>
          <p:nvPr/>
        </p:nvSpPr>
        <p:spPr>
          <a:xfrm xmlns:a="http://schemas.openxmlformats.org/drawingml/2006/main">
            <a:off x="4314825" y="3476625"/>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11827"/>
                </a:solidFill>
              </a:defRPr>
            </a:pPr>
            <a:r>
              <a:rPr sz="1725" b="1">
                <a:solidFill>
                  <a:srgbClr val="111827"/>
                </a:solidFill>
              </a:rPr>
              <a:t>어떻게 진행하나</a:t>
            </a:r>
          </a:p>
        </p:txBody>
      </p:sp>
      <p:sp>
        <p:nvSpPr>
          <p:cNvPr id="14" name="">
            <a:extLst xmlns:a="http://schemas.openxmlformats.org/drawingml/2006/main">
              <a:ext uri="{FF2B5EF4-FFF2-40B4-BE49-F238E27FC236}">
                <a16:creationId xmlns:a16="http://schemas.microsoft.com/office/drawing/2014/main" id="{ACD72C81-4A9F-490A-8E7B-972FB26D21A0}"/>
              </a:ext>
            </a:extLst>
          </p:cNvPr>
          <p:cNvSpPr>
            <a:spLocks xmlns:a="http://schemas.openxmlformats.org/drawingml/2006/main" noGrp="1"/>
          </p:cNvSpPr>
          <p:nvPr/>
        </p:nvSpPr>
        <p:spPr>
          <a:xfrm xmlns:a="http://schemas.openxmlformats.org/drawingml/2006/main">
            <a:off x="4314825" y="3952875"/>
            <a:ext cx="3000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5B6472"/>
                </a:solidFill>
              </a:defRPr>
            </a:pPr>
            <a:r>
              <a:rPr sz="1425" b="0">
                <a:solidFill>
                  <a:srgbClr val="5B6472"/>
                </a:solidFill>
              </a:rPr>
              <a:t>실제 상대비율 → 가설 →</a:t>
            </a:r>
          </a:p>
          <a:p xmlns:a="http://schemas.openxmlformats.org/drawingml/2006/main">
            <a:pPr algn="l">
              <a:defRPr sz="1425" b="0">
                <a:solidFill>
                  <a:srgbClr val="5B6472"/>
                </a:solidFill>
              </a:defRPr>
            </a:pPr>
            <a:r>
              <a:rPr sz="1425" b="0">
                <a:solidFill>
                  <a:srgbClr val="5B6472"/>
                </a:solidFill>
              </a:rPr>
              <a:t>의도별 집단 확장 → 재검증</a:t>
            </a:r>
          </a:p>
        </p:txBody>
      </p:sp>
      <p:sp>
        <p:nvSpPr>
          <p:cNvPr id="15" name="">
            <a:extLst xmlns:a="http://schemas.openxmlformats.org/drawingml/2006/main">
              <a:ext uri="{FF2B5EF4-FFF2-40B4-BE49-F238E27FC236}">
                <a16:creationId xmlns:a16="http://schemas.microsoft.com/office/drawing/2014/main" id="{615565CD-A8FD-47E6-9E48-5738FE21E5A7}"/>
              </a:ext>
            </a:extLst>
          </p:cNvPr>
          <p:cNvSpPr>
            <a:spLocks xmlns:a="http://schemas.openxmlformats.org/drawingml/2006/main" noGrp="1"/>
          </p:cNvSpPr>
          <p:nvPr/>
        </p:nvSpPr>
        <p:spPr>
          <a:xfrm xmlns:a="http://schemas.openxmlformats.org/drawingml/2006/main">
            <a:off x="7886700" y="30480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2F80ED"/>
                </a:solidFill>
              </a:defRPr>
            </a:pPr>
            <a:r>
              <a:rPr sz="1350" b="1">
                <a:solidFill>
                  <a:srgbClr val="2F80ED"/>
                </a:solidFill>
              </a:rPr>
              <a:t>03</a:t>
            </a:r>
          </a:p>
        </p:txBody>
      </p:sp>
      <p:sp>
        <p:nvSpPr>
          <p:cNvPr id="16" name="">
            <a:extLst xmlns:a="http://schemas.openxmlformats.org/drawingml/2006/main">
              <a:ext uri="{FF2B5EF4-FFF2-40B4-BE49-F238E27FC236}">
                <a16:creationId xmlns:a16="http://schemas.microsoft.com/office/drawing/2014/main" id="{5B85D1BD-3442-4D51-A43F-015DA8C1255B}"/>
              </a:ext>
            </a:extLst>
          </p:cNvPr>
          <p:cNvSpPr>
            <a:spLocks xmlns:a="http://schemas.openxmlformats.org/drawingml/2006/main" noGrp="1"/>
          </p:cNvSpPr>
          <p:nvPr/>
        </p:nvSpPr>
        <p:spPr>
          <a:xfrm xmlns:a="http://schemas.openxmlformats.org/drawingml/2006/main">
            <a:off x="7886700" y="3476625"/>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11827"/>
                </a:solidFill>
              </a:defRPr>
            </a:pPr>
            <a:r>
              <a:rPr sz="1725" b="1">
                <a:solidFill>
                  <a:srgbClr val="111827"/>
                </a:solidFill>
              </a:rPr>
              <a:t>무엇을 보나</a:t>
            </a:r>
          </a:p>
        </p:txBody>
      </p:sp>
      <p:sp>
        <p:nvSpPr>
          <p:cNvPr id="17" name="">
            <a:extLst xmlns:a="http://schemas.openxmlformats.org/drawingml/2006/main">
              <a:ext uri="{FF2B5EF4-FFF2-40B4-BE49-F238E27FC236}">
                <a16:creationId xmlns:a16="http://schemas.microsoft.com/office/drawing/2014/main" id="{4556C5E3-899B-4B6C-BE4E-2B119FF1B411}"/>
              </a:ext>
            </a:extLst>
          </p:cNvPr>
          <p:cNvSpPr>
            <a:spLocks xmlns:a="http://schemas.openxmlformats.org/drawingml/2006/main" noGrp="1"/>
          </p:cNvSpPr>
          <p:nvPr/>
        </p:nvSpPr>
        <p:spPr>
          <a:xfrm xmlns:a="http://schemas.openxmlformats.org/drawingml/2006/main">
            <a:off x="7886700" y="3952875"/>
            <a:ext cx="3000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5B6472"/>
                </a:solidFill>
              </a:defRPr>
            </a:pPr>
            <a:r>
              <a:rPr sz="1425" b="0">
                <a:solidFill>
                  <a:srgbClr val="5B6472"/>
                </a:solidFill>
              </a:rPr>
              <a:t>검색 횟수보다 조건 변경과</a:t>
            </a:r>
          </a:p>
          <a:p xmlns:a="http://schemas.openxmlformats.org/drawingml/2006/main">
            <a:pPr algn="l">
              <a:defRPr sz="1425" b="0">
                <a:solidFill>
                  <a:srgbClr val="5B6472"/>
                </a:solidFill>
              </a:defRPr>
            </a:pPr>
            <a:r>
              <a:rPr sz="1425" b="0">
                <a:solidFill>
                  <a:srgbClr val="5B6472"/>
                </a:solidFill>
              </a:rPr>
              <a:t>회복·클릭·이탈의 관계</a:t>
            </a:r>
          </a:p>
        </p:txBody>
      </p:sp>
      <p:sp>
        <p:nvSpPr>
          <p:cNvPr id="18" name="">
            <a:extLst xmlns:a="http://schemas.openxmlformats.org/drawingml/2006/main">
              <a:ext uri="{FF2B5EF4-FFF2-40B4-BE49-F238E27FC236}">
                <a16:creationId xmlns:a16="http://schemas.microsoft.com/office/drawing/2014/main" id="{8BF8B094-28C3-47A7-A1CE-D486D4B63769}"/>
              </a:ext>
            </a:extLst>
          </p:cNvPr>
          <p:cNvSpPr>
            <a:spLocks xmlns:a="http://schemas.openxmlformats.org/drawingml/2006/main" noGrp="1"/>
          </p:cNvSpPr>
          <p:nvPr/>
        </p:nvSpPr>
        <p:spPr>
          <a:xfrm xmlns:a="http://schemas.openxmlformats.org/drawingml/2006/main">
            <a:off x="685800" y="5286375"/>
            <a:ext cx="10820400" cy="7810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B54D80D-21D6-4046-86D8-337429D1DDF8}"/>
              </a:ext>
            </a:extLst>
          </p:cNvPr>
          <p:cNvSpPr>
            <a:spLocks xmlns:a="http://schemas.openxmlformats.org/drawingml/2006/main" noGrp="1"/>
          </p:cNvSpPr>
          <p:nvPr/>
        </p:nvSpPr>
        <p:spPr>
          <a:xfrm xmlns:a="http://schemas.openxmlformats.org/drawingml/2006/main">
            <a:off x="933450" y="55054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2F80ED"/>
                </a:solidFill>
              </a:defRPr>
            </a:pPr>
            <a:r>
              <a:rPr sz="1425" b="1">
                <a:solidFill>
                  <a:srgbClr val="2F80ED"/>
                </a:solidFill>
              </a:rPr>
              <a:t>이번 분석 초점</a:t>
            </a:r>
          </a:p>
        </p:txBody>
      </p:sp>
      <p:sp>
        <p:nvSpPr>
          <p:cNvPr id="20" name="">
            <a:extLst xmlns:a="http://schemas.openxmlformats.org/drawingml/2006/main">
              <a:ext uri="{FF2B5EF4-FFF2-40B4-BE49-F238E27FC236}">
                <a16:creationId xmlns:a16="http://schemas.microsoft.com/office/drawing/2014/main" id="{92751CC2-DA07-4892-B6A8-65B5045ACC6F}"/>
              </a:ext>
            </a:extLst>
          </p:cNvPr>
          <p:cNvSpPr>
            <a:spLocks xmlns:a="http://schemas.openxmlformats.org/drawingml/2006/main" noGrp="1"/>
          </p:cNvSpPr>
          <p:nvPr/>
        </p:nvSpPr>
        <p:spPr>
          <a:xfrm xmlns:a="http://schemas.openxmlformats.org/drawingml/2006/main">
            <a:off x="2857500" y="5410200"/>
            <a:ext cx="800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FFFFFF"/>
                </a:solidFill>
              </a:defRPr>
            </a:pPr>
            <a:r>
              <a:rPr sz="1800" b="1">
                <a:solidFill>
                  <a:srgbClr val="FFFFFF"/>
                </a:solidFill>
              </a:rPr>
              <a:t>전체 흐름은 유지하되, 많이 관찰된 0건 검색을 중심으로 가설을 검증</a:t>
            </a:r>
          </a:p>
        </p:txBody>
      </p:sp>
    </p:spTree>
    <p:extLst>
      <p:ext uri="{BB962C8B-B14F-4D97-AF65-F5344CB8AC3E}">
        <p14:creationId xmlns:p14="http://schemas.microsoft.com/office/powerpoint/2010/main" val="137721002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4E4CE258-5F6B-4400-923F-A8B280C7AB28}"/>
              </a:ext>
            </a:extLst>
          </p:cNvPr>
          <p:cNvSpPr>
            <a:spLocks xmlns:a="http://schemas.openxmlformats.org/drawingml/2006/main" noGrp="1"/>
          </p:cNvSpPr>
          <p:nvPr/>
        </p:nvSpPr>
        <p:spPr>
          <a:xfrm xmlns:a="http://schemas.openxmlformats.org/drawingml/2006/main">
            <a:off x="685800" y="4000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2F80ED"/>
                </a:solidFill>
              </a:defRPr>
            </a:pPr>
            <a:r>
              <a:rPr sz="1050" b="1">
                <a:solidFill>
                  <a:srgbClr val="2F80ED"/>
                </a:solidFill>
              </a:rPr>
              <a:t>OBSERVATION</a:t>
            </a:r>
          </a:p>
        </p:txBody>
      </p:sp>
      <p:sp>
        <p:nvSpPr>
          <p:cNvPr id="2" name="">
            <a:extLst xmlns:a="http://schemas.openxmlformats.org/drawingml/2006/main">
              <a:ext uri="{FF2B5EF4-FFF2-40B4-BE49-F238E27FC236}">
                <a16:creationId xmlns:a16="http://schemas.microsoft.com/office/drawing/2014/main" id="{632083B2-5CD0-474C-92E2-143C63FA39A5}"/>
              </a:ext>
            </a:extLst>
          </p:cNvPr>
          <p:cNvSpPr>
            <a:spLocks xmlns:a="http://schemas.openxmlformats.org/drawingml/2006/main" noGrp="1"/>
          </p:cNvSpPr>
          <p:nvPr/>
        </p:nvSpPr>
        <p:spPr>
          <a:xfrm xmlns:a="http://schemas.openxmlformats.org/drawingml/2006/main">
            <a:off x="685800" y="762000"/>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11827"/>
                </a:solidFill>
              </a:defRPr>
            </a:pPr>
            <a:r>
              <a:rPr sz="2700" b="1">
                <a:solidFill>
                  <a:srgbClr val="111827"/>
                </a:solidFill>
              </a:rPr>
              <a:t>분모를 바꿔가며 검색 실패에서 즉시 회복까지 추적했다</a:t>
            </a:r>
          </a:p>
        </p:txBody>
      </p:sp>
      <p:sp>
        <p:nvSpPr>
          <p:cNvPr id="3" name="">
            <a:extLst xmlns:a="http://schemas.openxmlformats.org/drawingml/2006/main">
              <a:ext uri="{FF2B5EF4-FFF2-40B4-BE49-F238E27FC236}">
                <a16:creationId xmlns:a16="http://schemas.microsoft.com/office/drawing/2014/main" id="{D7C235F1-B839-4D84-86B2-EDCE4A5DB5ED}"/>
              </a:ext>
            </a:extLst>
          </p:cNvPr>
          <p:cNvSpPr>
            <a:spLocks xmlns:a="http://schemas.openxmlformats.org/drawingml/2006/main" noGrp="1"/>
          </p:cNvSpPr>
          <p:nvPr/>
        </p:nvSpPr>
        <p:spPr>
          <a:xfrm xmlns:a="http://schemas.openxmlformats.org/drawingml/2006/main">
            <a:off x="685800" y="1504950"/>
            <a:ext cx="10820400" cy="0"/>
          </a:xfrm>
          <a:prstGeom xmlns:a="http://schemas.openxmlformats.org/drawingml/2006/main" prst="line">
            <a:avLst/>
          </a:prstGeom>
          <a:noFill xmlns:a="http://schemas.openxmlformats.org/drawingml/2006/main"/>
          <a:ln xmlns:a="http://schemas.openxmlformats.org/drawingml/2006/main" w="9525">
            <a:solidFill>
              <a:srgbClr val="CBD0D8"/>
            </a:solidFill>
            <a:prstDash val="solid"/>
          </a:ln>
        </p:spPr>
      </p:sp>
      <p:sp>
        <p:nvSpPr>
          <p:cNvPr id="4" name="">
            <a:extLst xmlns:a="http://schemas.openxmlformats.org/drawingml/2006/main">
              <a:ext uri="{FF2B5EF4-FFF2-40B4-BE49-F238E27FC236}">
                <a16:creationId xmlns:a16="http://schemas.microsoft.com/office/drawing/2014/main" id="{FD2F0F8F-29C9-4ECA-AF5F-C3DD40FF5802}"/>
              </a:ext>
            </a:extLst>
          </p:cNvPr>
          <p:cNvSpPr>
            <a:spLocks xmlns:a="http://schemas.openxmlformats.org/drawingml/2006/main" noGrp="1"/>
          </p:cNvSpPr>
          <p:nvPr/>
        </p:nvSpPr>
        <p:spPr>
          <a:xfrm xmlns:a="http://schemas.openxmlformats.org/drawingml/2006/main">
            <a:off x="11144250" y="400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5B6472"/>
                </a:solidFill>
              </a:defRPr>
            </a:pPr>
            <a:r>
              <a:rPr sz="1050" b="1">
                <a:solidFill>
                  <a:srgbClr val="5B6472"/>
                </a:solidFill>
              </a:rPr>
              <a:t>03</a:t>
            </a:r>
          </a:p>
        </p:txBody>
      </p:sp>
      <p:sp>
        <p:nvSpPr>
          <p:cNvPr id="5" name="">
            <a:extLst xmlns:a="http://schemas.openxmlformats.org/drawingml/2006/main">
              <a:ext uri="{FF2B5EF4-FFF2-40B4-BE49-F238E27FC236}">
                <a16:creationId xmlns:a16="http://schemas.microsoft.com/office/drawing/2014/main" id="{C5DCBA40-3539-43F9-A384-D174481E085C}"/>
              </a:ext>
            </a:extLst>
          </p:cNvPr>
          <p:cNvSpPr>
            <a:spLocks xmlns:a="http://schemas.openxmlformats.org/drawingml/2006/main" noGrp="1"/>
          </p:cNvSpPr>
          <p:nvPr/>
        </p:nvSpPr>
        <p:spPr>
          <a:xfrm xmlns:a="http://schemas.openxmlformats.org/drawingml/2006/main">
            <a:off x="685800" y="1924050"/>
            <a:ext cx="2333625" cy="1476375"/>
          </a:xfrm>
          <a:prstGeom xmlns:a="http://schemas.openxmlformats.org/drawingml/2006/main" prst="rect">
            <a:avLst/>
          </a:prstGeom>
          <a:solidFill xmlns:a="http://schemas.openxmlformats.org/drawingml/2006/main">
            <a:srgbClr val="F2F4F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77CA7BF-2BA6-484D-BA05-8BEFF9C761F3}"/>
              </a:ext>
            </a:extLst>
          </p:cNvPr>
          <p:cNvSpPr>
            <a:spLocks xmlns:a="http://schemas.openxmlformats.org/drawingml/2006/main" noGrp="1"/>
          </p:cNvSpPr>
          <p:nvPr/>
        </p:nvSpPr>
        <p:spPr>
          <a:xfrm xmlns:a="http://schemas.openxmlformats.org/drawingml/2006/main">
            <a:off x="857250" y="2095500"/>
            <a:ext cx="1952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5B6472"/>
                </a:solidFill>
              </a:defRPr>
            </a:pPr>
            <a:r>
              <a:rPr sz="1425" b="1">
                <a:solidFill>
                  <a:srgbClr val="5B6472"/>
                </a:solidFill>
              </a:rPr>
              <a:t>전체 검색</a:t>
            </a:r>
          </a:p>
        </p:txBody>
      </p:sp>
      <p:sp>
        <p:nvSpPr>
          <p:cNvPr id="7" name="">
            <a:extLst xmlns:a="http://schemas.openxmlformats.org/drawingml/2006/main">
              <a:ext uri="{FF2B5EF4-FFF2-40B4-BE49-F238E27FC236}">
                <a16:creationId xmlns:a16="http://schemas.microsoft.com/office/drawing/2014/main" id="{EAB135EF-06E1-42B5-A00E-AB94E21F4682}"/>
              </a:ext>
            </a:extLst>
          </p:cNvPr>
          <p:cNvSpPr>
            <a:spLocks xmlns:a="http://schemas.openxmlformats.org/drawingml/2006/main" noGrp="1"/>
          </p:cNvSpPr>
          <p:nvPr/>
        </p:nvSpPr>
        <p:spPr>
          <a:xfrm xmlns:a="http://schemas.openxmlformats.org/drawingml/2006/main">
            <a:off x="857250" y="24765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75" b="1">
                <a:solidFill>
                  <a:srgbClr val="2F80ED"/>
                </a:solidFill>
              </a:defRPr>
            </a:pPr>
            <a:r>
              <a:rPr sz="2175" b="1">
                <a:solidFill>
                  <a:srgbClr val="2F80ED"/>
                </a:solidFill>
              </a:rPr>
              <a:t>608건</a:t>
            </a:r>
          </a:p>
        </p:txBody>
      </p:sp>
      <p:sp>
        <p:nvSpPr>
          <p:cNvPr id="8" name="">
            <a:extLst xmlns:a="http://schemas.openxmlformats.org/drawingml/2006/main">
              <a:ext uri="{FF2B5EF4-FFF2-40B4-BE49-F238E27FC236}">
                <a16:creationId xmlns:a16="http://schemas.microsoft.com/office/drawing/2014/main" id="{D790930D-15DB-4685-9E1A-B1E13D060E6D}"/>
              </a:ext>
            </a:extLst>
          </p:cNvPr>
          <p:cNvSpPr>
            <a:spLocks xmlns:a="http://schemas.openxmlformats.org/drawingml/2006/main" noGrp="1"/>
          </p:cNvSpPr>
          <p:nvPr/>
        </p:nvSpPr>
        <p:spPr>
          <a:xfrm xmlns:a="http://schemas.openxmlformats.org/drawingml/2006/main">
            <a:off x="857250" y="2990850"/>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B6472"/>
                </a:solidFill>
              </a:defRPr>
            </a:pPr>
            <a:r>
              <a:rPr sz="1200" b="0">
                <a:solidFill>
                  <a:srgbClr val="5B6472"/>
                </a:solidFill>
              </a:rPr>
              <a:t>분모: 전체 검색</a:t>
            </a:r>
          </a:p>
        </p:txBody>
      </p:sp>
      <p:sp>
        <p:nvSpPr>
          <p:cNvPr id="9" name="">
            <a:extLst xmlns:a="http://schemas.openxmlformats.org/drawingml/2006/main">
              <a:ext uri="{FF2B5EF4-FFF2-40B4-BE49-F238E27FC236}">
                <a16:creationId xmlns:a16="http://schemas.microsoft.com/office/drawing/2014/main" id="{5AFFCC64-9FC9-4E65-9337-86B81AA1B97B}"/>
              </a:ext>
            </a:extLst>
          </p:cNvPr>
          <p:cNvSpPr>
            <a:spLocks xmlns:a="http://schemas.openxmlformats.org/drawingml/2006/main" noGrp="1"/>
          </p:cNvSpPr>
          <p:nvPr/>
        </p:nvSpPr>
        <p:spPr>
          <a:xfrm xmlns:a="http://schemas.openxmlformats.org/drawingml/2006/main">
            <a:off x="3048000" y="2381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2F80ED"/>
                </a:solidFill>
              </a:defRPr>
            </a:pPr>
            <a:r>
              <a:rPr sz="1875" b="1">
                <a:solidFill>
                  <a:srgbClr val="2F80ED"/>
                </a:solidFill>
              </a:rPr>
              <a:t>→</a:t>
            </a:r>
          </a:p>
        </p:txBody>
      </p:sp>
      <p:sp>
        <p:nvSpPr>
          <p:cNvPr id="10" name="">
            <a:extLst xmlns:a="http://schemas.openxmlformats.org/drawingml/2006/main">
              <a:ext uri="{FF2B5EF4-FFF2-40B4-BE49-F238E27FC236}">
                <a16:creationId xmlns:a16="http://schemas.microsoft.com/office/drawing/2014/main" id="{73ED2361-AF23-4EE0-AFBF-1C12E50FFA0C}"/>
              </a:ext>
            </a:extLst>
          </p:cNvPr>
          <p:cNvSpPr>
            <a:spLocks xmlns:a="http://schemas.openxmlformats.org/drawingml/2006/main" noGrp="1"/>
          </p:cNvSpPr>
          <p:nvPr/>
        </p:nvSpPr>
        <p:spPr>
          <a:xfrm xmlns:a="http://schemas.openxmlformats.org/drawingml/2006/main">
            <a:off x="3400425" y="1924050"/>
            <a:ext cx="2333625" cy="1476375"/>
          </a:xfrm>
          <a:prstGeom xmlns:a="http://schemas.openxmlformats.org/drawingml/2006/main" prst="rect">
            <a:avLst/>
          </a:prstGeom>
          <a:solidFill xmlns:a="http://schemas.openxmlformats.org/drawingml/2006/main">
            <a:srgbClr val="FFF0F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CE54D11-2182-4EFF-980C-85BE72D10033}"/>
              </a:ext>
            </a:extLst>
          </p:cNvPr>
          <p:cNvSpPr>
            <a:spLocks xmlns:a="http://schemas.openxmlformats.org/drawingml/2006/main" noGrp="1"/>
          </p:cNvSpPr>
          <p:nvPr/>
        </p:nvSpPr>
        <p:spPr>
          <a:xfrm xmlns:a="http://schemas.openxmlformats.org/drawingml/2006/main">
            <a:off x="3571875" y="2095500"/>
            <a:ext cx="1952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5B6472"/>
                </a:solidFill>
              </a:defRPr>
            </a:pPr>
            <a:r>
              <a:rPr sz="1425" b="1">
                <a:solidFill>
                  <a:srgbClr val="5B6472"/>
                </a:solidFill>
              </a:rPr>
              <a:t>결과 0건</a:t>
            </a:r>
          </a:p>
        </p:txBody>
      </p:sp>
      <p:sp>
        <p:nvSpPr>
          <p:cNvPr id="12" name="">
            <a:extLst xmlns:a="http://schemas.openxmlformats.org/drawingml/2006/main">
              <a:ext uri="{FF2B5EF4-FFF2-40B4-BE49-F238E27FC236}">
                <a16:creationId xmlns:a16="http://schemas.microsoft.com/office/drawing/2014/main" id="{E57F7752-6154-47F5-AD57-8475D020B1E5}"/>
              </a:ext>
            </a:extLst>
          </p:cNvPr>
          <p:cNvSpPr>
            <a:spLocks xmlns:a="http://schemas.openxmlformats.org/drawingml/2006/main" noGrp="1"/>
          </p:cNvSpPr>
          <p:nvPr/>
        </p:nvSpPr>
        <p:spPr>
          <a:xfrm xmlns:a="http://schemas.openxmlformats.org/drawingml/2006/main">
            <a:off x="3571875" y="24765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75" b="1">
                <a:solidFill>
                  <a:srgbClr val="D64545"/>
                </a:solidFill>
              </a:defRPr>
            </a:pPr>
            <a:r>
              <a:rPr sz="2175" b="1">
                <a:solidFill>
                  <a:srgbClr val="D64545"/>
                </a:solidFill>
              </a:rPr>
              <a:t>310건 · 51.0%</a:t>
            </a:r>
          </a:p>
        </p:txBody>
      </p:sp>
      <p:sp>
        <p:nvSpPr>
          <p:cNvPr id="13" name="">
            <a:extLst xmlns:a="http://schemas.openxmlformats.org/drawingml/2006/main">
              <a:ext uri="{FF2B5EF4-FFF2-40B4-BE49-F238E27FC236}">
                <a16:creationId xmlns:a16="http://schemas.microsoft.com/office/drawing/2014/main" id="{6B958DB6-C6B7-4314-B9F0-2FBEA681EA19}"/>
              </a:ext>
            </a:extLst>
          </p:cNvPr>
          <p:cNvSpPr>
            <a:spLocks xmlns:a="http://schemas.openxmlformats.org/drawingml/2006/main" noGrp="1"/>
          </p:cNvSpPr>
          <p:nvPr/>
        </p:nvSpPr>
        <p:spPr>
          <a:xfrm xmlns:a="http://schemas.openxmlformats.org/drawingml/2006/main">
            <a:off x="3571875" y="2990850"/>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B6472"/>
                </a:solidFill>
              </a:defRPr>
            </a:pPr>
            <a:r>
              <a:rPr sz="1200" b="0">
                <a:solidFill>
                  <a:srgbClr val="5B6472"/>
                </a:solidFill>
              </a:rPr>
              <a:t>310 ÷ 608</a:t>
            </a:r>
          </a:p>
        </p:txBody>
      </p:sp>
      <p:sp>
        <p:nvSpPr>
          <p:cNvPr id="14" name="">
            <a:extLst xmlns:a="http://schemas.openxmlformats.org/drawingml/2006/main">
              <a:ext uri="{FF2B5EF4-FFF2-40B4-BE49-F238E27FC236}">
                <a16:creationId xmlns:a16="http://schemas.microsoft.com/office/drawing/2014/main" id="{F44AD419-92B9-4835-A438-16C949A4277D}"/>
              </a:ext>
            </a:extLst>
          </p:cNvPr>
          <p:cNvSpPr>
            <a:spLocks xmlns:a="http://schemas.openxmlformats.org/drawingml/2006/main" noGrp="1"/>
          </p:cNvSpPr>
          <p:nvPr/>
        </p:nvSpPr>
        <p:spPr>
          <a:xfrm xmlns:a="http://schemas.openxmlformats.org/drawingml/2006/main">
            <a:off x="5762625" y="2381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2F80ED"/>
                </a:solidFill>
              </a:defRPr>
            </a:pPr>
            <a:r>
              <a:rPr sz="1875" b="1">
                <a:solidFill>
                  <a:srgbClr val="2F80ED"/>
                </a:solidFill>
              </a:rPr>
              <a:t>→</a:t>
            </a:r>
          </a:p>
        </p:txBody>
      </p:sp>
      <p:sp>
        <p:nvSpPr>
          <p:cNvPr id="15" name="">
            <a:extLst xmlns:a="http://schemas.openxmlformats.org/drawingml/2006/main">
              <a:ext uri="{FF2B5EF4-FFF2-40B4-BE49-F238E27FC236}">
                <a16:creationId xmlns:a16="http://schemas.microsoft.com/office/drawing/2014/main" id="{4C61E583-ECA9-4073-BA2A-76757FCFAF40}"/>
              </a:ext>
            </a:extLst>
          </p:cNvPr>
          <p:cNvSpPr>
            <a:spLocks xmlns:a="http://schemas.openxmlformats.org/drawingml/2006/main" noGrp="1"/>
          </p:cNvSpPr>
          <p:nvPr/>
        </p:nvSpPr>
        <p:spPr>
          <a:xfrm xmlns:a="http://schemas.openxmlformats.org/drawingml/2006/main">
            <a:off x="6115050" y="1924050"/>
            <a:ext cx="2333625" cy="1476375"/>
          </a:xfrm>
          <a:prstGeom xmlns:a="http://schemas.openxmlformats.org/drawingml/2006/main" prst="rect">
            <a:avLst/>
          </a:prstGeom>
          <a:solidFill xmlns:a="http://schemas.openxmlformats.org/drawingml/2006/main">
            <a:srgbClr val="FFF6E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799543A-F067-40E6-BE45-9C7A676C8905}"/>
              </a:ext>
            </a:extLst>
          </p:cNvPr>
          <p:cNvSpPr>
            <a:spLocks xmlns:a="http://schemas.openxmlformats.org/drawingml/2006/main" noGrp="1"/>
          </p:cNvSpPr>
          <p:nvPr/>
        </p:nvSpPr>
        <p:spPr>
          <a:xfrm xmlns:a="http://schemas.openxmlformats.org/drawingml/2006/main">
            <a:off x="6286500" y="2095500"/>
            <a:ext cx="1952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5B6472"/>
                </a:solidFill>
              </a:defRPr>
            </a:pPr>
            <a:r>
              <a:rPr sz="1425" b="1">
                <a:solidFill>
                  <a:srgbClr val="5B6472"/>
                </a:solidFill>
              </a:rPr>
              <a:t>후속 재검색</a:t>
            </a:r>
          </a:p>
        </p:txBody>
      </p:sp>
      <p:sp>
        <p:nvSpPr>
          <p:cNvPr id="17" name="">
            <a:extLst xmlns:a="http://schemas.openxmlformats.org/drawingml/2006/main">
              <a:ext uri="{FF2B5EF4-FFF2-40B4-BE49-F238E27FC236}">
                <a16:creationId xmlns:a16="http://schemas.microsoft.com/office/drawing/2014/main" id="{B7B2CB39-B019-42CA-B39E-7ECE4C9E651F}"/>
              </a:ext>
            </a:extLst>
          </p:cNvPr>
          <p:cNvSpPr>
            <a:spLocks xmlns:a="http://schemas.openxmlformats.org/drawingml/2006/main" noGrp="1"/>
          </p:cNvSpPr>
          <p:nvPr/>
        </p:nvSpPr>
        <p:spPr>
          <a:xfrm xmlns:a="http://schemas.openxmlformats.org/drawingml/2006/main">
            <a:off x="6286500" y="24765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75" b="1">
                <a:solidFill>
                  <a:srgbClr val="E49A2D"/>
                </a:solidFill>
              </a:defRPr>
            </a:pPr>
            <a:r>
              <a:rPr sz="2175" b="1">
                <a:solidFill>
                  <a:srgbClr val="E49A2D"/>
                </a:solidFill>
              </a:rPr>
              <a:t>298건 · 96.1%</a:t>
            </a:r>
          </a:p>
        </p:txBody>
      </p:sp>
      <p:sp>
        <p:nvSpPr>
          <p:cNvPr id="18" name="">
            <a:extLst xmlns:a="http://schemas.openxmlformats.org/drawingml/2006/main">
              <a:ext uri="{FF2B5EF4-FFF2-40B4-BE49-F238E27FC236}">
                <a16:creationId xmlns:a16="http://schemas.microsoft.com/office/drawing/2014/main" id="{4A34828B-8E6E-4ECF-B492-672E5D5D9ED8}"/>
              </a:ext>
            </a:extLst>
          </p:cNvPr>
          <p:cNvSpPr>
            <a:spLocks xmlns:a="http://schemas.openxmlformats.org/drawingml/2006/main" noGrp="1"/>
          </p:cNvSpPr>
          <p:nvPr/>
        </p:nvSpPr>
        <p:spPr>
          <a:xfrm xmlns:a="http://schemas.openxmlformats.org/drawingml/2006/main">
            <a:off x="6286500" y="2990850"/>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B6472"/>
                </a:solidFill>
              </a:defRPr>
            </a:pPr>
            <a:r>
              <a:rPr sz="1200" b="0">
                <a:solidFill>
                  <a:srgbClr val="5B6472"/>
                </a:solidFill>
              </a:rPr>
              <a:t>298 ÷ 310</a:t>
            </a:r>
          </a:p>
        </p:txBody>
      </p:sp>
      <p:sp>
        <p:nvSpPr>
          <p:cNvPr id="19" name="">
            <a:extLst xmlns:a="http://schemas.openxmlformats.org/drawingml/2006/main">
              <a:ext uri="{FF2B5EF4-FFF2-40B4-BE49-F238E27FC236}">
                <a16:creationId xmlns:a16="http://schemas.microsoft.com/office/drawing/2014/main" id="{6DA87738-2F6D-4CF3-AD47-360F914C1A95}"/>
              </a:ext>
            </a:extLst>
          </p:cNvPr>
          <p:cNvSpPr>
            <a:spLocks xmlns:a="http://schemas.openxmlformats.org/drawingml/2006/main" noGrp="1"/>
          </p:cNvSpPr>
          <p:nvPr/>
        </p:nvSpPr>
        <p:spPr>
          <a:xfrm xmlns:a="http://schemas.openxmlformats.org/drawingml/2006/main">
            <a:off x="8477250" y="2381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2F80ED"/>
                </a:solidFill>
              </a:defRPr>
            </a:pPr>
            <a:r>
              <a:rPr sz="1875" b="1">
                <a:solidFill>
                  <a:srgbClr val="2F80ED"/>
                </a:solidFill>
              </a:rPr>
              <a:t>→</a:t>
            </a:r>
          </a:p>
        </p:txBody>
      </p:sp>
      <p:sp>
        <p:nvSpPr>
          <p:cNvPr id="20" name="">
            <a:extLst xmlns:a="http://schemas.openxmlformats.org/drawingml/2006/main">
              <a:ext uri="{FF2B5EF4-FFF2-40B4-BE49-F238E27FC236}">
                <a16:creationId xmlns:a16="http://schemas.microsoft.com/office/drawing/2014/main" id="{618B1507-EDB8-41E5-A3A1-A6EE5B833A76}"/>
              </a:ext>
            </a:extLst>
          </p:cNvPr>
          <p:cNvSpPr>
            <a:spLocks xmlns:a="http://schemas.openxmlformats.org/drawingml/2006/main" noGrp="1"/>
          </p:cNvSpPr>
          <p:nvPr/>
        </p:nvSpPr>
        <p:spPr>
          <a:xfrm xmlns:a="http://schemas.openxmlformats.org/drawingml/2006/main">
            <a:off x="8829675" y="1924050"/>
            <a:ext cx="2333625" cy="1476375"/>
          </a:xfrm>
          <a:prstGeom xmlns:a="http://schemas.openxmlformats.org/drawingml/2006/main" prst="rect">
            <a:avLst/>
          </a:prstGeom>
          <a:solidFill xmlns:a="http://schemas.openxmlformats.org/drawingml/2006/main">
            <a:srgbClr val="EAF7F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F75FF89-576D-4927-B526-B5D6CBAA5DB3}"/>
              </a:ext>
            </a:extLst>
          </p:cNvPr>
          <p:cNvSpPr>
            <a:spLocks xmlns:a="http://schemas.openxmlformats.org/drawingml/2006/main" noGrp="1"/>
          </p:cNvSpPr>
          <p:nvPr/>
        </p:nvSpPr>
        <p:spPr>
          <a:xfrm xmlns:a="http://schemas.openxmlformats.org/drawingml/2006/main">
            <a:off x="9001125" y="2095500"/>
            <a:ext cx="1952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5B6472"/>
                </a:solidFill>
              </a:defRPr>
            </a:pPr>
            <a:r>
              <a:rPr sz="1425" b="1">
                <a:solidFill>
                  <a:srgbClr val="5B6472"/>
                </a:solidFill>
              </a:rPr>
              <a:t>즉시 회복</a:t>
            </a:r>
          </a:p>
        </p:txBody>
      </p:sp>
      <p:sp>
        <p:nvSpPr>
          <p:cNvPr id="22" name="">
            <a:extLst xmlns:a="http://schemas.openxmlformats.org/drawingml/2006/main">
              <a:ext uri="{FF2B5EF4-FFF2-40B4-BE49-F238E27FC236}">
                <a16:creationId xmlns:a16="http://schemas.microsoft.com/office/drawing/2014/main" id="{65445899-BABE-4408-8E2B-CE02CBC4813E}"/>
              </a:ext>
            </a:extLst>
          </p:cNvPr>
          <p:cNvSpPr>
            <a:spLocks xmlns:a="http://schemas.openxmlformats.org/drawingml/2006/main" noGrp="1"/>
          </p:cNvSpPr>
          <p:nvPr/>
        </p:nvSpPr>
        <p:spPr>
          <a:xfrm xmlns:a="http://schemas.openxmlformats.org/drawingml/2006/main">
            <a:off x="9001125" y="24765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75" b="1">
                <a:solidFill>
                  <a:srgbClr val="168A68"/>
                </a:solidFill>
              </a:defRPr>
            </a:pPr>
            <a:r>
              <a:rPr sz="2175" b="1">
                <a:solidFill>
                  <a:srgbClr val="168A68"/>
                </a:solidFill>
              </a:rPr>
              <a:t>67건 · 22.5%</a:t>
            </a:r>
          </a:p>
        </p:txBody>
      </p:sp>
      <p:sp>
        <p:nvSpPr>
          <p:cNvPr id="23" name="">
            <a:extLst xmlns:a="http://schemas.openxmlformats.org/drawingml/2006/main">
              <a:ext uri="{FF2B5EF4-FFF2-40B4-BE49-F238E27FC236}">
                <a16:creationId xmlns:a16="http://schemas.microsoft.com/office/drawing/2014/main" id="{4AA3510E-053E-4188-9043-E79BB2B078B6}"/>
              </a:ext>
            </a:extLst>
          </p:cNvPr>
          <p:cNvSpPr>
            <a:spLocks xmlns:a="http://schemas.openxmlformats.org/drawingml/2006/main" noGrp="1"/>
          </p:cNvSpPr>
          <p:nvPr/>
        </p:nvSpPr>
        <p:spPr>
          <a:xfrm xmlns:a="http://schemas.openxmlformats.org/drawingml/2006/main">
            <a:off x="9001125" y="2990850"/>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B6472"/>
                </a:solidFill>
              </a:defRPr>
            </a:pPr>
            <a:r>
              <a:rPr sz="1200" b="0">
                <a:solidFill>
                  <a:srgbClr val="5B6472"/>
                </a:solidFill>
              </a:rPr>
              <a:t>67 ÷ 298</a:t>
            </a:r>
          </a:p>
        </p:txBody>
      </p:sp>
      <p:sp>
        <p:nvSpPr>
          <p:cNvPr id="24" name="">
            <a:extLst xmlns:a="http://schemas.openxmlformats.org/drawingml/2006/main">
              <a:ext uri="{FF2B5EF4-FFF2-40B4-BE49-F238E27FC236}">
                <a16:creationId xmlns:a16="http://schemas.microsoft.com/office/drawing/2014/main" id="{6A18563D-FEF7-43F0-B3A3-8C665AE0F1DD}"/>
              </a:ext>
            </a:extLst>
          </p:cNvPr>
          <p:cNvSpPr>
            <a:spLocks xmlns:a="http://schemas.openxmlformats.org/drawingml/2006/main" noGrp="1"/>
          </p:cNvSpPr>
          <p:nvPr/>
        </p:nvSpPr>
        <p:spPr>
          <a:xfrm xmlns:a="http://schemas.openxmlformats.org/drawingml/2006/main">
            <a:off x="685800" y="3762375"/>
            <a:ext cx="10820400" cy="1619250"/>
          </a:xfrm>
          <a:prstGeom xmlns:a="http://schemas.openxmlformats.org/drawingml/2006/main" prst="rect">
            <a:avLst/>
          </a:prstGeom>
          <a:solidFill xmlns:a="http://schemas.openxmlformats.org/drawingml/2006/main">
            <a:srgbClr val="F2F4F7"/>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9D4C0FA0-5D2E-4958-A558-D274B71CDCA9}"/>
              </a:ext>
            </a:extLst>
          </p:cNvPr>
          <p:cNvSpPr>
            <a:spLocks xmlns:a="http://schemas.openxmlformats.org/drawingml/2006/main" noGrp="1"/>
          </p:cNvSpPr>
          <p:nvPr/>
        </p:nvSpPr>
        <p:spPr>
          <a:xfrm xmlns:a="http://schemas.openxmlformats.org/drawingml/2006/main">
            <a:off x="933450" y="396240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2F80ED"/>
                </a:solidFill>
              </a:defRPr>
            </a:pPr>
            <a:r>
              <a:rPr sz="1500" b="1">
                <a:solidFill>
                  <a:srgbClr val="2F80ED"/>
                </a:solidFill>
              </a:rPr>
              <a:t>집계 단위와 출처</a:t>
            </a:r>
          </a:p>
        </p:txBody>
      </p:sp>
      <p:sp>
        <p:nvSpPr>
          <p:cNvPr id="26" name="">
            <a:extLst xmlns:a="http://schemas.openxmlformats.org/drawingml/2006/main">
              <a:ext uri="{FF2B5EF4-FFF2-40B4-BE49-F238E27FC236}">
                <a16:creationId xmlns:a16="http://schemas.microsoft.com/office/drawing/2014/main" id="{0FD87A34-4D80-4F10-8C59-75800FA3A307}"/>
              </a:ext>
            </a:extLst>
          </p:cNvPr>
          <p:cNvSpPr>
            <a:spLocks xmlns:a="http://schemas.openxmlformats.org/drawingml/2006/main" noGrp="1"/>
          </p:cNvSpPr>
          <p:nvPr/>
        </p:nvSpPr>
        <p:spPr>
          <a:xfrm xmlns:a="http://schemas.openxmlformats.org/drawingml/2006/main">
            <a:off x="933450" y="4343400"/>
            <a:ext cx="9334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11827"/>
                </a:solidFill>
              </a:defRPr>
            </a:pPr>
            <a:r>
              <a:rPr sz="1350" b="0">
                <a:solidFill>
                  <a:srgbClr val="111827"/>
                </a:solidFill>
              </a:rPr>
              <a:t>0건률: 검색 1건 기준 · SEARCH.total_result_count / SEARCH_RESULT</a:t>
            </a:r>
          </a:p>
        </p:txBody>
      </p:sp>
      <p:sp>
        <p:nvSpPr>
          <p:cNvPr id="27" name="">
            <a:extLst xmlns:a="http://schemas.openxmlformats.org/drawingml/2006/main">
              <a:ext uri="{FF2B5EF4-FFF2-40B4-BE49-F238E27FC236}">
                <a16:creationId xmlns:a16="http://schemas.microsoft.com/office/drawing/2014/main" id="{D9C55197-546D-4EA4-B668-E9BDBB8B533D}"/>
              </a:ext>
            </a:extLst>
          </p:cNvPr>
          <p:cNvSpPr>
            <a:spLocks xmlns:a="http://schemas.openxmlformats.org/drawingml/2006/main" noGrp="1"/>
          </p:cNvSpPr>
          <p:nvPr/>
        </p:nvSpPr>
        <p:spPr>
          <a:xfrm xmlns:a="http://schemas.openxmlformats.org/drawingml/2006/main">
            <a:off x="933450" y="4657725"/>
            <a:ext cx="9334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11827"/>
                </a:solidFill>
              </a:defRPr>
            </a:pPr>
            <a:r>
              <a:rPr sz="1350" b="0">
                <a:solidFill>
                  <a:srgbClr val="111827"/>
                </a:solidFill>
              </a:rPr>
              <a:t>재검색·회복률: 같은 session_id의 다음 search_time 기준 · SEARCH</a:t>
            </a:r>
          </a:p>
        </p:txBody>
      </p:sp>
      <p:sp>
        <p:nvSpPr>
          <p:cNvPr id="28" name="">
            <a:extLst xmlns:a="http://schemas.openxmlformats.org/drawingml/2006/main">
              <a:ext uri="{FF2B5EF4-FFF2-40B4-BE49-F238E27FC236}">
                <a16:creationId xmlns:a16="http://schemas.microsoft.com/office/drawing/2014/main" id="{D166046A-D383-43D5-A8AD-57C233738714}"/>
              </a:ext>
            </a:extLst>
          </p:cNvPr>
          <p:cNvSpPr>
            <a:spLocks xmlns:a="http://schemas.openxmlformats.org/drawingml/2006/main" noGrp="1"/>
          </p:cNvSpPr>
          <p:nvPr/>
        </p:nvSpPr>
        <p:spPr>
          <a:xfrm xmlns:a="http://schemas.openxmlformats.org/drawingml/2006/main">
            <a:off x="933450" y="4972050"/>
            <a:ext cx="9334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11827"/>
                </a:solidFill>
              </a:defRPr>
            </a:pPr>
            <a:r>
              <a:rPr sz="1350" b="0">
                <a:solidFill>
                  <a:srgbClr val="111827"/>
                </a:solidFill>
              </a:rPr>
              <a:t>행동·사용자 연결: EVENT.user_id, search_id · 상위 5명 검색 비중 48.5%</a:t>
            </a:r>
          </a:p>
        </p:txBody>
      </p:sp>
      <p:sp>
        <p:nvSpPr>
          <p:cNvPr id="29" name="">
            <a:extLst xmlns:a="http://schemas.openxmlformats.org/drawingml/2006/main">
              <a:ext uri="{FF2B5EF4-FFF2-40B4-BE49-F238E27FC236}">
                <a16:creationId xmlns:a16="http://schemas.microsoft.com/office/drawing/2014/main" id="{6A37F4E4-EC99-4A16-B761-24E55DAA76E4}"/>
              </a:ext>
            </a:extLst>
          </p:cNvPr>
          <p:cNvSpPr>
            <a:spLocks xmlns:a="http://schemas.openxmlformats.org/drawingml/2006/main" noGrp="1"/>
          </p:cNvSpPr>
          <p:nvPr/>
        </p:nvSpPr>
        <p:spPr>
          <a:xfrm xmlns:a="http://schemas.openxmlformats.org/drawingml/2006/main">
            <a:off x="685800" y="5695950"/>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D64545"/>
                </a:solidFill>
              </a:defRPr>
            </a:pPr>
            <a:r>
              <a:rPr sz="1350" b="1">
                <a:solidFill>
                  <a:srgbClr val="D64545"/>
                </a:solidFill>
              </a:rPr>
              <a:t>각 비율의 분모가 다르므로 22.5%는 전체 성공률이 아니라 “재검색 즉시 회복률”이다.</a:t>
            </a:r>
          </a:p>
        </p:txBody>
      </p:sp>
    </p:spTree>
    <p:extLst>
      <p:ext uri="{BB962C8B-B14F-4D97-AF65-F5344CB8AC3E}">
        <p14:creationId xmlns:p14="http://schemas.microsoft.com/office/powerpoint/2010/main" val="179973383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4DA0EBAD-A55E-4132-AF2E-5CAA40CEE4DF}"/>
              </a:ext>
            </a:extLst>
          </p:cNvPr>
          <p:cNvSpPr>
            <a:spLocks xmlns:a="http://schemas.openxmlformats.org/drawingml/2006/main" noGrp="1"/>
          </p:cNvSpPr>
          <p:nvPr/>
        </p:nvSpPr>
        <p:spPr>
          <a:xfrm xmlns:a="http://schemas.openxmlformats.org/drawingml/2006/main">
            <a:off x="685800" y="4000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2F80ED"/>
                </a:solidFill>
              </a:defRPr>
            </a:pPr>
            <a:r>
              <a:rPr sz="1050" b="1">
                <a:solidFill>
                  <a:srgbClr val="2F80ED"/>
                </a:solidFill>
              </a:rPr>
              <a:t>LIMITATION</a:t>
            </a:r>
          </a:p>
        </p:txBody>
      </p:sp>
      <p:sp>
        <p:nvSpPr>
          <p:cNvPr id="2" name="">
            <a:extLst xmlns:a="http://schemas.openxmlformats.org/drawingml/2006/main">
              <a:ext uri="{FF2B5EF4-FFF2-40B4-BE49-F238E27FC236}">
                <a16:creationId xmlns:a16="http://schemas.microsoft.com/office/drawing/2014/main" id="{79D8C108-CD9D-4531-B0F0-C953D62C6E50}"/>
              </a:ext>
            </a:extLst>
          </p:cNvPr>
          <p:cNvSpPr>
            <a:spLocks xmlns:a="http://schemas.openxmlformats.org/drawingml/2006/main" noGrp="1"/>
          </p:cNvSpPr>
          <p:nvPr/>
        </p:nvSpPr>
        <p:spPr>
          <a:xfrm xmlns:a="http://schemas.openxmlformats.org/drawingml/2006/main">
            <a:off x="685800" y="762000"/>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11827"/>
                </a:solidFill>
              </a:defRPr>
            </a:pPr>
            <a:r>
              <a:rPr sz="2700" b="1">
                <a:solidFill>
                  <a:srgbClr val="111827"/>
                </a:solidFill>
              </a:rPr>
              <a:t>표본의 한계를 먼저 통제해야 가설 검증이 왜곡되지 않는다</a:t>
            </a:r>
          </a:p>
        </p:txBody>
      </p:sp>
      <p:sp>
        <p:nvSpPr>
          <p:cNvPr id="3" name="">
            <a:extLst xmlns:a="http://schemas.openxmlformats.org/drawingml/2006/main">
              <a:ext uri="{FF2B5EF4-FFF2-40B4-BE49-F238E27FC236}">
                <a16:creationId xmlns:a16="http://schemas.microsoft.com/office/drawing/2014/main" id="{E6C05F44-E5B0-4904-AE16-ABB057C3C3EF}"/>
              </a:ext>
            </a:extLst>
          </p:cNvPr>
          <p:cNvSpPr>
            <a:spLocks xmlns:a="http://schemas.openxmlformats.org/drawingml/2006/main" noGrp="1"/>
          </p:cNvSpPr>
          <p:nvPr/>
        </p:nvSpPr>
        <p:spPr>
          <a:xfrm xmlns:a="http://schemas.openxmlformats.org/drawingml/2006/main">
            <a:off x="685800" y="1504950"/>
            <a:ext cx="10820400" cy="0"/>
          </a:xfrm>
          <a:prstGeom xmlns:a="http://schemas.openxmlformats.org/drawingml/2006/main" prst="line">
            <a:avLst/>
          </a:prstGeom>
          <a:noFill xmlns:a="http://schemas.openxmlformats.org/drawingml/2006/main"/>
          <a:ln xmlns:a="http://schemas.openxmlformats.org/drawingml/2006/main" w="9525">
            <a:solidFill>
              <a:srgbClr val="CBD0D8"/>
            </a:solidFill>
            <a:prstDash val="solid"/>
          </a:ln>
        </p:spPr>
      </p:sp>
      <p:sp>
        <p:nvSpPr>
          <p:cNvPr id="4" name="">
            <a:extLst xmlns:a="http://schemas.openxmlformats.org/drawingml/2006/main">
              <a:ext uri="{FF2B5EF4-FFF2-40B4-BE49-F238E27FC236}">
                <a16:creationId xmlns:a16="http://schemas.microsoft.com/office/drawing/2014/main" id="{7C34535D-5EB3-4EDB-BED4-3B5161525C4E}"/>
              </a:ext>
            </a:extLst>
          </p:cNvPr>
          <p:cNvSpPr>
            <a:spLocks xmlns:a="http://schemas.openxmlformats.org/drawingml/2006/main" noGrp="1"/>
          </p:cNvSpPr>
          <p:nvPr/>
        </p:nvSpPr>
        <p:spPr>
          <a:xfrm xmlns:a="http://schemas.openxmlformats.org/drawingml/2006/main">
            <a:off x="11144250" y="400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5B6472"/>
                </a:solidFill>
              </a:defRPr>
            </a:pPr>
            <a:r>
              <a:rPr sz="1050" b="1">
                <a:solidFill>
                  <a:srgbClr val="5B6472"/>
                </a:solidFill>
              </a:rPr>
              <a:t>04</a:t>
            </a:r>
          </a:p>
        </p:txBody>
      </p:sp>
      <p:sp>
        <p:nvSpPr>
          <p:cNvPr id="5" name="">
            <a:extLst xmlns:a="http://schemas.openxmlformats.org/drawingml/2006/main">
              <a:ext uri="{FF2B5EF4-FFF2-40B4-BE49-F238E27FC236}">
                <a16:creationId xmlns:a16="http://schemas.microsoft.com/office/drawing/2014/main" id="{E803B58F-29CD-4592-866A-4DD5EBB9F859}"/>
              </a:ext>
            </a:extLst>
          </p:cNvPr>
          <p:cNvSpPr>
            <a:spLocks xmlns:a="http://schemas.openxmlformats.org/drawingml/2006/main" noGrp="1"/>
          </p:cNvSpPr>
          <p:nvPr/>
        </p:nvSpPr>
        <p:spPr>
          <a:xfrm xmlns:a="http://schemas.openxmlformats.org/drawingml/2006/main">
            <a:off x="685800" y="1885950"/>
            <a:ext cx="2476500" cy="2000250"/>
          </a:xfrm>
          <a:prstGeom xmlns:a="http://schemas.openxmlformats.org/drawingml/2006/main" prst="rect">
            <a:avLst/>
          </a:prstGeom>
          <a:solidFill xmlns:a="http://schemas.openxmlformats.org/drawingml/2006/main">
            <a:srgbClr val="F2F4F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564C2CE-06FC-431A-8970-2E4DB01EE6CF}"/>
              </a:ext>
            </a:extLst>
          </p:cNvPr>
          <p:cNvSpPr>
            <a:spLocks xmlns:a="http://schemas.openxmlformats.org/drawingml/2006/main" noGrp="1"/>
          </p:cNvSpPr>
          <p:nvPr/>
        </p:nvSpPr>
        <p:spPr>
          <a:xfrm xmlns:a="http://schemas.openxmlformats.org/drawingml/2006/main">
            <a:off x="876300" y="20574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2F80ED"/>
                </a:solidFill>
              </a:defRPr>
            </a:pPr>
            <a:r>
              <a:rPr sz="1275" b="1">
                <a:solidFill>
                  <a:srgbClr val="2F80ED"/>
                </a:solidFill>
              </a:rPr>
              <a:t>01</a:t>
            </a:r>
          </a:p>
        </p:txBody>
      </p:sp>
      <p:sp>
        <p:nvSpPr>
          <p:cNvPr id="7" name="">
            <a:extLst xmlns:a="http://schemas.openxmlformats.org/drawingml/2006/main">
              <a:ext uri="{FF2B5EF4-FFF2-40B4-BE49-F238E27FC236}">
                <a16:creationId xmlns:a16="http://schemas.microsoft.com/office/drawing/2014/main" id="{BEB449D2-4436-41FD-A570-1399F613F6A4}"/>
              </a:ext>
            </a:extLst>
          </p:cNvPr>
          <p:cNvSpPr>
            <a:spLocks xmlns:a="http://schemas.openxmlformats.org/drawingml/2006/main" noGrp="1"/>
          </p:cNvSpPr>
          <p:nvPr/>
        </p:nvSpPr>
        <p:spPr>
          <a:xfrm xmlns:a="http://schemas.openxmlformats.org/drawingml/2006/main">
            <a:off x="876300" y="24765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11827"/>
                </a:solidFill>
              </a:defRPr>
            </a:pPr>
            <a:r>
              <a:rPr sz="1575" b="1">
                <a:solidFill>
                  <a:srgbClr val="111827"/>
                </a:solidFill>
              </a:rPr>
              <a:t>분모가 다름</a:t>
            </a:r>
          </a:p>
        </p:txBody>
      </p:sp>
      <p:sp>
        <p:nvSpPr>
          <p:cNvPr id="8" name="">
            <a:extLst xmlns:a="http://schemas.openxmlformats.org/drawingml/2006/main">
              <a:ext uri="{FF2B5EF4-FFF2-40B4-BE49-F238E27FC236}">
                <a16:creationId xmlns:a16="http://schemas.microsoft.com/office/drawing/2014/main" id="{9D1E400F-CE64-4764-A5A0-D87FBF1D5883}"/>
              </a:ext>
            </a:extLst>
          </p:cNvPr>
          <p:cNvSpPr>
            <a:spLocks xmlns:a="http://schemas.openxmlformats.org/drawingml/2006/main" noGrp="1"/>
          </p:cNvSpPr>
          <p:nvPr/>
        </p:nvSpPr>
        <p:spPr>
          <a:xfrm xmlns:a="http://schemas.openxmlformats.org/drawingml/2006/main">
            <a:off x="876300" y="2952750"/>
            <a:ext cx="2095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B6472"/>
                </a:solidFill>
              </a:defRPr>
            </a:pPr>
            <a:r>
              <a:rPr sz="1350" b="0">
                <a:solidFill>
                  <a:srgbClr val="5B6472"/>
                </a:solidFill>
              </a:rPr>
              <a:t>전체 등록 169명 중</a:t>
            </a:r>
          </a:p>
          <a:p xmlns:a="http://schemas.openxmlformats.org/drawingml/2006/main">
            <a:pPr algn="l">
              <a:defRPr sz="1350" b="0">
                <a:solidFill>
                  <a:srgbClr val="5B6472"/>
                </a:solidFill>
              </a:defRPr>
            </a:pPr>
            <a:r>
              <a:rPr sz="1350" b="0">
                <a:solidFill>
                  <a:srgbClr val="5B6472"/>
                </a:solidFill>
              </a:rPr>
              <a:t>검색 품질 분석은 68명</a:t>
            </a:r>
          </a:p>
        </p:txBody>
      </p:sp>
      <p:sp>
        <p:nvSpPr>
          <p:cNvPr id="9" name="">
            <a:extLst xmlns:a="http://schemas.openxmlformats.org/drawingml/2006/main">
              <a:ext uri="{FF2B5EF4-FFF2-40B4-BE49-F238E27FC236}">
                <a16:creationId xmlns:a16="http://schemas.microsoft.com/office/drawing/2014/main" id="{D48F0406-F662-4834-8E1F-0C718B3A9365}"/>
              </a:ext>
            </a:extLst>
          </p:cNvPr>
          <p:cNvSpPr>
            <a:spLocks xmlns:a="http://schemas.openxmlformats.org/drawingml/2006/main" noGrp="1"/>
          </p:cNvSpPr>
          <p:nvPr/>
        </p:nvSpPr>
        <p:spPr>
          <a:xfrm xmlns:a="http://schemas.openxmlformats.org/drawingml/2006/main">
            <a:off x="3390900" y="1885950"/>
            <a:ext cx="2476500" cy="2000250"/>
          </a:xfrm>
          <a:prstGeom xmlns:a="http://schemas.openxmlformats.org/drawingml/2006/main" prst="rect">
            <a:avLst/>
          </a:prstGeom>
          <a:solidFill xmlns:a="http://schemas.openxmlformats.org/drawingml/2006/main">
            <a:srgbClr val="FFF0F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4BA5190-BC54-46D7-9E9F-D60CAA2CF339}"/>
              </a:ext>
            </a:extLst>
          </p:cNvPr>
          <p:cNvSpPr>
            <a:spLocks xmlns:a="http://schemas.openxmlformats.org/drawingml/2006/main" noGrp="1"/>
          </p:cNvSpPr>
          <p:nvPr/>
        </p:nvSpPr>
        <p:spPr>
          <a:xfrm xmlns:a="http://schemas.openxmlformats.org/drawingml/2006/main">
            <a:off x="3581400" y="20574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2F80ED"/>
                </a:solidFill>
              </a:defRPr>
            </a:pPr>
            <a:r>
              <a:rPr sz="1275" b="1">
                <a:solidFill>
                  <a:srgbClr val="2F80ED"/>
                </a:solidFill>
              </a:rPr>
              <a:t>02</a:t>
            </a:r>
          </a:p>
        </p:txBody>
      </p:sp>
      <p:sp>
        <p:nvSpPr>
          <p:cNvPr id="11" name="">
            <a:extLst xmlns:a="http://schemas.openxmlformats.org/drawingml/2006/main">
              <a:ext uri="{FF2B5EF4-FFF2-40B4-BE49-F238E27FC236}">
                <a16:creationId xmlns:a16="http://schemas.microsoft.com/office/drawing/2014/main" id="{EFDF424E-6225-4958-9C91-7ACABEFD96CC}"/>
              </a:ext>
            </a:extLst>
          </p:cNvPr>
          <p:cNvSpPr>
            <a:spLocks xmlns:a="http://schemas.openxmlformats.org/drawingml/2006/main" noGrp="1"/>
          </p:cNvSpPr>
          <p:nvPr/>
        </p:nvSpPr>
        <p:spPr>
          <a:xfrm xmlns:a="http://schemas.openxmlformats.org/drawingml/2006/main">
            <a:off x="3581400" y="24765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11827"/>
                </a:solidFill>
              </a:defRPr>
            </a:pPr>
            <a:r>
              <a:rPr sz="1575" b="1">
                <a:solidFill>
                  <a:srgbClr val="111827"/>
                </a:solidFill>
              </a:rPr>
              <a:t>행동 집중</a:t>
            </a:r>
          </a:p>
        </p:txBody>
      </p:sp>
      <p:sp>
        <p:nvSpPr>
          <p:cNvPr id="12" name="">
            <a:extLst xmlns:a="http://schemas.openxmlformats.org/drawingml/2006/main">
              <a:ext uri="{FF2B5EF4-FFF2-40B4-BE49-F238E27FC236}">
                <a16:creationId xmlns:a16="http://schemas.microsoft.com/office/drawing/2014/main" id="{A6560432-FA76-466C-93A8-513120997197}"/>
              </a:ext>
            </a:extLst>
          </p:cNvPr>
          <p:cNvSpPr>
            <a:spLocks xmlns:a="http://schemas.openxmlformats.org/drawingml/2006/main" noGrp="1"/>
          </p:cNvSpPr>
          <p:nvPr/>
        </p:nvSpPr>
        <p:spPr>
          <a:xfrm xmlns:a="http://schemas.openxmlformats.org/drawingml/2006/main">
            <a:off x="3581400" y="2952750"/>
            <a:ext cx="2095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B6472"/>
                </a:solidFill>
              </a:defRPr>
            </a:pPr>
            <a:r>
              <a:rPr sz="1350" b="0">
                <a:solidFill>
                  <a:srgbClr val="5B6472"/>
                </a:solidFill>
              </a:rPr>
              <a:t>상위 5명이 전체 검색의</a:t>
            </a:r>
          </a:p>
          <a:p xmlns:a="http://schemas.openxmlformats.org/drawingml/2006/main">
            <a:pPr algn="l">
              <a:defRPr sz="1350" b="0">
                <a:solidFill>
                  <a:srgbClr val="5B6472"/>
                </a:solidFill>
              </a:defRPr>
            </a:pPr>
            <a:r>
              <a:rPr sz="1350" b="0">
                <a:solidFill>
                  <a:srgbClr val="5B6472"/>
                </a:solidFill>
              </a:rPr>
              <a:t>48.5%를 발생</a:t>
            </a:r>
          </a:p>
        </p:txBody>
      </p:sp>
      <p:sp>
        <p:nvSpPr>
          <p:cNvPr id="13" name="">
            <a:extLst xmlns:a="http://schemas.openxmlformats.org/drawingml/2006/main">
              <a:ext uri="{FF2B5EF4-FFF2-40B4-BE49-F238E27FC236}">
                <a16:creationId xmlns:a16="http://schemas.microsoft.com/office/drawing/2014/main" id="{DEDBC896-1A3D-4B37-88C7-EE1E85DC5462}"/>
              </a:ext>
            </a:extLst>
          </p:cNvPr>
          <p:cNvSpPr>
            <a:spLocks xmlns:a="http://schemas.openxmlformats.org/drawingml/2006/main" noGrp="1"/>
          </p:cNvSpPr>
          <p:nvPr/>
        </p:nvSpPr>
        <p:spPr>
          <a:xfrm xmlns:a="http://schemas.openxmlformats.org/drawingml/2006/main">
            <a:off x="6096000" y="1885950"/>
            <a:ext cx="2476500" cy="2000250"/>
          </a:xfrm>
          <a:prstGeom xmlns:a="http://schemas.openxmlformats.org/drawingml/2006/main" prst="rect">
            <a:avLst/>
          </a:prstGeom>
          <a:solidFill xmlns:a="http://schemas.openxmlformats.org/drawingml/2006/main">
            <a:srgbClr val="F2F4F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31B0BA2-67F8-4699-B26F-3C9315619FD8}"/>
              </a:ext>
            </a:extLst>
          </p:cNvPr>
          <p:cNvSpPr>
            <a:spLocks xmlns:a="http://schemas.openxmlformats.org/drawingml/2006/main" noGrp="1"/>
          </p:cNvSpPr>
          <p:nvPr/>
        </p:nvSpPr>
        <p:spPr>
          <a:xfrm xmlns:a="http://schemas.openxmlformats.org/drawingml/2006/main">
            <a:off x="6286500" y="20574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2F80ED"/>
                </a:solidFill>
              </a:defRPr>
            </a:pPr>
            <a:r>
              <a:rPr sz="1275" b="1">
                <a:solidFill>
                  <a:srgbClr val="2F80ED"/>
                </a:solidFill>
              </a:rPr>
              <a:t>03</a:t>
            </a:r>
          </a:p>
        </p:txBody>
      </p:sp>
      <p:sp>
        <p:nvSpPr>
          <p:cNvPr id="15" name="">
            <a:extLst xmlns:a="http://schemas.openxmlformats.org/drawingml/2006/main">
              <a:ext uri="{FF2B5EF4-FFF2-40B4-BE49-F238E27FC236}">
                <a16:creationId xmlns:a16="http://schemas.microsoft.com/office/drawing/2014/main" id="{43121882-F01C-4850-9096-1BB1D2C690D7}"/>
              </a:ext>
            </a:extLst>
          </p:cNvPr>
          <p:cNvSpPr>
            <a:spLocks xmlns:a="http://schemas.openxmlformats.org/drawingml/2006/main" noGrp="1"/>
          </p:cNvSpPr>
          <p:nvPr/>
        </p:nvSpPr>
        <p:spPr>
          <a:xfrm xmlns:a="http://schemas.openxmlformats.org/drawingml/2006/main">
            <a:off x="6286500" y="24765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11827"/>
                </a:solidFill>
              </a:defRPr>
            </a:pPr>
            <a:r>
              <a:rPr sz="1575" b="1">
                <a:solidFill>
                  <a:srgbClr val="111827"/>
                </a:solidFill>
              </a:rPr>
              <a:t>세부 표본이 작음</a:t>
            </a:r>
          </a:p>
        </p:txBody>
      </p:sp>
      <p:sp>
        <p:nvSpPr>
          <p:cNvPr id="16" name="">
            <a:extLst xmlns:a="http://schemas.openxmlformats.org/drawingml/2006/main">
              <a:ext uri="{FF2B5EF4-FFF2-40B4-BE49-F238E27FC236}">
                <a16:creationId xmlns:a16="http://schemas.microsoft.com/office/drawing/2014/main" id="{69645211-1FCD-49FB-B097-8FE7F7DD6725}"/>
              </a:ext>
            </a:extLst>
          </p:cNvPr>
          <p:cNvSpPr>
            <a:spLocks xmlns:a="http://schemas.openxmlformats.org/drawingml/2006/main" noGrp="1"/>
          </p:cNvSpPr>
          <p:nvPr/>
        </p:nvSpPr>
        <p:spPr>
          <a:xfrm xmlns:a="http://schemas.openxmlformats.org/drawingml/2006/main">
            <a:off x="6286500" y="2952750"/>
            <a:ext cx="2095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B6472"/>
                </a:solidFill>
              </a:defRPr>
            </a:pPr>
            <a:r>
              <a:rPr sz="1350" b="0">
                <a:solidFill>
                  <a:srgbClr val="5B6472"/>
                </a:solidFill>
              </a:rPr>
              <a:t>첫 실패–다음 검색 비교가</a:t>
            </a:r>
          </a:p>
          <a:p xmlns:a="http://schemas.openxmlformats.org/drawingml/2006/main">
            <a:pPr algn="l">
              <a:defRPr sz="1350" b="0">
                <a:solidFill>
                  <a:srgbClr val="5B6472"/>
                </a:solidFill>
              </a:defRPr>
            </a:pPr>
            <a:r>
              <a:rPr sz="1350" b="0">
                <a:solidFill>
                  <a:srgbClr val="5B6472"/>
                </a:solidFill>
              </a:rPr>
              <a:t>가능한 사용자는 27명</a:t>
            </a:r>
          </a:p>
        </p:txBody>
      </p:sp>
      <p:sp>
        <p:nvSpPr>
          <p:cNvPr id="17" name="">
            <a:extLst xmlns:a="http://schemas.openxmlformats.org/drawingml/2006/main">
              <a:ext uri="{FF2B5EF4-FFF2-40B4-BE49-F238E27FC236}">
                <a16:creationId xmlns:a16="http://schemas.microsoft.com/office/drawing/2014/main" id="{D4B33C7F-180D-49A9-8F4D-D554007EBD9C}"/>
              </a:ext>
            </a:extLst>
          </p:cNvPr>
          <p:cNvSpPr>
            <a:spLocks xmlns:a="http://schemas.openxmlformats.org/drawingml/2006/main" noGrp="1"/>
          </p:cNvSpPr>
          <p:nvPr/>
        </p:nvSpPr>
        <p:spPr>
          <a:xfrm xmlns:a="http://schemas.openxmlformats.org/drawingml/2006/main">
            <a:off x="8801100" y="1885950"/>
            <a:ext cx="2476500" cy="2000250"/>
          </a:xfrm>
          <a:prstGeom xmlns:a="http://schemas.openxmlformats.org/drawingml/2006/main" prst="rect">
            <a:avLst/>
          </a:prstGeom>
          <a:solidFill xmlns:a="http://schemas.openxmlformats.org/drawingml/2006/main">
            <a:srgbClr val="F2F4F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4562CFA-9D9D-40FC-B5EF-A3FD7C211518}"/>
              </a:ext>
            </a:extLst>
          </p:cNvPr>
          <p:cNvSpPr>
            <a:spLocks xmlns:a="http://schemas.openxmlformats.org/drawingml/2006/main" noGrp="1"/>
          </p:cNvSpPr>
          <p:nvPr/>
        </p:nvSpPr>
        <p:spPr>
          <a:xfrm xmlns:a="http://schemas.openxmlformats.org/drawingml/2006/main">
            <a:off x="8991600" y="20574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2F80ED"/>
                </a:solidFill>
              </a:defRPr>
            </a:pPr>
            <a:r>
              <a:rPr sz="1275" b="1">
                <a:solidFill>
                  <a:srgbClr val="2F80ED"/>
                </a:solidFill>
              </a:rPr>
              <a:t>04</a:t>
            </a:r>
          </a:p>
        </p:txBody>
      </p:sp>
      <p:sp>
        <p:nvSpPr>
          <p:cNvPr id="19" name="">
            <a:extLst xmlns:a="http://schemas.openxmlformats.org/drawingml/2006/main">
              <a:ext uri="{FF2B5EF4-FFF2-40B4-BE49-F238E27FC236}">
                <a16:creationId xmlns:a16="http://schemas.microsoft.com/office/drawing/2014/main" id="{5D2F65BB-8936-4CCA-879C-3A9B4AB8AE1E}"/>
              </a:ext>
            </a:extLst>
          </p:cNvPr>
          <p:cNvSpPr>
            <a:spLocks xmlns:a="http://schemas.openxmlformats.org/drawingml/2006/main" noGrp="1"/>
          </p:cNvSpPr>
          <p:nvPr/>
        </p:nvSpPr>
        <p:spPr>
          <a:xfrm xmlns:a="http://schemas.openxmlformats.org/drawingml/2006/main">
            <a:off x="8991600" y="24765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11827"/>
                </a:solidFill>
              </a:defRPr>
            </a:pPr>
            <a:r>
              <a:rPr sz="1575" b="1">
                <a:solidFill>
                  <a:srgbClr val="111827"/>
                </a:solidFill>
              </a:rPr>
              <a:t>외적 타당성 제한</a:t>
            </a:r>
          </a:p>
        </p:txBody>
      </p:sp>
      <p:sp>
        <p:nvSpPr>
          <p:cNvPr id="20" name="">
            <a:extLst xmlns:a="http://schemas.openxmlformats.org/drawingml/2006/main">
              <a:ext uri="{FF2B5EF4-FFF2-40B4-BE49-F238E27FC236}">
                <a16:creationId xmlns:a16="http://schemas.microsoft.com/office/drawing/2014/main" id="{8BAB258E-CD9B-44B3-97ED-610D50B69EB6}"/>
              </a:ext>
            </a:extLst>
          </p:cNvPr>
          <p:cNvSpPr>
            <a:spLocks xmlns:a="http://schemas.openxmlformats.org/drawingml/2006/main" noGrp="1"/>
          </p:cNvSpPr>
          <p:nvPr/>
        </p:nvSpPr>
        <p:spPr>
          <a:xfrm xmlns:a="http://schemas.openxmlformats.org/drawingml/2006/main">
            <a:off x="8991600" y="2952750"/>
            <a:ext cx="2095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B6472"/>
                </a:solidFill>
              </a:defRPr>
            </a:pPr>
            <a:r>
              <a:rPr sz="1350" b="0">
                <a:solidFill>
                  <a:srgbClr val="5B6472"/>
                </a:solidFill>
              </a:rPr>
              <a:t>5개 지역 안에서 자유검색</a:t>
            </a:r>
          </a:p>
          <a:p xmlns:a="http://schemas.openxmlformats.org/drawingml/2006/main">
            <a:pPr algn="l">
              <a:defRPr sz="1350" b="0">
                <a:solidFill>
                  <a:srgbClr val="5B6472"/>
                </a:solidFill>
              </a:defRPr>
            </a:pPr>
            <a:r>
              <a:rPr sz="1350" b="0">
                <a:solidFill>
                  <a:srgbClr val="5B6472"/>
                </a:solidFill>
              </a:rPr>
              <a:t>전체 시장으로 일반화 불가</a:t>
            </a:r>
          </a:p>
        </p:txBody>
      </p:sp>
      <p:sp>
        <p:nvSpPr>
          <p:cNvPr id="21" name="">
            <a:extLst xmlns:a="http://schemas.openxmlformats.org/drawingml/2006/main">
              <a:ext uri="{FF2B5EF4-FFF2-40B4-BE49-F238E27FC236}">
                <a16:creationId xmlns:a16="http://schemas.microsoft.com/office/drawing/2014/main" id="{4BDA0797-9124-4DA0-B9B2-949A77997112}"/>
              </a:ext>
            </a:extLst>
          </p:cNvPr>
          <p:cNvSpPr>
            <a:spLocks xmlns:a="http://schemas.openxmlformats.org/drawingml/2006/main" noGrp="1"/>
          </p:cNvSpPr>
          <p:nvPr/>
        </p:nvSpPr>
        <p:spPr>
          <a:xfrm xmlns:a="http://schemas.openxmlformats.org/drawingml/2006/main">
            <a:off x="704850" y="43624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2F80ED"/>
                </a:solidFill>
              </a:defRPr>
            </a:pPr>
            <a:r>
              <a:rPr sz="1650" b="1">
                <a:solidFill>
                  <a:srgbClr val="2F80ED"/>
                </a:solidFill>
              </a:rPr>
              <a:t>증강 원칙</a:t>
            </a:r>
          </a:p>
        </p:txBody>
      </p:sp>
      <p:sp>
        <p:nvSpPr>
          <p:cNvPr id="22" name="">
            <a:extLst xmlns:a="http://schemas.openxmlformats.org/drawingml/2006/main">
              <a:ext uri="{FF2B5EF4-FFF2-40B4-BE49-F238E27FC236}">
                <a16:creationId xmlns:a16="http://schemas.microsoft.com/office/drawing/2014/main" id="{10854B0A-A881-4835-A0E8-F25CAB5306F5}"/>
              </a:ext>
            </a:extLst>
          </p:cNvPr>
          <p:cNvSpPr>
            <a:spLocks xmlns:a="http://schemas.openxmlformats.org/drawingml/2006/main" noGrp="1"/>
          </p:cNvSpPr>
          <p:nvPr/>
        </p:nvSpPr>
        <p:spPr>
          <a:xfrm xmlns:a="http://schemas.openxmlformats.org/drawingml/2006/main">
            <a:off x="704850" y="48577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11827"/>
                </a:solidFill>
              </a:defRPr>
            </a:pPr>
            <a:r>
              <a:rPr sz="1575" b="1">
                <a:solidFill>
                  <a:srgbClr val="111827"/>
                </a:solidFill>
              </a:rPr>
              <a:t>상대비율 유지</a:t>
            </a:r>
          </a:p>
        </p:txBody>
      </p:sp>
      <p:sp>
        <p:nvSpPr>
          <p:cNvPr id="23" name="">
            <a:extLst xmlns:a="http://schemas.openxmlformats.org/drawingml/2006/main">
              <a:ext uri="{FF2B5EF4-FFF2-40B4-BE49-F238E27FC236}">
                <a16:creationId xmlns:a16="http://schemas.microsoft.com/office/drawing/2014/main" id="{3B26B044-3C76-4A7C-B4D7-832F8D882AAA}"/>
              </a:ext>
            </a:extLst>
          </p:cNvPr>
          <p:cNvSpPr>
            <a:spLocks xmlns:a="http://schemas.openxmlformats.org/drawingml/2006/main" noGrp="1"/>
          </p:cNvSpPr>
          <p:nvPr/>
        </p:nvSpPr>
        <p:spPr>
          <a:xfrm xmlns:a="http://schemas.openxmlformats.org/drawingml/2006/main">
            <a:off x="3143250" y="48577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11827"/>
                </a:solidFill>
              </a:defRPr>
            </a:pPr>
            <a:r>
              <a:rPr sz="1575" b="1">
                <a:solidFill>
                  <a:srgbClr val="111827"/>
                </a:solidFill>
              </a:rPr>
              <a:t>개인별 영향 상한</a:t>
            </a:r>
          </a:p>
        </p:txBody>
      </p:sp>
      <p:sp>
        <p:nvSpPr>
          <p:cNvPr id="24" name="">
            <a:extLst xmlns:a="http://schemas.openxmlformats.org/drawingml/2006/main">
              <a:ext uri="{FF2B5EF4-FFF2-40B4-BE49-F238E27FC236}">
                <a16:creationId xmlns:a16="http://schemas.microsoft.com/office/drawing/2014/main" id="{FE5BB496-5685-4EE4-B6ED-DDA806ABBD1B}"/>
              </a:ext>
            </a:extLst>
          </p:cNvPr>
          <p:cNvSpPr>
            <a:spLocks xmlns:a="http://schemas.openxmlformats.org/drawingml/2006/main" noGrp="1"/>
          </p:cNvSpPr>
          <p:nvPr/>
        </p:nvSpPr>
        <p:spPr>
          <a:xfrm xmlns:a="http://schemas.openxmlformats.org/drawingml/2006/main">
            <a:off x="5905500" y="48577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11827"/>
                </a:solidFill>
              </a:defRPr>
            </a:pPr>
            <a:r>
              <a:rPr sz="1575" b="1">
                <a:solidFill>
                  <a:srgbClr val="111827"/>
                </a:solidFill>
              </a:rPr>
              <a:t>의도별 층화 확장</a:t>
            </a:r>
          </a:p>
        </p:txBody>
      </p:sp>
      <p:sp>
        <p:nvSpPr>
          <p:cNvPr id="25" name="">
            <a:extLst xmlns:a="http://schemas.openxmlformats.org/drawingml/2006/main">
              <a:ext uri="{FF2B5EF4-FFF2-40B4-BE49-F238E27FC236}">
                <a16:creationId xmlns:a16="http://schemas.microsoft.com/office/drawing/2014/main" id="{F0927617-1DEB-45F6-B6B7-CCF50DAEC58A}"/>
              </a:ext>
            </a:extLst>
          </p:cNvPr>
          <p:cNvSpPr>
            <a:spLocks xmlns:a="http://schemas.openxmlformats.org/drawingml/2006/main" noGrp="1"/>
          </p:cNvSpPr>
          <p:nvPr/>
        </p:nvSpPr>
        <p:spPr>
          <a:xfrm xmlns:a="http://schemas.openxmlformats.org/drawingml/2006/main">
            <a:off x="8572500" y="48577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11827"/>
                </a:solidFill>
              </a:defRPr>
            </a:pPr>
            <a:r>
              <a:rPr sz="1575" b="1">
                <a:solidFill>
                  <a:srgbClr val="111827"/>
                </a:solidFill>
              </a:rPr>
              <a:t>가중치 전·후 비교</a:t>
            </a:r>
          </a:p>
        </p:txBody>
      </p:sp>
      <p:sp>
        <p:nvSpPr>
          <p:cNvPr id="26" name="">
            <a:extLst xmlns:a="http://schemas.openxmlformats.org/drawingml/2006/main">
              <a:ext uri="{FF2B5EF4-FFF2-40B4-BE49-F238E27FC236}">
                <a16:creationId xmlns:a16="http://schemas.microsoft.com/office/drawing/2014/main" id="{28D307AC-95C8-4823-B25D-778FFF4E4D03}"/>
              </a:ext>
            </a:extLst>
          </p:cNvPr>
          <p:cNvSpPr>
            <a:spLocks xmlns:a="http://schemas.openxmlformats.org/drawingml/2006/main" noGrp="1"/>
          </p:cNvSpPr>
          <p:nvPr/>
        </p:nvSpPr>
        <p:spPr>
          <a:xfrm xmlns:a="http://schemas.openxmlformats.org/drawingml/2006/main">
            <a:off x="704850" y="5638800"/>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D64545"/>
                </a:solidFill>
              </a:defRPr>
            </a:pPr>
            <a:r>
              <a:rPr sz="1350" b="1">
                <a:solidFill>
                  <a:srgbClr val="D64545"/>
                </a:solidFill>
              </a:rPr>
              <a:t>BOOKING·ROOM은 가상 데이터 → 실제 전환 근거와 분리하고 날짜 일치도에서 제외</a:t>
            </a:r>
          </a:p>
        </p:txBody>
      </p:sp>
    </p:spTree>
    <p:extLst>
      <p:ext uri="{BB962C8B-B14F-4D97-AF65-F5344CB8AC3E}">
        <p14:creationId xmlns:p14="http://schemas.microsoft.com/office/powerpoint/2010/main" val="106465895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562ED75-3FC0-47DC-B759-E334477E95C1}"/>
              </a:ext>
            </a:extLst>
          </p:cNvPr>
          <p:cNvSpPr>
            <a:spLocks xmlns:a="http://schemas.openxmlformats.org/drawingml/2006/main" noGrp="1"/>
          </p:cNvSpPr>
          <p:nvPr/>
        </p:nvSpPr>
        <p:spPr>
          <a:xfrm xmlns:a="http://schemas.openxmlformats.org/drawingml/2006/main">
            <a:off x="685800" y="4000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2F80ED"/>
                </a:solidFill>
              </a:defRPr>
            </a:pPr>
            <a:r>
              <a:rPr sz="1050" b="1">
                <a:solidFill>
                  <a:srgbClr val="2F80ED"/>
                </a:solidFill>
              </a:rPr>
              <a:t>HYPOTHESIS</a:t>
            </a:r>
          </a:p>
        </p:txBody>
      </p:sp>
      <p:sp>
        <p:nvSpPr>
          <p:cNvPr id="2" name="">
            <a:extLst xmlns:a="http://schemas.openxmlformats.org/drawingml/2006/main">
              <a:ext uri="{FF2B5EF4-FFF2-40B4-BE49-F238E27FC236}">
                <a16:creationId xmlns:a16="http://schemas.microsoft.com/office/drawing/2014/main" id="{ABF311AF-6B29-435D-B995-E4F2862AD0EE}"/>
              </a:ext>
            </a:extLst>
          </p:cNvPr>
          <p:cNvSpPr>
            <a:spLocks xmlns:a="http://schemas.openxmlformats.org/drawingml/2006/main" noGrp="1"/>
          </p:cNvSpPr>
          <p:nvPr/>
        </p:nvSpPr>
        <p:spPr>
          <a:xfrm xmlns:a="http://schemas.openxmlformats.org/drawingml/2006/main">
            <a:off x="685800" y="762000"/>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11827"/>
                </a:solidFill>
              </a:defRPr>
            </a:pPr>
            <a:r>
              <a:rPr sz="2700" b="1">
                <a:solidFill>
                  <a:srgbClr val="111827"/>
                </a:solidFill>
              </a:rPr>
              <a:t>현재 결과에서 출발해 두 가지 가설만 다시 검증한다</a:t>
            </a:r>
          </a:p>
        </p:txBody>
      </p:sp>
      <p:sp>
        <p:nvSpPr>
          <p:cNvPr id="3" name="">
            <a:extLst xmlns:a="http://schemas.openxmlformats.org/drawingml/2006/main">
              <a:ext uri="{FF2B5EF4-FFF2-40B4-BE49-F238E27FC236}">
                <a16:creationId xmlns:a16="http://schemas.microsoft.com/office/drawing/2014/main" id="{DBDF22E8-2CB0-4DED-BC99-3411CB826FA3}"/>
              </a:ext>
            </a:extLst>
          </p:cNvPr>
          <p:cNvSpPr>
            <a:spLocks xmlns:a="http://schemas.openxmlformats.org/drawingml/2006/main" noGrp="1"/>
          </p:cNvSpPr>
          <p:nvPr/>
        </p:nvSpPr>
        <p:spPr>
          <a:xfrm xmlns:a="http://schemas.openxmlformats.org/drawingml/2006/main">
            <a:off x="685800" y="1504950"/>
            <a:ext cx="10820400" cy="0"/>
          </a:xfrm>
          <a:prstGeom xmlns:a="http://schemas.openxmlformats.org/drawingml/2006/main" prst="line">
            <a:avLst/>
          </a:prstGeom>
          <a:noFill xmlns:a="http://schemas.openxmlformats.org/drawingml/2006/main"/>
          <a:ln xmlns:a="http://schemas.openxmlformats.org/drawingml/2006/main" w="9525">
            <a:solidFill>
              <a:srgbClr val="CBD0D8"/>
            </a:solidFill>
            <a:prstDash val="solid"/>
          </a:ln>
        </p:spPr>
      </p:sp>
      <p:sp>
        <p:nvSpPr>
          <p:cNvPr id="4" name="">
            <a:extLst xmlns:a="http://schemas.openxmlformats.org/drawingml/2006/main">
              <a:ext uri="{FF2B5EF4-FFF2-40B4-BE49-F238E27FC236}">
                <a16:creationId xmlns:a16="http://schemas.microsoft.com/office/drawing/2014/main" id="{350A706B-4F6A-474A-8E42-651FF9743248}"/>
              </a:ext>
            </a:extLst>
          </p:cNvPr>
          <p:cNvSpPr>
            <a:spLocks xmlns:a="http://schemas.openxmlformats.org/drawingml/2006/main" noGrp="1"/>
          </p:cNvSpPr>
          <p:nvPr/>
        </p:nvSpPr>
        <p:spPr>
          <a:xfrm xmlns:a="http://schemas.openxmlformats.org/drawingml/2006/main">
            <a:off x="11144250" y="400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5B6472"/>
                </a:solidFill>
              </a:defRPr>
            </a:pPr>
            <a:r>
              <a:rPr sz="1050" b="1">
                <a:solidFill>
                  <a:srgbClr val="5B6472"/>
                </a:solidFill>
              </a:rPr>
              <a:t>05</a:t>
            </a:r>
          </a:p>
        </p:txBody>
      </p:sp>
      <p:sp>
        <p:nvSpPr>
          <p:cNvPr id="5" name="">
            <a:extLst xmlns:a="http://schemas.openxmlformats.org/drawingml/2006/main">
              <a:ext uri="{FF2B5EF4-FFF2-40B4-BE49-F238E27FC236}">
                <a16:creationId xmlns:a16="http://schemas.microsoft.com/office/drawing/2014/main" id="{A65B45B4-2B2B-4E50-B7D6-5BE18AC3743F}"/>
              </a:ext>
            </a:extLst>
          </p:cNvPr>
          <p:cNvSpPr>
            <a:spLocks xmlns:a="http://schemas.openxmlformats.org/drawingml/2006/main" noGrp="1"/>
          </p:cNvSpPr>
          <p:nvPr/>
        </p:nvSpPr>
        <p:spPr>
          <a:xfrm xmlns:a="http://schemas.openxmlformats.org/drawingml/2006/main">
            <a:off x="704850" y="175260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5B6472"/>
                </a:solidFill>
              </a:defRPr>
            </a:pPr>
            <a:r>
              <a:rPr sz="1350" b="1">
                <a:solidFill>
                  <a:srgbClr val="5B6472"/>
                </a:solidFill>
              </a:rPr>
              <a:t>현재 관찰 결과</a:t>
            </a:r>
          </a:p>
        </p:txBody>
      </p:sp>
      <p:sp>
        <p:nvSpPr>
          <p:cNvPr id="6" name="">
            <a:extLst xmlns:a="http://schemas.openxmlformats.org/drawingml/2006/main">
              <a:ext uri="{FF2B5EF4-FFF2-40B4-BE49-F238E27FC236}">
                <a16:creationId xmlns:a16="http://schemas.microsoft.com/office/drawing/2014/main" id="{1F2FD316-DA09-4828-BFA2-FD44F009CA5A}"/>
              </a:ext>
            </a:extLst>
          </p:cNvPr>
          <p:cNvSpPr>
            <a:spLocks xmlns:a="http://schemas.openxmlformats.org/drawingml/2006/main" noGrp="1"/>
          </p:cNvSpPr>
          <p:nvPr/>
        </p:nvSpPr>
        <p:spPr>
          <a:xfrm xmlns:a="http://schemas.openxmlformats.org/drawingml/2006/main">
            <a:off x="6572250" y="1752600"/>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5B6472"/>
                </a:solidFill>
              </a:defRPr>
            </a:pPr>
            <a:r>
              <a:rPr sz="1350" b="1">
                <a:solidFill>
                  <a:srgbClr val="5B6472"/>
                </a:solidFill>
              </a:rPr>
              <a:t>증강 후 검증할 가설</a:t>
            </a:r>
          </a:p>
        </p:txBody>
      </p:sp>
      <p:sp>
        <p:nvSpPr>
          <p:cNvPr id="7" name="">
            <a:extLst xmlns:a="http://schemas.openxmlformats.org/drawingml/2006/main">
              <a:ext uri="{FF2B5EF4-FFF2-40B4-BE49-F238E27FC236}">
                <a16:creationId xmlns:a16="http://schemas.microsoft.com/office/drawing/2014/main" id="{6BD33782-6D8B-4D14-B725-6A19411B09A2}"/>
              </a:ext>
            </a:extLst>
          </p:cNvPr>
          <p:cNvSpPr>
            <a:spLocks xmlns:a="http://schemas.openxmlformats.org/drawingml/2006/main" noGrp="1"/>
          </p:cNvSpPr>
          <p:nvPr/>
        </p:nvSpPr>
        <p:spPr>
          <a:xfrm xmlns:a="http://schemas.openxmlformats.org/drawingml/2006/main">
            <a:off x="685800" y="2143125"/>
            <a:ext cx="5219700" cy="1428750"/>
          </a:xfrm>
          <a:prstGeom xmlns:a="http://schemas.openxmlformats.org/drawingml/2006/main" prst="rect">
            <a:avLst/>
          </a:prstGeom>
          <a:solidFill xmlns:a="http://schemas.openxmlformats.org/drawingml/2006/main">
            <a:srgbClr val="FFF0F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36EADD5-6327-4004-9455-05AF9A8BDE2E}"/>
              </a:ext>
            </a:extLst>
          </p:cNvPr>
          <p:cNvSpPr>
            <a:spLocks xmlns:a="http://schemas.openxmlformats.org/drawingml/2006/main" noGrp="1"/>
          </p:cNvSpPr>
          <p:nvPr/>
        </p:nvSpPr>
        <p:spPr>
          <a:xfrm xmlns:a="http://schemas.openxmlformats.org/drawingml/2006/main">
            <a:off x="914400" y="2324100"/>
            <a:ext cx="457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D64545"/>
                </a:solidFill>
              </a:defRPr>
            </a:pPr>
            <a:r>
              <a:rPr sz="1650" b="1">
                <a:solidFill>
                  <a:srgbClr val="D64545"/>
                </a:solidFill>
              </a:rPr>
              <a:t>편의시설 3개 이상 0건률 85.9%</a:t>
            </a:r>
          </a:p>
        </p:txBody>
      </p:sp>
      <p:sp>
        <p:nvSpPr>
          <p:cNvPr id="9" name="">
            <a:extLst xmlns:a="http://schemas.openxmlformats.org/drawingml/2006/main">
              <a:ext uri="{FF2B5EF4-FFF2-40B4-BE49-F238E27FC236}">
                <a16:creationId xmlns:a16="http://schemas.microsoft.com/office/drawing/2014/main" id="{967CD076-8A65-49D6-8185-760FAAEA3CCE}"/>
              </a:ext>
            </a:extLst>
          </p:cNvPr>
          <p:cNvSpPr>
            <a:spLocks xmlns:a="http://schemas.openxmlformats.org/drawingml/2006/main" noGrp="1"/>
          </p:cNvSpPr>
          <p:nvPr/>
        </p:nvSpPr>
        <p:spPr>
          <a:xfrm xmlns:a="http://schemas.openxmlformats.org/drawingml/2006/main">
            <a:off x="914400" y="268605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111827"/>
                </a:solidFill>
              </a:defRPr>
            </a:pPr>
            <a:r>
              <a:rPr sz="1425" b="0">
                <a:solidFill>
                  <a:srgbClr val="111827"/>
                </a:solidFill>
              </a:rPr>
              <a:t>평점 필터 70.6% · 가격 필터 66.8%</a:t>
            </a:r>
          </a:p>
        </p:txBody>
      </p:sp>
      <p:sp>
        <p:nvSpPr>
          <p:cNvPr id="10" name="">
            <a:extLst xmlns:a="http://schemas.openxmlformats.org/drawingml/2006/main">
              <a:ext uri="{FF2B5EF4-FFF2-40B4-BE49-F238E27FC236}">
                <a16:creationId xmlns:a16="http://schemas.microsoft.com/office/drawing/2014/main" id="{28512A5E-E9BD-4439-9903-0A9FBA6D2A4D}"/>
              </a:ext>
            </a:extLst>
          </p:cNvPr>
          <p:cNvSpPr>
            <a:spLocks xmlns:a="http://schemas.openxmlformats.org/drawingml/2006/main" noGrp="1"/>
          </p:cNvSpPr>
          <p:nvPr/>
        </p:nvSpPr>
        <p:spPr>
          <a:xfrm xmlns:a="http://schemas.openxmlformats.org/drawingml/2006/main">
            <a:off x="914400" y="3067050"/>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 제한 조건이 설정된 검색에서 0건률이 높게 관찰됨</a:t>
            </a:r>
          </a:p>
        </p:txBody>
      </p:sp>
      <p:sp>
        <p:nvSpPr>
          <p:cNvPr id="11" name="">
            <a:extLst xmlns:a="http://schemas.openxmlformats.org/drawingml/2006/main">
              <a:ext uri="{FF2B5EF4-FFF2-40B4-BE49-F238E27FC236}">
                <a16:creationId xmlns:a16="http://schemas.microsoft.com/office/drawing/2014/main" id="{642EB1A4-B411-4D27-8051-059616829C53}"/>
              </a:ext>
            </a:extLst>
          </p:cNvPr>
          <p:cNvSpPr>
            <a:spLocks xmlns:a="http://schemas.openxmlformats.org/drawingml/2006/main" noGrp="1"/>
          </p:cNvSpPr>
          <p:nvPr/>
        </p:nvSpPr>
        <p:spPr>
          <a:xfrm xmlns:a="http://schemas.openxmlformats.org/drawingml/2006/main">
            <a:off x="6286500" y="2447925"/>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2F80ED"/>
                </a:solidFill>
              </a:defRPr>
            </a:pPr>
            <a:r>
              <a:rPr sz="2025" b="1">
                <a:solidFill>
                  <a:srgbClr val="2F80ED"/>
                </a:solidFill>
              </a:rPr>
              <a:t>H1</a:t>
            </a:r>
          </a:p>
        </p:txBody>
      </p:sp>
      <p:sp>
        <p:nvSpPr>
          <p:cNvPr id="12" name="">
            <a:extLst xmlns:a="http://schemas.openxmlformats.org/drawingml/2006/main">
              <a:ext uri="{FF2B5EF4-FFF2-40B4-BE49-F238E27FC236}">
                <a16:creationId xmlns:a16="http://schemas.microsoft.com/office/drawing/2014/main" id="{079FCC6C-1FA3-40BA-B483-F9BA3638A40E}"/>
              </a:ext>
            </a:extLst>
          </p:cNvPr>
          <p:cNvSpPr>
            <a:spLocks xmlns:a="http://schemas.openxmlformats.org/drawingml/2006/main" noGrp="1"/>
          </p:cNvSpPr>
          <p:nvPr/>
        </p:nvSpPr>
        <p:spPr>
          <a:xfrm xmlns:a="http://schemas.openxmlformats.org/drawingml/2006/main">
            <a:off x="7067550" y="2295525"/>
            <a:ext cx="4286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11827"/>
                </a:solidFill>
              </a:defRPr>
            </a:pPr>
            <a:r>
              <a:rPr sz="1800" b="1">
                <a:solidFill>
                  <a:srgbClr val="111827"/>
                </a:solidFill>
              </a:rPr>
              <a:t>편의시설·평점·가격 조건의 조합에 따라</a:t>
            </a:r>
          </a:p>
          <a:p xmlns:a="http://schemas.openxmlformats.org/drawingml/2006/main">
            <a:pPr algn="l">
              <a:defRPr sz="1800" b="1">
                <a:solidFill>
                  <a:srgbClr val="111827"/>
                </a:solidFill>
              </a:defRPr>
            </a:pPr>
            <a:r>
              <a:rPr sz="1800" b="1">
                <a:solidFill>
                  <a:srgbClr val="111827"/>
                </a:solidFill>
              </a:rPr>
              <a:t>결과 0건률에 차이가 있을 것이다.</a:t>
            </a:r>
          </a:p>
        </p:txBody>
      </p:sp>
      <p:sp>
        <p:nvSpPr>
          <p:cNvPr id="13" name="">
            <a:extLst xmlns:a="http://schemas.openxmlformats.org/drawingml/2006/main">
              <a:ext uri="{FF2B5EF4-FFF2-40B4-BE49-F238E27FC236}">
                <a16:creationId xmlns:a16="http://schemas.microsoft.com/office/drawing/2014/main" id="{C8A26634-0386-4103-8A57-9982C1093EF1}"/>
              </a:ext>
            </a:extLst>
          </p:cNvPr>
          <p:cNvSpPr>
            <a:spLocks xmlns:a="http://schemas.openxmlformats.org/drawingml/2006/main" noGrp="1"/>
          </p:cNvSpPr>
          <p:nvPr/>
        </p:nvSpPr>
        <p:spPr>
          <a:xfrm xmlns:a="http://schemas.openxmlformats.org/drawingml/2006/main">
            <a:off x="685800" y="3857625"/>
            <a:ext cx="5219700" cy="1476375"/>
          </a:xfrm>
          <a:prstGeom xmlns:a="http://schemas.openxmlformats.org/drawingml/2006/main" prst="rect">
            <a:avLst/>
          </a:prstGeom>
          <a:solidFill xmlns:a="http://schemas.openxmlformats.org/drawingml/2006/main">
            <a:srgbClr val="EAF7F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9454D67-30D7-4BE6-98B3-BD7B6B10C7FB}"/>
              </a:ext>
            </a:extLst>
          </p:cNvPr>
          <p:cNvSpPr>
            <a:spLocks xmlns:a="http://schemas.openxmlformats.org/drawingml/2006/main" noGrp="1"/>
          </p:cNvSpPr>
          <p:nvPr/>
        </p:nvSpPr>
        <p:spPr>
          <a:xfrm xmlns:a="http://schemas.openxmlformats.org/drawingml/2006/main">
            <a:off x="914400" y="403860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68A68"/>
                </a:solidFill>
              </a:defRPr>
            </a:pPr>
            <a:r>
              <a:rPr sz="1575" b="1">
                <a:solidFill>
                  <a:srgbClr val="168A68"/>
                </a:solidFill>
              </a:rPr>
              <a:t>지역 변경: 회복 46.4% · 클릭 14.3%</a:t>
            </a:r>
          </a:p>
        </p:txBody>
      </p:sp>
      <p:sp>
        <p:nvSpPr>
          <p:cNvPr id="15" name="">
            <a:extLst xmlns:a="http://schemas.openxmlformats.org/drawingml/2006/main">
              <a:ext uri="{FF2B5EF4-FFF2-40B4-BE49-F238E27FC236}">
                <a16:creationId xmlns:a16="http://schemas.microsoft.com/office/drawing/2014/main" id="{9F4406DB-1DA5-4458-9A13-1CAD260657A8}"/>
              </a:ext>
            </a:extLst>
          </p:cNvPr>
          <p:cNvSpPr>
            <a:spLocks xmlns:a="http://schemas.openxmlformats.org/drawingml/2006/main" noGrp="1"/>
          </p:cNvSpPr>
          <p:nvPr/>
        </p:nvSpPr>
        <p:spPr>
          <a:xfrm xmlns:a="http://schemas.openxmlformats.org/drawingml/2006/main">
            <a:off x="914400" y="440055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111827"/>
                </a:solidFill>
              </a:defRPr>
            </a:pPr>
            <a:r>
              <a:rPr sz="1425" b="0">
                <a:solidFill>
                  <a:srgbClr val="111827"/>
                </a:solidFill>
              </a:rPr>
              <a:t>검색어 수정: 회복 34.7% · 클릭 5.0%</a:t>
            </a:r>
          </a:p>
        </p:txBody>
      </p:sp>
      <p:sp>
        <p:nvSpPr>
          <p:cNvPr id="16" name="">
            <a:extLst xmlns:a="http://schemas.openxmlformats.org/drawingml/2006/main">
              <a:ext uri="{FF2B5EF4-FFF2-40B4-BE49-F238E27FC236}">
                <a16:creationId xmlns:a16="http://schemas.microsoft.com/office/drawing/2014/main" id="{1D312E14-242F-4ADB-8B45-6F3DF00DE7C8}"/>
              </a:ext>
            </a:extLst>
          </p:cNvPr>
          <p:cNvSpPr>
            <a:spLocks xmlns:a="http://schemas.openxmlformats.org/drawingml/2006/main" noGrp="1"/>
          </p:cNvSpPr>
          <p:nvPr/>
        </p:nvSpPr>
        <p:spPr>
          <a:xfrm xmlns:a="http://schemas.openxmlformats.org/drawingml/2006/main">
            <a:off x="914400" y="47625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조건 완화: 회복 22.7% · 클릭 13.3% / 동일 반복: 회복 0%</a:t>
            </a:r>
          </a:p>
        </p:txBody>
      </p:sp>
      <p:sp>
        <p:nvSpPr>
          <p:cNvPr id="17" name="">
            <a:extLst xmlns:a="http://schemas.openxmlformats.org/drawingml/2006/main">
              <a:ext uri="{FF2B5EF4-FFF2-40B4-BE49-F238E27FC236}">
                <a16:creationId xmlns:a16="http://schemas.microsoft.com/office/drawing/2014/main" id="{B2A2B98B-01B8-434A-BBB5-BE1F31C01FE3}"/>
              </a:ext>
            </a:extLst>
          </p:cNvPr>
          <p:cNvSpPr>
            <a:spLocks xmlns:a="http://schemas.openxmlformats.org/drawingml/2006/main" noGrp="1"/>
          </p:cNvSpPr>
          <p:nvPr/>
        </p:nvSpPr>
        <p:spPr>
          <a:xfrm xmlns:a="http://schemas.openxmlformats.org/drawingml/2006/main">
            <a:off x="6286500" y="4238625"/>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2F80ED"/>
                </a:solidFill>
              </a:defRPr>
            </a:pPr>
            <a:r>
              <a:rPr sz="2025" b="1">
                <a:solidFill>
                  <a:srgbClr val="2F80ED"/>
                </a:solidFill>
              </a:rPr>
              <a:t>H2</a:t>
            </a:r>
          </a:p>
        </p:txBody>
      </p:sp>
      <p:sp>
        <p:nvSpPr>
          <p:cNvPr id="18" name="">
            <a:extLst xmlns:a="http://schemas.openxmlformats.org/drawingml/2006/main">
              <a:ext uri="{FF2B5EF4-FFF2-40B4-BE49-F238E27FC236}">
                <a16:creationId xmlns:a16="http://schemas.microsoft.com/office/drawing/2014/main" id="{62D51897-23BC-4ABB-AD15-FA01A24B457D}"/>
              </a:ext>
            </a:extLst>
          </p:cNvPr>
          <p:cNvSpPr>
            <a:spLocks xmlns:a="http://schemas.openxmlformats.org/drawingml/2006/main" noGrp="1"/>
          </p:cNvSpPr>
          <p:nvPr/>
        </p:nvSpPr>
        <p:spPr>
          <a:xfrm xmlns:a="http://schemas.openxmlformats.org/drawingml/2006/main">
            <a:off x="7067550" y="4048125"/>
            <a:ext cx="4333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11827"/>
                </a:solidFill>
              </a:defRPr>
            </a:pPr>
            <a:r>
              <a:rPr sz="1725" b="1">
                <a:solidFill>
                  <a:srgbClr val="111827"/>
                </a:solidFill>
              </a:rPr>
              <a:t>재검색에서 변경한 조건의 유형에 따라</a:t>
            </a:r>
          </a:p>
          <a:p xmlns:a="http://schemas.openxmlformats.org/drawingml/2006/main">
            <a:pPr algn="l">
              <a:defRPr sz="1725" b="1">
                <a:solidFill>
                  <a:srgbClr val="111827"/>
                </a:solidFill>
              </a:defRPr>
            </a:pPr>
            <a:r>
              <a:rPr sz="1725" b="1">
                <a:solidFill>
                  <a:srgbClr val="111827"/>
                </a:solidFill>
              </a:rPr>
              <a:t>즉시 회복률과 호텔 클릭률에 차이가 있을 것이다.</a:t>
            </a:r>
          </a:p>
        </p:txBody>
      </p:sp>
      <p:sp>
        <p:nvSpPr>
          <p:cNvPr id="19" name="">
            <a:extLst xmlns:a="http://schemas.openxmlformats.org/drawingml/2006/main">
              <a:ext uri="{FF2B5EF4-FFF2-40B4-BE49-F238E27FC236}">
                <a16:creationId xmlns:a16="http://schemas.microsoft.com/office/drawing/2014/main" id="{BBBA81D4-1597-46B0-A487-91F64069BE13}"/>
              </a:ext>
            </a:extLst>
          </p:cNvPr>
          <p:cNvSpPr>
            <a:spLocks xmlns:a="http://schemas.openxmlformats.org/drawingml/2006/main" noGrp="1"/>
          </p:cNvSpPr>
          <p:nvPr/>
        </p:nvSpPr>
        <p:spPr>
          <a:xfrm xmlns:a="http://schemas.openxmlformats.org/drawingml/2006/main">
            <a:off x="704850" y="5762625"/>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D64545"/>
                </a:solidFill>
              </a:defRPr>
            </a:pPr>
            <a:r>
              <a:rPr sz="1275" b="1">
                <a:solidFill>
                  <a:srgbClr val="D64545"/>
                </a:solidFill>
              </a:rPr>
              <a:t>제외한 가설: 첫 검색 0건 여부에 따른 세션 검색횟수 7.43회 vs 7.88회, p=.953 → 차이 없음</a:t>
            </a:r>
          </a:p>
        </p:txBody>
      </p:sp>
    </p:spTree>
    <p:extLst>
      <p:ext uri="{BB962C8B-B14F-4D97-AF65-F5344CB8AC3E}">
        <p14:creationId xmlns:p14="http://schemas.microsoft.com/office/powerpoint/2010/main" val="169011952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DB02F338-A852-43A2-82C4-6CF980A3051F}"/>
              </a:ext>
            </a:extLst>
          </p:cNvPr>
          <p:cNvSpPr>
            <a:spLocks xmlns:a="http://schemas.openxmlformats.org/drawingml/2006/main" noGrp="1"/>
          </p:cNvSpPr>
          <p:nvPr/>
        </p:nvSpPr>
        <p:spPr>
          <a:xfrm xmlns:a="http://schemas.openxmlformats.org/drawingml/2006/main">
            <a:off x="685800" y="4000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2F80ED"/>
                </a:solidFill>
              </a:defRPr>
            </a:pPr>
            <a:r>
              <a:rPr sz="1050" b="1">
                <a:solidFill>
                  <a:srgbClr val="2F80ED"/>
                </a:solidFill>
              </a:rPr>
              <a:t>SEGMENT A</a:t>
            </a:r>
          </a:p>
        </p:txBody>
      </p:sp>
      <p:sp>
        <p:nvSpPr>
          <p:cNvPr id="2" name="">
            <a:extLst xmlns:a="http://schemas.openxmlformats.org/drawingml/2006/main">
              <a:ext uri="{FF2B5EF4-FFF2-40B4-BE49-F238E27FC236}">
                <a16:creationId xmlns:a16="http://schemas.microsoft.com/office/drawing/2014/main" id="{53C7CEB2-1CDF-4BD5-8280-FAA622F0B68B}"/>
              </a:ext>
            </a:extLst>
          </p:cNvPr>
          <p:cNvSpPr>
            <a:spLocks xmlns:a="http://schemas.openxmlformats.org/drawingml/2006/main" noGrp="1"/>
          </p:cNvSpPr>
          <p:nvPr/>
        </p:nvSpPr>
        <p:spPr>
          <a:xfrm xmlns:a="http://schemas.openxmlformats.org/drawingml/2006/main">
            <a:off x="685800" y="762000"/>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11827"/>
                </a:solidFill>
              </a:defRPr>
            </a:pPr>
            <a:r>
              <a:rPr sz="2700" b="1">
                <a:solidFill>
                  <a:srgbClr val="111827"/>
                </a:solidFill>
              </a:rPr>
              <a:t>검색 성향은 한 사용자에게 여러 개가 동시에 붙는 다중 라벨이다</a:t>
            </a:r>
          </a:p>
        </p:txBody>
      </p:sp>
      <p:sp>
        <p:nvSpPr>
          <p:cNvPr id="3" name="">
            <a:extLst xmlns:a="http://schemas.openxmlformats.org/drawingml/2006/main">
              <a:ext uri="{FF2B5EF4-FFF2-40B4-BE49-F238E27FC236}">
                <a16:creationId xmlns:a16="http://schemas.microsoft.com/office/drawing/2014/main" id="{307D7CB1-03D8-433F-9E0D-90651672F1A6}"/>
              </a:ext>
            </a:extLst>
          </p:cNvPr>
          <p:cNvSpPr>
            <a:spLocks xmlns:a="http://schemas.openxmlformats.org/drawingml/2006/main" noGrp="1"/>
          </p:cNvSpPr>
          <p:nvPr/>
        </p:nvSpPr>
        <p:spPr>
          <a:xfrm xmlns:a="http://schemas.openxmlformats.org/drawingml/2006/main">
            <a:off x="685800" y="1504950"/>
            <a:ext cx="10820400" cy="0"/>
          </a:xfrm>
          <a:prstGeom xmlns:a="http://schemas.openxmlformats.org/drawingml/2006/main" prst="line">
            <a:avLst/>
          </a:prstGeom>
          <a:noFill xmlns:a="http://schemas.openxmlformats.org/drawingml/2006/main"/>
          <a:ln xmlns:a="http://schemas.openxmlformats.org/drawingml/2006/main" w="9525">
            <a:solidFill>
              <a:srgbClr val="CBD0D8"/>
            </a:solidFill>
            <a:prstDash val="solid"/>
          </a:ln>
        </p:spPr>
      </p:sp>
      <p:sp>
        <p:nvSpPr>
          <p:cNvPr id="4" name="">
            <a:extLst xmlns:a="http://schemas.openxmlformats.org/drawingml/2006/main">
              <a:ext uri="{FF2B5EF4-FFF2-40B4-BE49-F238E27FC236}">
                <a16:creationId xmlns:a16="http://schemas.microsoft.com/office/drawing/2014/main" id="{86F3F2D2-92DF-4102-AB47-834D142F3B99}"/>
              </a:ext>
            </a:extLst>
          </p:cNvPr>
          <p:cNvSpPr>
            <a:spLocks xmlns:a="http://schemas.openxmlformats.org/drawingml/2006/main" noGrp="1"/>
          </p:cNvSpPr>
          <p:nvPr/>
        </p:nvSpPr>
        <p:spPr>
          <a:xfrm xmlns:a="http://schemas.openxmlformats.org/drawingml/2006/main">
            <a:off x="11144250" y="400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5B6472"/>
                </a:solidFill>
              </a:defRPr>
            </a:pPr>
            <a:r>
              <a:rPr sz="1050" b="1">
                <a:solidFill>
                  <a:srgbClr val="5B6472"/>
                </a:solidFill>
              </a:rPr>
              <a:t>06</a:t>
            </a:r>
          </a:p>
        </p:txBody>
      </p:sp>
      <p:sp>
        <p:nvSpPr>
          <p:cNvPr id="5" name="">
            <a:extLst xmlns:a="http://schemas.openxmlformats.org/drawingml/2006/main">
              <a:ext uri="{FF2B5EF4-FFF2-40B4-BE49-F238E27FC236}">
                <a16:creationId xmlns:a16="http://schemas.microsoft.com/office/drawing/2014/main" id="{80F79C7D-5172-4368-A4B7-FF2552AA1150}"/>
              </a:ext>
            </a:extLst>
          </p:cNvPr>
          <p:cNvSpPr>
            <a:spLocks xmlns:a="http://schemas.openxmlformats.org/drawingml/2006/main" noGrp="1"/>
          </p:cNvSpPr>
          <p:nvPr/>
        </p:nvSpPr>
        <p:spPr>
          <a:xfrm xmlns:a="http://schemas.openxmlformats.org/drawingml/2006/main">
            <a:off x="723900" y="17907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2F80ED"/>
                </a:solidFill>
              </a:defRPr>
            </a:pPr>
            <a:r>
              <a:rPr sz="1425" b="1">
                <a:solidFill>
                  <a:srgbClr val="2F80ED"/>
                </a:solidFill>
              </a:rPr>
              <a:t>검색 조건에서 파악</a:t>
            </a:r>
          </a:p>
        </p:txBody>
      </p:sp>
      <p:sp>
        <p:nvSpPr>
          <p:cNvPr id="6" name="">
            <a:extLst xmlns:a="http://schemas.openxmlformats.org/drawingml/2006/main">
              <a:ext uri="{FF2B5EF4-FFF2-40B4-BE49-F238E27FC236}">
                <a16:creationId xmlns:a16="http://schemas.microsoft.com/office/drawing/2014/main" id="{02B6AE2E-D9F9-4BF7-8BD9-A29F36994D1B}"/>
              </a:ext>
            </a:extLst>
          </p:cNvPr>
          <p:cNvSpPr>
            <a:spLocks xmlns:a="http://schemas.openxmlformats.org/drawingml/2006/main" noGrp="1"/>
          </p:cNvSpPr>
          <p:nvPr/>
        </p:nvSpPr>
        <p:spPr>
          <a:xfrm xmlns:a="http://schemas.openxmlformats.org/drawingml/2006/main">
            <a:off x="6286500" y="17907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2F80ED"/>
                </a:solidFill>
              </a:defRPr>
            </a:pPr>
            <a:r>
              <a:rPr sz="1425" b="1">
                <a:solidFill>
                  <a:srgbClr val="2F80ED"/>
                </a:solidFill>
              </a:rPr>
              <a:t>세션 행동에서 파악</a:t>
            </a:r>
          </a:p>
        </p:txBody>
      </p:sp>
      <p:sp>
        <p:nvSpPr>
          <p:cNvPr id="7" name="">
            <a:extLst xmlns:a="http://schemas.openxmlformats.org/drawingml/2006/main">
              <a:ext uri="{FF2B5EF4-FFF2-40B4-BE49-F238E27FC236}">
                <a16:creationId xmlns:a16="http://schemas.microsoft.com/office/drawing/2014/main" id="{24702AD6-9988-49F0-9AA8-9D3640DB6541}"/>
              </a:ext>
            </a:extLst>
          </p:cNvPr>
          <p:cNvSpPr>
            <a:spLocks xmlns:a="http://schemas.openxmlformats.org/drawingml/2006/main" noGrp="1"/>
          </p:cNvSpPr>
          <p:nvPr/>
        </p:nvSpPr>
        <p:spPr>
          <a:xfrm xmlns:a="http://schemas.openxmlformats.org/drawingml/2006/main">
            <a:off x="742950" y="22669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11827"/>
                </a:solidFill>
              </a:defRPr>
            </a:pPr>
            <a:r>
              <a:rPr sz="1500" b="1">
                <a:solidFill>
                  <a:srgbClr val="111827"/>
                </a:solidFill>
              </a:rPr>
              <a:t>지역 고정형</a:t>
            </a:r>
          </a:p>
        </p:txBody>
      </p:sp>
      <p:sp>
        <p:nvSpPr>
          <p:cNvPr id="8" name="">
            <a:extLst xmlns:a="http://schemas.openxmlformats.org/drawingml/2006/main">
              <a:ext uri="{FF2B5EF4-FFF2-40B4-BE49-F238E27FC236}">
                <a16:creationId xmlns:a16="http://schemas.microsoft.com/office/drawing/2014/main" id="{CE3E6445-DF3F-43D8-8C01-A38584949487}"/>
              </a:ext>
            </a:extLst>
          </p:cNvPr>
          <p:cNvSpPr>
            <a:spLocks xmlns:a="http://schemas.openxmlformats.org/drawingml/2006/main" noGrp="1"/>
          </p:cNvSpPr>
          <p:nvPr/>
        </p:nvSpPr>
        <p:spPr>
          <a:xfrm xmlns:a="http://schemas.openxmlformats.org/drawingml/2006/main">
            <a:off x="2609850" y="22669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도시·지역을 유지하며 세부지역을 변경</a:t>
            </a:r>
          </a:p>
        </p:txBody>
      </p:sp>
      <p:sp>
        <p:nvSpPr>
          <p:cNvPr id="9" name="">
            <a:extLst xmlns:a="http://schemas.openxmlformats.org/drawingml/2006/main">
              <a:ext uri="{FF2B5EF4-FFF2-40B4-BE49-F238E27FC236}">
                <a16:creationId xmlns:a16="http://schemas.microsoft.com/office/drawing/2014/main" id="{FC2AA528-AC22-470E-8F17-B4AF4FE094B1}"/>
              </a:ext>
            </a:extLst>
          </p:cNvPr>
          <p:cNvSpPr>
            <a:spLocks xmlns:a="http://schemas.openxmlformats.org/drawingml/2006/main" noGrp="1"/>
          </p:cNvSpPr>
          <p:nvPr/>
        </p:nvSpPr>
        <p:spPr>
          <a:xfrm xmlns:a="http://schemas.openxmlformats.org/drawingml/2006/main">
            <a:off x="742950" y="30480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11827"/>
                </a:solidFill>
              </a:defRPr>
            </a:pPr>
            <a:r>
              <a:rPr sz="1500" b="1">
                <a:solidFill>
                  <a:srgbClr val="111827"/>
                </a:solidFill>
              </a:rPr>
              <a:t>가격 민감형</a:t>
            </a:r>
          </a:p>
        </p:txBody>
      </p:sp>
      <p:sp>
        <p:nvSpPr>
          <p:cNvPr id="10" name="">
            <a:extLst xmlns:a="http://schemas.openxmlformats.org/drawingml/2006/main">
              <a:ext uri="{FF2B5EF4-FFF2-40B4-BE49-F238E27FC236}">
                <a16:creationId xmlns:a16="http://schemas.microsoft.com/office/drawing/2014/main" id="{A3BCBE48-C373-47EF-8822-547D14AEA24A}"/>
              </a:ext>
            </a:extLst>
          </p:cNvPr>
          <p:cNvSpPr>
            <a:spLocks xmlns:a="http://schemas.openxmlformats.org/drawingml/2006/main" noGrp="1"/>
          </p:cNvSpPr>
          <p:nvPr/>
        </p:nvSpPr>
        <p:spPr>
          <a:xfrm xmlns:a="http://schemas.openxmlformats.org/drawingml/2006/main">
            <a:off x="2609850" y="30480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최대가격을 설정하거나 상한을 조정</a:t>
            </a:r>
          </a:p>
        </p:txBody>
      </p:sp>
      <p:sp>
        <p:nvSpPr>
          <p:cNvPr id="11" name="">
            <a:extLst xmlns:a="http://schemas.openxmlformats.org/drawingml/2006/main">
              <a:ext uri="{FF2B5EF4-FFF2-40B4-BE49-F238E27FC236}">
                <a16:creationId xmlns:a16="http://schemas.microsoft.com/office/drawing/2014/main" id="{95DF2DA7-581F-4EE0-A2A4-B022A8F89A19}"/>
              </a:ext>
            </a:extLst>
          </p:cNvPr>
          <p:cNvSpPr>
            <a:spLocks xmlns:a="http://schemas.openxmlformats.org/drawingml/2006/main" noGrp="1"/>
          </p:cNvSpPr>
          <p:nvPr/>
        </p:nvSpPr>
        <p:spPr>
          <a:xfrm xmlns:a="http://schemas.openxmlformats.org/drawingml/2006/main">
            <a:off x="742950" y="38290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11827"/>
                </a:solidFill>
              </a:defRPr>
            </a:pPr>
            <a:r>
              <a:rPr sz="1500" b="1">
                <a:solidFill>
                  <a:srgbClr val="111827"/>
                </a:solidFill>
              </a:rPr>
              <a:t>품질 우선형</a:t>
            </a:r>
          </a:p>
        </p:txBody>
      </p:sp>
      <p:sp>
        <p:nvSpPr>
          <p:cNvPr id="12" name="">
            <a:extLst xmlns:a="http://schemas.openxmlformats.org/drawingml/2006/main">
              <a:ext uri="{FF2B5EF4-FFF2-40B4-BE49-F238E27FC236}">
                <a16:creationId xmlns:a16="http://schemas.microsoft.com/office/drawing/2014/main" id="{2A9B953F-5D11-4F36-9A24-6987AC022C10}"/>
              </a:ext>
            </a:extLst>
          </p:cNvPr>
          <p:cNvSpPr>
            <a:spLocks xmlns:a="http://schemas.openxmlformats.org/drawingml/2006/main" noGrp="1"/>
          </p:cNvSpPr>
          <p:nvPr/>
        </p:nvSpPr>
        <p:spPr>
          <a:xfrm xmlns:a="http://schemas.openxmlformats.org/drawingml/2006/main">
            <a:off x="2609850" y="38290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평점·등급·편의시설 조건을 중시</a:t>
            </a:r>
          </a:p>
        </p:txBody>
      </p:sp>
      <p:sp>
        <p:nvSpPr>
          <p:cNvPr id="13" name="">
            <a:extLst xmlns:a="http://schemas.openxmlformats.org/drawingml/2006/main">
              <a:ext uri="{FF2B5EF4-FFF2-40B4-BE49-F238E27FC236}">
                <a16:creationId xmlns:a16="http://schemas.microsoft.com/office/drawing/2014/main" id="{2D37AB18-37F1-4C01-A576-ECD4A3E4A641}"/>
              </a:ext>
            </a:extLst>
          </p:cNvPr>
          <p:cNvSpPr>
            <a:spLocks xmlns:a="http://schemas.openxmlformats.org/drawingml/2006/main" noGrp="1"/>
          </p:cNvSpPr>
          <p:nvPr/>
        </p:nvSpPr>
        <p:spPr>
          <a:xfrm xmlns:a="http://schemas.openxmlformats.org/drawingml/2006/main">
            <a:off x="742950" y="46101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11827"/>
                </a:solidFill>
              </a:defRPr>
            </a:pPr>
            <a:r>
              <a:rPr sz="1500" b="1">
                <a:solidFill>
                  <a:srgbClr val="111827"/>
                </a:solidFill>
              </a:rPr>
              <a:t>테마·지명형</a:t>
            </a:r>
          </a:p>
        </p:txBody>
      </p:sp>
      <p:sp>
        <p:nvSpPr>
          <p:cNvPr id="14" name="">
            <a:extLst xmlns:a="http://schemas.openxmlformats.org/drawingml/2006/main">
              <a:ext uri="{FF2B5EF4-FFF2-40B4-BE49-F238E27FC236}">
                <a16:creationId xmlns:a16="http://schemas.microsoft.com/office/drawing/2014/main" id="{9EDCF573-8571-4D4C-8287-7780BADD9A55}"/>
              </a:ext>
            </a:extLst>
          </p:cNvPr>
          <p:cNvSpPr>
            <a:spLocks xmlns:a="http://schemas.openxmlformats.org/drawingml/2006/main" noGrp="1"/>
          </p:cNvSpPr>
          <p:nvPr/>
        </p:nvSpPr>
        <p:spPr>
          <a:xfrm xmlns:a="http://schemas.openxmlformats.org/drawingml/2006/main">
            <a:off x="2609850" y="46101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온천·료칸·특정 호텔명을 직접 검색</a:t>
            </a:r>
          </a:p>
        </p:txBody>
      </p:sp>
      <p:sp>
        <p:nvSpPr>
          <p:cNvPr id="15" name="">
            <a:extLst xmlns:a="http://schemas.openxmlformats.org/drawingml/2006/main">
              <a:ext uri="{FF2B5EF4-FFF2-40B4-BE49-F238E27FC236}">
                <a16:creationId xmlns:a16="http://schemas.microsoft.com/office/drawing/2014/main" id="{67CFEB61-7CA1-4361-AEE6-EE827723A871}"/>
              </a:ext>
            </a:extLst>
          </p:cNvPr>
          <p:cNvSpPr>
            <a:spLocks xmlns:a="http://schemas.openxmlformats.org/drawingml/2006/main" noGrp="1"/>
          </p:cNvSpPr>
          <p:nvPr/>
        </p:nvSpPr>
        <p:spPr>
          <a:xfrm xmlns:a="http://schemas.openxmlformats.org/drawingml/2006/main">
            <a:off x="6305550" y="22669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11827"/>
                </a:solidFill>
              </a:defRPr>
            </a:pPr>
            <a:r>
              <a:rPr sz="1500" b="1">
                <a:solidFill>
                  <a:srgbClr val="111827"/>
                </a:solidFill>
              </a:rPr>
              <a:t>비교 탐색형</a:t>
            </a:r>
          </a:p>
        </p:txBody>
      </p:sp>
      <p:sp>
        <p:nvSpPr>
          <p:cNvPr id="16" name="">
            <a:extLst xmlns:a="http://schemas.openxmlformats.org/drawingml/2006/main">
              <a:ext uri="{FF2B5EF4-FFF2-40B4-BE49-F238E27FC236}">
                <a16:creationId xmlns:a16="http://schemas.microsoft.com/office/drawing/2014/main" id="{F187AF81-41B2-4935-BC1A-D547E05B3EBD}"/>
              </a:ext>
            </a:extLst>
          </p:cNvPr>
          <p:cNvSpPr>
            <a:spLocks xmlns:a="http://schemas.openxmlformats.org/drawingml/2006/main" noGrp="1"/>
          </p:cNvSpPr>
          <p:nvPr/>
        </p:nvSpPr>
        <p:spPr>
          <a:xfrm xmlns:a="http://schemas.openxmlformats.org/drawingml/2006/main">
            <a:off x="8172450" y="22669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결과가 있어도 검색·클릭을 반복</a:t>
            </a:r>
          </a:p>
        </p:txBody>
      </p:sp>
      <p:sp>
        <p:nvSpPr>
          <p:cNvPr id="17" name="">
            <a:extLst xmlns:a="http://schemas.openxmlformats.org/drawingml/2006/main">
              <a:ext uri="{FF2B5EF4-FFF2-40B4-BE49-F238E27FC236}">
                <a16:creationId xmlns:a16="http://schemas.microsoft.com/office/drawing/2014/main" id="{E662EB51-A5B6-475E-B184-DF93144017B5}"/>
              </a:ext>
            </a:extLst>
          </p:cNvPr>
          <p:cNvSpPr>
            <a:spLocks xmlns:a="http://schemas.openxmlformats.org/drawingml/2006/main" noGrp="1"/>
          </p:cNvSpPr>
          <p:nvPr/>
        </p:nvSpPr>
        <p:spPr>
          <a:xfrm xmlns:a="http://schemas.openxmlformats.org/drawingml/2006/main">
            <a:off x="6305550" y="30480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11827"/>
                </a:solidFill>
              </a:defRPr>
            </a:pPr>
            <a:r>
              <a:rPr sz="1500" b="1">
                <a:solidFill>
                  <a:srgbClr val="111827"/>
                </a:solidFill>
              </a:rPr>
              <a:t>빠른 결정형</a:t>
            </a:r>
          </a:p>
        </p:txBody>
      </p:sp>
      <p:sp>
        <p:nvSpPr>
          <p:cNvPr id="18" name="">
            <a:extLst xmlns:a="http://schemas.openxmlformats.org/drawingml/2006/main">
              <a:ext uri="{FF2B5EF4-FFF2-40B4-BE49-F238E27FC236}">
                <a16:creationId xmlns:a16="http://schemas.microsoft.com/office/drawing/2014/main" id="{A3710826-099E-4AAF-BCC8-FCCDEB343199}"/>
              </a:ext>
            </a:extLst>
          </p:cNvPr>
          <p:cNvSpPr>
            <a:spLocks xmlns:a="http://schemas.openxmlformats.org/drawingml/2006/main" noGrp="1"/>
          </p:cNvSpPr>
          <p:nvPr/>
        </p:nvSpPr>
        <p:spPr>
          <a:xfrm xmlns:a="http://schemas.openxmlformats.org/drawingml/2006/main">
            <a:off x="8172450" y="30480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적은 검색 안에 호텔을 선택</a:t>
            </a:r>
          </a:p>
        </p:txBody>
      </p:sp>
      <p:sp>
        <p:nvSpPr>
          <p:cNvPr id="19" name="">
            <a:extLst xmlns:a="http://schemas.openxmlformats.org/drawingml/2006/main">
              <a:ext uri="{FF2B5EF4-FFF2-40B4-BE49-F238E27FC236}">
                <a16:creationId xmlns:a16="http://schemas.microsoft.com/office/drawing/2014/main" id="{0AC1F12A-84C0-4E1C-85E3-B02701DC7657}"/>
              </a:ext>
            </a:extLst>
          </p:cNvPr>
          <p:cNvSpPr>
            <a:spLocks xmlns:a="http://schemas.openxmlformats.org/drawingml/2006/main" noGrp="1"/>
          </p:cNvSpPr>
          <p:nvPr/>
        </p:nvSpPr>
        <p:spPr>
          <a:xfrm xmlns:a="http://schemas.openxmlformats.org/drawingml/2006/main">
            <a:off x="6305550" y="38290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11827"/>
                </a:solidFill>
              </a:defRPr>
            </a:pPr>
            <a:r>
              <a:rPr sz="1500" b="1">
                <a:solidFill>
                  <a:srgbClr val="111827"/>
                </a:solidFill>
              </a:rPr>
              <a:t>입력 탐색형</a:t>
            </a:r>
          </a:p>
        </p:txBody>
      </p:sp>
      <p:sp>
        <p:nvSpPr>
          <p:cNvPr id="20" name="">
            <a:extLst xmlns:a="http://schemas.openxmlformats.org/drawingml/2006/main">
              <a:ext uri="{FF2B5EF4-FFF2-40B4-BE49-F238E27FC236}">
                <a16:creationId xmlns:a16="http://schemas.microsoft.com/office/drawing/2014/main" id="{F14FF352-3552-49E7-BA31-009AF3B8448D}"/>
              </a:ext>
            </a:extLst>
          </p:cNvPr>
          <p:cNvSpPr>
            <a:spLocks xmlns:a="http://schemas.openxmlformats.org/drawingml/2006/main" noGrp="1"/>
          </p:cNvSpPr>
          <p:nvPr/>
        </p:nvSpPr>
        <p:spPr>
          <a:xfrm xmlns:a="http://schemas.openxmlformats.org/drawingml/2006/main">
            <a:off x="8172450" y="38290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짧은 검색어·오타·자동완성 입력 반복</a:t>
            </a:r>
          </a:p>
        </p:txBody>
      </p:sp>
      <p:sp>
        <p:nvSpPr>
          <p:cNvPr id="21" name="">
            <a:extLst xmlns:a="http://schemas.openxmlformats.org/drawingml/2006/main">
              <a:ext uri="{FF2B5EF4-FFF2-40B4-BE49-F238E27FC236}">
                <a16:creationId xmlns:a16="http://schemas.microsoft.com/office/drawing/2014/main" id="{BF9ADE1D-5F39-4879-A266-7903F75668F1}"/>
              </a:ext>
            </a:extLst>
          </p:cNvPr>
          <p:cNvSpPr>
            <a:spLocks xmlns:a="http://schemas.openxmlformats.org/drawingml/2006/main" noGrp="1"/>
          </p:cNvSpPr>
          <p:nvPr/>
        </p:nvSpPr>
        <p:spPr>
          <a:xfrm xmlns:a="http://schemas.openxmlformats.org/drawingml/2006/main">
            <a:off x="6305550" y="46101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11827"/>
                </a:solidFill>
              </a:defRPr>
            </a:pPr>
            <a:r>
              <a:rPr sz="1500" b="1">
                <a:solidFill>
                  <a:srgbClr val="111827"/>
                </a:solidFill>
              </a:rPr>
              <a:t>지역 전환형</a:t>
            </a:r>
          </a:p>
        </p:txBody>
      </p:sp>
      <p:sp>
        <p:nvSpPr>
          <p:cNvPr id="22" name="">
            <a:extLst xmlns:a="http://schemas.openxmlformats.org/drawingml/2006/main">
              <a:ext uri="{FF2B5EF4-FFF2-40B4-BE49-F238E27FC236}">
                <a16:creationId xmlns:a16="http://schemas.microsoft.com/office/drawing/2014/main" id="{16F1A04B-B8C1-49CA-9DA5-51D4A5589D8B}"/>
              </a:ext>
            </a:extLst>
          </p:cNvPr>
          <p:cNvSpPr>
            <a:spLocks xmlns:a="http://schemas.openxmlformats.org/drawingml/2006/main" noGrp="1"/>
          </p:cNvSpPr>
          <p:nvPr/>
        </p:nvSpPr>
        <p:spPr>
          <a:xfrm xmlns:a="http://schemas.openxmlformats.org/drawingml/2006/main">
            <a:off x="8172450" y="46101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0건 후 다른 지역으로 목적지를 변경</a:t>
            </a:r>
          </a:p>
        </p:txBody>
      </p:sp>
      <p:sp>
        <p:nvSpPr>
          <p:cNvPr id="23" name="">
            <a:extLst xmlns:a="http://schemas.openxmlformats.org/drawingml/2006/main">
              <a:ext uri="{FF2B5EF4-FFF2-40B4-BE49-F238E27FC236}">
                <a16:creationId xmlns:a16="http://schemas.microsoft.com/office/drawing/2014/main" id="{37529995-C249-478B-B553-531153EF7BE0}"/>
              </a:ext>
            </a:extLst>
          </p:cNvPr>
          <p:cNvSpPr>
            <a:spLocks xmlns:a="http://schemas.openxmlformats.org/drawingml/2006/main" noGrp="1"/>
          </p:cNvSpPr>
          <p:nvPr/>
        </p:nvSpPr>
        <p:spPr>
          <a:xfrm xmlns:a="http://schemas.openxmlformats.org/drawingml/2006/main">
            <a:off x="685800" y="5524500"/>
            <a:ext cx="10820400" cy="619125"/>
          </a:xfrm>
          <a:prstGeom xmlns:a="http://schemas.openxmlformats.org/drawingml/2006/main" prst="rect">
            <a:avLst/>
          </a:prstGeom>
          <a:solidFill xmlns:a="http://schemas.openxmlformats.org/drawingml/2006/main">
            <a:srgbClr val="F2F4F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A569C32-1465-4898-ACCC-3B1FEDCF43B8}"/>
              </a:ext>
            </a:extLst>
          </p:cNvPr>
          <p:cNvSpPr>
            <a:spLocks xmlns:a="http://schemas.openxmlformats.org/drawingml/2006/main" noGrp="1"/>
          </p:cNvSpPr>
          <p:nvPr/>
        </p:nvSpPr>
        <p:spPr>
          <a:xfrm xmlns:a="http://schemas.openxmlformats.org/drawingml/2006/main">
            <a:off x="914400" y="56769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D64545"/>
                </a:solidFill>
              </a:defRPr>
            </a:pPr>
            <a:r>
              <a:rPr sz="1350" b="1">
                <a:solidFill>
                  <a:srgbClr val="D64545"/>
                </a:solidFill>
              </a:rPr>
              <a:t>주의</a:t>
            </a:r>
          </a:p>
        </p:txBody>
      </p:sp>
      <p:sp>
        <p:nvSpPr>
          <p:cNvPr id="25" name="">
            <a:extLst xmlns:a="http://schemas.openxmlformats.org/drawingml/2006/main">
              <a:ext uri="{FF2B5EF4-FFF2-40B4-BE49-F238E27FC236}">
                <a16:creationId xmlns:a16="http://schemas.microsoft.com/office/drawing/2014/main" id="{A63D0136-3F90-44A1-B804-8C0DD1FD4D78}"/>
              </a:ext>
            </a:extLst>
          </p:cNvPr>
          <p:cNvSpPr>
            <a:spLocks xmlns:a="http://schemas.openxmlformats.org/drawingml/2006/main" noGrp="1"/>
          </p:cNvSpPr>
          <p:nvPr/>
        </p:nvSpPr>
        <p:spPr>
          <a:xfrm xmlns:a="http://schemas.openxmlformats.org/drawingml/2006/main">
            <a:off x="1714500" y="5610225"/>
            <a:ext cx="923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11827"/>
                </a:solidFill>
              </a:defRPr>
            </a:pPr>
            <a:r>
              <a:rPr sz="1425" b="1">
                <a:solidFill>
                  <a:srgbClr val="111827"/>
                </a:solidFill>
              </a:rPr>
              <a:t>다중 라벨이므로 인원 비율을 합쳐 100%로 해석하지 않으며, 행동 생성 확률을 정하는 데 사용한다.</a:t>
            </a:r>
          </a:p>
        </p:txBody>
      </p:sp>
    </p:spTree>
    <p:extLst>
      <p:ext uri="{BB962C8B-B14F-4D97-AF65-F5344CB8AC3E}">
        <p14:creationId xmlns:p14="http://schemas.microsoft.com/office/powerpoint/2010/main" val="207672019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D5D954DE-0079-45B0-AEFA-EDD917177902}"/>
              </a:ext>
            </a:extLst>
          </p:cNvPr>
          <p:cNvSpPr>
            <a:spLocks xmlns:a="http://schemas.openxmlformats.org/drawingml/2006/main" noGrp="1"/>
          </p:cNvSpPr>
          <p:nvPr/>
        </p:nvSpPr>
        <p:spPr>
          <a:xfrm xmlns:a="http://schemas.openxmlformats.org/drawingml/2006/main">
            <a:off x="685800" y="4000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2F80ED"/>
                </a:solidFill>
              </a:defRPr>
            </a:pPr>
            <a:r>
              <a:rPr sz="1050" b="1">
                <a:solidFill>
                  <a:srgbClr val="2F80ED"/>
                </a:solidFill>
              </a:rPr>
              <a:t>SEGMENT B</a:t>
            </a:r>
          </a:p>
        </p:txBody>
      </p:sp>
      <p:sp>
        <p:nvSpPr>
          <p:cNvPr id="2" name="">
            <a:extLst xmlns:a="http://schemas.openxmlformats.org/drawingml/2006/main">
              <a:ext uri="{FF2B5EF4-FFF2-40B4-BE49-F238E27FC236}">
                <a16:creationId xmlns:a16="http://schemas.microsoft.com/office/drawing/2014/main" id="{FAEFED72-47F6-421C-A5B0-5D3643C8C267}"/>
              </a:ext>
            </a:extLst>
          </p:cNvPr>
          <p:cNvSpPr>
            <a:spLocks xmlns:a="http://schemas.openxmlformats.org/drawingml/2006/main" noGrp="1"/>
          </p:cNvSpPr>
          <p:nvPr/>
        </p:nvSpPr>
        <p:spPr>
          <a:xfrm xmlns:a="http://schemas.openxmlformats.org/drawingml/2006/main">
            <a:off x="685800" y="762000"/>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11827"/>
                </a:solidFill>
              </a:defRPr>
            </a:pPr>
            <a:r>
              <a:rPr sz="2700" b="1">
                <a:solidFill>
                  <a:srgbClr val="111827"/>
                </a:solidFill>
              </a:rPr>
              <a:t>검색 결과 행동은 전체 검색 사용자 68명을 중복 없이 나눈다</a:t>
            </a:r>
          </a:p>
        </p:txBody>
      </p:sp>
      <p:sp>
        <p:nvSpPr>
          <p:cNvPr id="3" name="">
            <a:extLst xmlns:a="http://schemas.openxmlformats.org/drawingml/2006/main">
              <a:ext uri="{FF2B5EF4-FFF2-40B4-BE49-F238E27FC236}">
                <a16:creationId xmlns:a16="http://schemas.microsoft.com/office/drawing/2014/main" id="{2CFC926D-A8F4-4A1D-AF54-1175FBF93C8D}"/>
              </a:ext>
            </a:extLst>
          </p:cNvPr>
          <p:cNvSpPr>
            <a:spLocks xmlns:a="http://schemas.openxmlformats.org/drawingml/2006/main" noGrp="1"/>
          </p:cNvSpPr>
          <p:nvPr/>
        </p:nvSpPr>
        <p:spPr>
          <a:xfrm xmlns:a="http://schemas.openxmlformats.org/drawingml/2006/main">
            <a:off x="685800" y="1504950"/>
            <a:ext cx="10820400" cy="0"/>
          </a:xfrm>
          <a:prstGeom xmlns:a="http://schemas.openxmlformats.org/drawingml/2006/main" prst="line">
            <a:avLst/>
          </a:prstGeom>
          <a:noFill xmlns:a="http://schemas.openxmlformats.org/drawingml/2006/main"/>
          <a:ln xmlns:a="http://schemas.openxmlformats.org/drawingml/2006/main" w="9525">
            <a:solidFill>
              <a:srgbClr val="CBD0D8"/>
            </a:solidFill>
            <a:prstDash val="solid"/>
          </a:ln>
        </p:spPr>
      </p:sp>
      <p:sp>
        <p:nvSpPr>
          <p:cNvPr id="4" name="">
            <a:extLst xmlns:a="http://schemas.openxmlformats.org/drawingml/2006/main">
              <a:ext uri="{FF2B5EF4-FFF2-40B4-BE49-F238E27FC236}">
                <a16:creationId xmlns:a16="http://schemas.microsoft.com/office/drawing/2014/main" id="{D9D106E9-92C7-4364-8DE4-2A6DDB5BB2BF}"/>
              </a:ext>
            </a:extLst>
          </p:cNvPr>
          <p:cNvSpPr>
            <a:spLocks xmlns:a="http://schemas.openxmlformats.org/drawingml/2006/main" noGrp="1"/>
          </p:cNvSpPr>
          <p:nvPr/>
        </p:nvSpPr>
        <p:spPr>
          <a:xfrm xmlns:a="http://schemas.openxmlformats.org/drawingml/2006/main">
            <a:off x="11144250" y="400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5B6472"/>
                </a:solidFill>
              </a:defRPr>
            </a:pPr>
            <a:r>
              <a:rPr sz="1050" b="1">
                <a:solidFill>
                  <a:srgbClr val="5B6472"/>
                </a:solidFill>
              </a:rPr>
              <a:t>07</a:t>
            </a:r>
          </a:p>
        </p:txBody>
      </p:sp>
      <p:sp>
        <p:nvSpPr>
          <p:cNvPr id="5" name="">
            <a:extLst xmlns:a="http://schemas.openxmlformats.org/drawingml/2006/main">
              <a:ext uri="{FF2B5EF4-FFF2-40B4-BE49-F238E27FC236}">
                <a16:creationId xmlns:a16="http://schemas.microsoft.com/office/drawing/2014/main" id="{8DF0B9A3-DD05-4BE9-A979-091C355001FB}"/>
              </a:ext>
            </a:extLst>
          </p:cNvPr>
          <p:cNvSpPr>
            <a:spLocks xmlns:a="http://schemas.openxmlformats.org/drawingml/2006/main" noGrp="1"/>
          </p:cNvSpPr>
          <p:nvPr/>
        </p:nvSpPr>
        <p:spPr>
          <a:xfrm xmlns:a="http://schemas.openxmlformats.org/drawingml/2006/main">
            <a:off x="704850" y="2047875"/>
            <a:ext cx="1827276" cy="704850"/>
          </a:xfrm>
          <a:prstGeom xmlns:a="http://schemas.openxmlformats.org/drawingml/2006/main" prst="rect">
            <a:avLst/>
          </a:prstGeom>
          <a:solidFill xmlns:a="http://schemas.openxmlformats.org/drawingml/2006/main">
            <a:srgbClr val="168A6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5A0C2D9-5C16-438F-BA58-A481C3B931C1}"/>
              </a:ext>
            </a:extLst>
          </p:cNvPr>
          <p:cNvSpPr>
            <a:spLocks xmlns:a="http://schemas.openxmlformats.org/drawingml/2006/main" noGrp="1"/>
          </p:cNvSpPr>
          <p:nvPr/>
        </p:nvSpPr>
        <p:spPr>
          <a:xfrm xmlns:a="http://schemas.openxmlformats.org/drawingml/2006/main">
            <a:off x="752475" y="2152650"/>
            <a:ext cx="1732026"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17.6%</a:t>
            </a:r>
          </a:p>
        </p:txBody>
      </p:sp>
      <p:sp>
        <p:nvSpPr>
          <p:cNvPr id="7" name="">
            <a:extLst xmlns:a="http://schemas.openxmlformats.org/drawingml/2006/main">
              <a:ext uri="{FF2B5EF4-FFF2-40B4-BE49-F238E27FC236}">
                <a16:creationId xmlns:a16="http://schemas.microsoft.com/office/drawing/2014/main" id="{1DCA1C15-B132-4CCF-B2EE-CBFF739EFE8C}"/>
              </a:ext>
            </a:extLst>
          </p:cNvPr>
          <p:cNvSpPr>
            <a:spLocks xmlns:a="http://schemas.openxmlformats.org/drawingml/2006/main" noGrp="1"/>
          </p:cNvSpPr>
          <p:nvPr/>
        </p:nvSpPr>
        <p:spPr>
          <a:xfrm xmlns:a="http://schemas.openxmlformats.org/drawingml/2006/main">
            <a:off x="2532126" y="2047875"/>
            <a:ext cx="2751296" cy="704850"/>
          </a:xfrm>
          <a:prstGeom xmlns:a="http://schemas.openxmlformats.org/drawingml/2006/main" prst="rect">
            <a:avLst/>
          </a:prstGeom>
          <a:solidFill xmlns:a="http://schemas.openxmlformats.org/drawingml/2006/main">
            <a:srgbClr val="5B647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68B1373-313E-4054-8504-AED824F156D3}"/>
              </a:ext>
            </a:extLst>
          </p:cNvPr>
          <p:cNvSpPr>
            <a:spLocks xmlns:a="http://schemas.openxmlformats.org/drawingml/2006/main" noGrp="1"/>
          </p:cNvSpPr>
          <p:nvPr/>
        </p:nvSpPr>
        <p:spPr>
          <a:xfrm xmlns:a="http://schemas.openxmlformats.org/drawingml/2006/main">
            <a:off x="2579751" y="2152650"/>
            <a:ext cx="2656046"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26.5%</a:t>
            </a:r>
          </a:p>
        </p:txBody>
      </p:sp>
      <p:sp>
        <p:nvSpPr>
          <p:cNvPr id="9" name="">
            <a:extLst xmlns:a="http://schemas.openxmlformats.org/drawingml/2006/main">
              <a:ext uri="{FF2B5EF4-FFF2-40B4-BE49-F238E27FC236}">
                <a16:creationId xmlns:a16="http://schemas.microsoft.com/office/drawing/2014/main" id="{81B90436-CA81-4818-9F24-3FB1F565BC22}"/>
              </a:ext>
            </a:extLst>
          </p:cNvPr>
          <p:cNvSpPr>
            <a:spLocks xmlns:a="http://schemas.openxmlformats.org/drawingml/2006/main" noGrp="1"/>
          </p:cNvSpPr>
          <p:nvPr/>
        </p:nvSpPr>
        <p:spPr>
          <a:xfrm xmlns:a="http://schemas.openxmlformats.org/drawingml/2006/main">
            <a:off x="5283422" y="2047875"/>
            <a:ext cx="3966020" cy="704850"/>
          </a:xfrm>
          <a:prstGeom xmlns:a="http://schemas.openxmlformats.org/drawingml/2006/main" prst="rect">
            <a:avLst/>
          </a:prstGeom>
          <a:solidFill xmlns:a="http://schemas.openxmlformats.org/drawingml/2006/main">
            <a:srgbClr val="2F80E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5D7877D-C25B-4862-9F95-5A0CE07E2D48}"/>
              </a:ext>
            </a:extLst>
          </p:cNvPr>
          <p:cNvSpPr>
            <a:spLocks xmlns:a="http://schemas.openxmlformats.org/drawingml/2006/main" noGrp="1"/>
          </p:cNvSpPr>
          <p:nvPr/>
        </p:nvSpPr>
        <p:spPr>
          <a:xfrm xmlns:a="http://schemas.openxmlformats.org/drawingml/2006/main">
            <a:off x="5331047" y="2152650"/>
            <a:ext cx="387077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38.2%</a:t>
            </a:r>
          </a:p>
        </p:txBody>
      </p:sp>
      <p:sp>
        <p:nvSpPr>
          <p:cNvPr id="11" name="">
            <a:extLst xmlns:a="http://schemas.openxmlformats.org/drawingml/2006/main">
              <a:ext uri="{FF2B5EF4-FFF2-40B4-BE49-F238E27FC236}">
                <a16:creationId xmlns:a16="http://schemas.microsoft.com/office/drawing/2014/main" id="{9EADDC8A-8B00-4CBA-9948-4D3BB2669661}"/>
              </a:ext>
            </a:extLst>
          </p:cNvPr>
          <p:cNvSpPr>
            <a:spLocks xmlns:a="http://schemas.openxmlformats.org/drawingml/2006/main" noGrp="1"/>
          </p:cNvSpPr>
          <p:nvPr/>
        </p:nvSpPr>
        <p:spPr>
          <a:xfrm xmlns:a="http://schemas.openxmlformats.org/drawingml/2006/main">
            <a:off x="9249442" y="2047875"/>
            <a:ext cx="913638" cy="704850"/>
          </a:xfrm>
          <a:prstGeom xmlns:a="http://schemas.openxmlformats.org/drawingml/2006/main" prst="rect">
            <a:avLst/>
          </a:prstGeom>
          <a:solidFill xmlns:a="http://schemas.openxmlformats.org/drawingml/2006/main">
            <a:srgbClr val="D6454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4B974B9-9F05-4CE5-AC0A-ED6755B34EC3}"/>
              </a:ext>
            </a:extLst>
          </p:cNvPr>
          <p:cNvSpPr>
            <a:spLocks xmlns:a="http://schemas.openxmlformats.org/drawingml/2006/main" noGrp="1"/>
          </p:cNvSpPr>
          <p:nvPr/>
        </p:nvSpPr>
        <p:spPr>
          <a:xfrm xmlns:a="http://schemas.openxmlformats.org/drawingml/2006/main">
            <a:off x="9297067" y="2152650"/>
            <a:ext cx="818388"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8.8%</a:t>
            </a:r>
          </a:p>
        </p:txBody>
      </p:sp>
      <p:sp>
        <p:nvSpPr>
          <p:cNvPr id="13" name="">
            <a:extLst xmlns:a="http://schemas.openxmlformats.org/drawingml/2006/main">
              <a:ext uri="{FF2B5EF4-FFF2-40B4-BE49-F238E27FC236}">
                <a16:creationId xmlns:a16="http://schemas.microsoft.com/office/drawing/2014/main" id="{96732011-FC81-4FFC-87ED-D228A6F07EDA}"/>
              </a:ext>
            </a:extLst>
          </p:cNvPr>
          <p:cNvSpPr>
            <a:spLocks xmlns:a="http://schemas.openxmlformats.org/drawingml/2006/main" noGrp="1"/>
          </p:cNvSpPr>
          <p:nvPr/>
        </p:nvSpPr>
        <p:spPr>
          <a:xfrm xmlns:a="http://schemas.openxmlformats.org/drawingml/2006/main">
            <a:off x="10163080" y="2047875"/>
            <a:ext cx="913638" cy="704850"/>
          </a:xfrm>
          <a:prstGeom xmlns:a="http://schemas.openxmlformats.org/drawingml/2006/main" prst="rect">
            <a:avLst/>
          </a:prstGeom>
          <a:solidFill xmlns:a="http://schemas.openxmlformats.org/drawingml/2006/main">
            <a:srgbClr val="E49A2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A842EF9-2D11-4339-BF0F-1D01F25DC0B5}"/>
              </a:ext>
            </a:extLst>
          </p:cNvPr>
          <p:cNvSpPr>
            <a:spLocks xmlns:a="http://schemas.openxmlformats.org/drawingml/2006/main" noGrp="1"/>
          </p:cNvSpPr>
          <p:nvPr/>
        </p:nvSpPr>
        <p:spPr>
          <a:xfrm xmlns:a="http://schemas.openxmlformats.org/drawingml/2006/main">
            <a:off x="10210705" y="2152650"/>
            <a:ext cx="818388"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8.8%</a:t>
            </a:r>
          </a:p>
        </p:txBody>
      </p:sp>
      <p:sp>
        <p:nvSpPr>
          <p:cNvPr id="15" name="">
            <a:extLst xmlns:a="http://schemas.openxmlformats.org/drawingml/2006/main">
              <a:ext uri="{FF2B5EF4-FFF2-40B4-BE49-F238E27FC236}">
                <a16:creationId xmlns:a16="http://schemas.microsoft.com/office/drawing/2014/main" id="{D9E3A524-EF72-4A45-9261-3A033C9128CA}"/>
              </a:ext>
            </a:extLst>
          </p:cNvPr>
          <p:cNvSpPr>
            <a:spLocks xmlns:a="http://schemas.openxmlformats.org/drawingml/2006/main" noGrp="1"/>
          </p:cNvSpPr>
          <p:nvPr/>
        </p:nvSpPr>
        <p:spPr>
          <a:xfrm xmlns:a="http://schemas.openxmlformats.org/drawingml/2006/main">
            <a:off x="781050" y="3181350"/>
            <a:ext cx="171450" cy="171450"/>
          </a:xfrm>
          <a:prstGeom xmlns:a="http://schemas.openxmlformats.org/drawingml/2006/main" prst="rect">
            <a:avLst/>
          </a:prstGeom>
          <a:solidFill xmlns:a="http://schemas.openxmlformats.org/drawingml/2006/main">
            <a:srgbClr val="168A6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4578C33-D338-48DB-B989-B5FFE92AC2E3}"/>
              </a:ext>
            </a:extLst>
          </p:cNvPr>
          <p:cNvSpPr>
            <a:spLocks xmlns:a="http://schemas.openxmlformats.org/drawingml/2006/main" noGrp="1"/>
          </p:cNvSpPr>
          <p:nvPr/>
        </p:nvSpPr>
        <p:spPr>
          <a:xfrm xmlns:a="http://schemas.openxmlformats.org/drawingml/2006/main">
            <a:off x="1066800" y="31051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11827"/>
                </a:solidFill>
              </a:defRPr>
            </a:pPr>
            <a:r>
              <a:rPr sz="1350" b="1">
                <a:solidFill>
                  <a:srgbClr val="111827"/>
                </a:solidFill>
              </a:rPr>
              <a:t>직접 성공</a:t>
            </a:r>
          </a:p>
        </p:txBody>
      </p:sp>
      <p:sp>
        <p:nvSpPr>
          <p:cNvPr id="17" name="">
            <a:extLst xmlns:a="http://schemas.openxmlformats.org/drawingml/2006/main">
              <a:ext uri="{FF2B5EF4-FFF2-40B4-BE49-F238E27FC236}">
                <a16:creationId xmlns:a16="http://schemas.microsoft.com/office/drawing/2014/main" id="{EED84CE6-FBF0-4BAB-A0E8-AE91FE5939DA}"/>
              </a:ext>
            </a:extLst>
          </p:cNvPr>
          <p:cNvSpPr>
            <a:spLocks xmlns:a="http://schemas.openxmlformats.org/drawingml/2006/main" noGrp="1"/>
          </p:cNvSpPr>
          <p:nvPr/>
        </p:nvSpPr>
        <p:spPr>
          <a:xfrm xmlns:a="http://schemas.openxmlformats.org/drawingml/2006/main">
            <a:off x="2762250" y="31051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a:solidFill>
                  <a:srgbClr val="5B6472"/>
                </a:solidFill>
              </a:defRPr>
            </a:pPr>
            <a:r>
              <a:rPr sz="1350" b="0">
                <a:solidFill>
                  <a:srgbClr val="5B6472"/>
                </a:solidFill>
              </a:rPr>
              <a:t>17.6%</a:t>
            </a:r>
          </a:p>
        </p:txBody>
      </p:sp>
      <p:sp>
        <p:nvSpPr>
          <p:cNvPr id="18" name="">
            <a:extLst xmlns:a="http://schemas.openxmlformats.org/drawingml/2006/main">
              <a:ext uri="{FF2B5EF4-FFF2-40B4-BE49-F238E27FC236}">
                <a16:creationId xmlns:a16="http://schemas.microsoft.com/office/drawing/2014/main" id="{D3BDE74D-EADC-49F3-A4C2-C74E70428760}"/>
              </a:ext>
            </a:extLst>
          </p:cNvPr>
          <p:cNvSpPr>
            <a:spLocks xmlns:a="http://schemas.openxmlformats.org/drawingml/2006/main" noGrp="1"/>
          </p:cNvSpPr>
          <p:nvPr/>
        </p:nvSpPr>
        <p:spPr>
          <a:xfrm xmlns:a="http://schemas.openxmlformats.org/drawingml/2006/main">
            <a:off x="781050" y="3638550"/>
            <a:ext cx="171450" cy="171450"/>
          </a:xfrm>
          <a:prstGeom xmlns:a="http://schemas.openxmlformats.org/drawingml/2006/main" prst="rect">
            <a:avLst/>
          </a:prstGeom>
          <a:solidFill xmlns:a="http://schemas.openxmlformats.org/drawingml/2006/main">
            <a:srgbClr val="5B647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7B8F849-170B-4AF9-832A-EF54DFD0393F}"/>
              </a:ext>
            </a:extLst>
          </p:cNvPr>
          <p:cNvSpPr>
            <a:spLocks xmlns:a="http://schemas.openxmlformats.org/drawingml/2006/main" noGrp="1"/>
          </p:cNvSpPr>
          <p:nvPr/>
        </p:nvSpPr>
        <p:spPr>
          <a:xfrm xmlns:a="http://schemas.openxmlformats.org/drawingml/2006/main">
            <a:off x="1066800" y="35623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11827"/>
                </a:solidFill>
              </a:defRPr>
            </a:pPr>
            <a:r>
              <a:rPr sz="1350" b="1">
                <a:solidFill>
                  <a:srgbClr val="111827"/>
                </a:solidFill>
              </a:rPr>
              <a:t>노출·미선택</a:t>
            </a:r>
          </a:p>
        </p:txBody>
      </p:sp>
      <p:sp>
        <p:nvSpPr>
          <p:cNvPr id="20" name="">
            <a:extLst xmlns:a="http://schemas.openxmlformats.org/drawingml/2006/main">
              <a:ext uri="{FF2B5EF4-FFF2-40B4-BE49-F238E27FC236}">
                <a16:creationId xmlns:a16="http://schemas.microsoft.com/office/drawing/2014/main" id="{F16749EC-4A92-47FF-BE32-BA6DD82CAAAD}"/>
              </a:ext>
            </a:extLst>
          </p:cNvPr>
          <p:cNvSpPr>
            <a:spLocks xmlns:a="http://schemas.openxmlformats.org/drawingml/2006/main" noGrp="1"/>
          </p:cNvSpPr>
          <p:nvPr/>
        </p:nvSpPr>
        <p:spPr>
          <a:xfrm xmlns:a="http://schemas.openxmlformats.org/drawingml/2006/main">
            <a:off x="2762250" y="35623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a:solidFill>
                  <a:srgbClr val="5B6472"/>
                </a:solidFill>
              </a:defRPr>
            </a:pPr>
            <a:r>
              <a:rPr sz="1350" b="0">
                <a:solidFill>
                  <a:srgbClr val="5B6472"/>
                </a:solidFill>
              </a:rPr>
              <a:t>26.5%</a:t>
            </a:r>
          </a:p>
        </p:txBody>
      </p:sp>
      <p:sp>
        <p:nvSpPr>
          <p:cNvPr id="21" name="">
            <a:extLst xmlns:a="http://schemas.openxmlformats.org/drawingml/2006/main">
              <a:ext uri="{FF2B5EF4-FFF2-40B4-BE49-F238E27FC236}">
                <a16:creationId xmlns:a16="http://schemas.microsoft.com/office/drawing/2014/main" id="{106A8007-50CC-428A-8E55-16E9FAD21888}"/>
              </a:ext>
            </a:extLst>
          </p:cNvPr>
          <p:cNvSpPr>
            <a:spLocks xmlns:a="http://schemas.openxmlformats.org/drawingml/2006/main" noGrp="1"/>
          </p:cNvSpPr>
          <p:nvPr/>
        </p:nvSpPr>
        <p:spPr>
          <a:xfrm xmlns:a="http://schemas.openxmlformats.org/drawingml/2006/main">
            <a:off x="781050" y="4095750"/>
            <a:ext cx="171450" cy="171450"/>
          </a:xfrm>
          <a:prstGeom xmlns:a="http://schemas.openxmlformats.org/drawingml/2006/main" prst="rect">
            <a:avLst/>
          </a:prstGeom>
          <a:solidFill xmlns:a="http://schemas.openxmlformats.org/drawingml/2006/main">
            <a:srgbClr val="2F80E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CE4DF1D-29E9-4AA2-9460-6658A05B01C8}"/>
              </a:ext>
            </a:extLst>
          </p:cNvPr>
          <p:cNvSpPr>
            <a:spLocks xmlns:a="http://schemas.openxmlformats.org/drawingml/2006/main" noGrp="1"/>
          </p:cNvSpPr>
          <p:nvPr/>
        </p:nvSpPr>
        <p:spPr>
          <a:xfrm xmlns:a="http://schemas.openxmlformats.org/drawingml/2006/main">
            <a:off x="1066800" y="40195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11827"/>
                </a:solidFill>
              </a:defRPr>
            </a:pPr>
            <a:r>
              <a:rPr sz="1350" b="1">
                <a:solidFill>
                  <a:srgbClr val="111827"/>
                </a:solidFill>
              </a:rPr>
              <a:t>재검색 회복</a:t>
            </a:r>
          </a:p>
        </p:txBody>
      </p:sp>
      <p:sp>
        <p:nvSpPr>
          <p:cNvPr id="23" name="">
            <a:extLst xmlns:a="http://schemas.openxmlformats.org/drawingml/2006/main">
              <a:ext uri="{FF2B5EF4-FFF2-40B4-BE49-F238E27FC236}">
                <a16:creationId xmlns:a16="http://schemas.microsoft.com/office/drawing/2014/main" id="{E7B4F3DE-BEB0-4B2C-8DD5-09D629017459}"/>
              </a:ext>
            </a:extLst>
          </p:cNvPr>
          <p:cNvSpPr>
            <a:spLocks xmlns:a="http://schemas.openxmlformats.org/drawingml/2006/main" noGrp="1"/>
          </p:cNvSpPr>
          <p:nvPr/>
        </p:nvSpPr>
        <p:spPr>
          <a:xfrm xmlns:a="http://schemas.openxmlformats.org/drawingml/2006/main">
            <a:off x="2762250" y="40195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a:solidFill>
                  <a:srgbClr val="5B6472"/>
                </a:solidFill>
              </a:defRPr>
            </a:pPr>
            <a:r>
              <a:rPr sz="1350" b="0">
                <a:solidFill>
                  <a:srgbClr val="5B6472"/>
                </a:solidFill>
              </a:rPr>
              <a:t>38.2%</a:t>
            </a:r>
          </a:p>
        </p:txBody>
      </p:sp>
      <p:sp>
        <p:nvSpPr>
          <p:cNvPr id="24" name="">
            <a:extLst xmlns:a="http://schemas.openxmlformats.org/drawingml/2006/main">
              <a:ext uri="{FF2B5EF4-FFF2-40B4-BE49-F238E27FC236}">
                <a16:creationId xmlns:a16="http://schemas.microsoft.com/office/drawing/2014/main" id="{453A12A3-AF12-45D9-B3C8-294D193408F2}"/>
              </a:ext>
            </a:extLst>
          </p:cNvPr>
          <p:cNvSpPr>
            <a:spLocks xmlns:a="http://schemas.openxmlformats.org/drawingml/2006/main" noGrp="1"/>
          </p:cNvSpPr>
          <p:nvPr/>
        </p:nvSpPr>
        <p:spPr>
          <a:xfrm xmlns:a="http://schemas.openxmlformats.org/drawingml/2006/main">
            <a:off x="781050" y="4552950"/>
            <a:ext cx="171450" cy="171450"/>
          </a:xfrm>
          <a:prstGeom xmlns:a="http://schemas.openxmlformats.org/drawingml/2006/main" prst="rect">
            <a:avLst/>
          </a:prstGeom>
          <a:solidFill xmlns:a="http://schemas.openxmlformats.org/drawingml/2006/main">
            <a:srgbClr val="D6454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08C614B-5CBB-4B66-BB09-027546E06C39}"/>
              </a:ext>
            </a:extLst>
          </p:cNvPr>
          <p:cNvSpPr>
            <a:spLocks xmlns:a="http://schemas.openxmlformats.org/drawingml/2006/main" noGrp="1"/>
          </p:cNvSpPr>
          <p:nvPr/>
        </p:nvSpPr>
        <p:spPr>
          <a:xfrm xmlns:a="http://schemas.openxmlformats.org/drawingml/2006/main">
            <a:off x="1066800" y="44767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11827"/>
                </a:solidFill>
              </a:defRPr>
            </a:pPr>
            <a:r>
              <a:rPr sz="1350" b="1">
                <a:solidFill>
                  <a:srgbClr val="111827"/>
                </a:solidFill>
              </a:rPr>
              <a:t>지속 실패</a:t>
            </a:r>
          </a:p>
        </p:txBody>
      </p:sp>
      <p:sp>
        <p:nvSpPr>
          <p:cNvPr id="26" name="">
            <a:extLst xmlns:a="http://schemas.openxmlformats.org/drawingml/2006/main">
              <a:ext uri="{FF2B5EF4-FFF2-40B4-BE49-F238E27FC236}">
                <a16:creationId xmlns:a16="http://schemas.microsoft.com/office/drawing/2014/main" id="{51E0205C-8CC4-430C-A63F-8295E2E0737A}"/>
              </a:ext>
            </a:extLst>
          </p:cNvPr>
          <p:cNvSpPr>
            <a:spLocks xmlns:a="http://schemas.openxmlformats.org/drawingml/2006/main" noGrp="1"/>
          </p:cNvSpPr>
          <p:nvPr/>
        </p:nvSpPr>
        <p:spPr>
          <a:xfrm xmlns:a="http://schemas.openxmlformats.org/drawingml/2006/main">
            <a:off x="2762250" y="44767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a:solidFill>
                  <a:srgbClr val="5B6472"/>
                </a:solidFill>
              </a:defRPr>
            </a:pPr>
            <a:r>
              <a:rPr sz="1350" b="0">
                <a:solidFill>
                  <a:srgbClr val="5B6472"/>
                </a:solidFill>
              </a:rPr>
              <a:t>8.8%</a:t>
            </a:r>
          </a:p>
        </p:txBody>
      </p:sp>
      <p:sp>
        <p:nvSpPr>
          <p:cNvPr id="27" name="">
            <a:extLst xmlns:a="http://schemas.openxmlformats.org/drawingml/2006/main">
              <a:ext uri="{FF2B5EF4-FFF2-40B4-BE49-F238E27FC236}">
                <a16:creationId xmlns:a16="http://schemas.microsoft.com/office/drawing/2014/main" id="{9865D9D2-E512-4D0A-A2EB-C4942504FA3F}"/>
              </a:ext>
            </a:extLst>
          </p:cNvPr>
          <p:cNvSpPr>
            <a:spLocks xmlns:a="http://schemas.openxmlformats.org/drawingml/2006/main" noGrp="1"/>
          </p:cNvSpPr>
          <p:nvPr/>
        </p:nvSpPr>
        <p:spPr>
          <a:xfrm xmlns:a="http://schemas.openxmlformats.org/drawingml/2006/main">
            <a:off x="781050" y="5010150"/>
            <a:ext cx="171450" cy="171450"/>
          </a:xfrm>
          <a:prstGeom xmlns:a="http://schemas.openxmlformats.org/drawingml/2006/main" prst="rect">
            <a:avLst/>
          </a:prstGeom>
          <a:solidFill xmlns:a="http://schemas.openxmlformats.org/drawingml/2006/main">
            <a:srgbClr val="E49A2D"/>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10567A5-0FE2-4765-BAB3-9E1D02488D22}"/>
              </a:ext>
            </a:extLst>
          </p:cNvPr>
          <p:cNvSpPr>
            <a:spLocks xmlns:a="http://schemas.openxmlformats.org/drawingml/2006/main" noGrp="1"/>
          </p:cNvSpPr>
          <p:nvPr/>
        </p:nvSpPr>
        <p:spPr>
          <a:xfrm xmlns:a="http://schemas.openxmlformats.org/drawingml/2006/main">
            <a:off x="1066800" y="49339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11827"/>
                </a:solidFill>
              </a:defRPr>
            </a:pPr>
            <a:r>
              <a:rPr sz="1350" b="1">
                <a:solidFill>
                  <a:srgbClr val="111827"/>
                </a:solidFill>
              </a:rPr>
              <a:t>0건 즉시 종료</a:t>
            </a:r>
          </a:p>
        </p:txBody>
      </p:sp>
      <p:sp>
        <p:nvSpPr>
          <p:cNvPr id="29" name="">
            <a:extLst xmlns:a="http://schemas.openxmlformats.org/drawingml/2006/main">
              <a:ext uri="{FF2B5EF4-FFF2-40B4-BE49-F238E27FC236}">
                <a16:creationId xmlns:a16="http://schemas.microsoft.com/office/drawing/2014/main" id="{353826E8-50AC-4976-B78C-E679E01C3CE2}"/>
              </a:ext>
            </a:extLst>
          </p:cNvPr>
          <p:cNvSpPr>
            <a:spLocks xmlns:a="http://schemas.openxmlformats.org/drawingml/2006/main" noGrp="1"/>
          </p:cNvSpPr>
          <p:nvPr/>
        </p:nvSpPr>
        <p:spPr>
          <a:xfrm xmlns:a="http://schemas.openxmlformats.org/drawingml/2006/main">
            <a:off x="2762250" y="49339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a:solidFill>
                  <a:srgbClr val="5B6472"/>
                </a:solidFill>
              </a:defRPr>
            </a:pPr>
            <a:r>
              <a:rPr sz="1350" b="0">
                <a:solidFill>
                  <a:srgbClr val="5B6472"/>
                </a:solidFill>
              </a:rPr>
              <a:t>8.8%</a:t>
            </a:r>
          </a:p>
        </p:txBody>
      </p:sp>
      <p:sp>
        <p:nvSpPr>
          <p:cNvPr id="30" name="">
            <a:extLst xmlns:a="http://schemas.openxmlformats.org/drawingml/2006/main">
              <a:ext uri="{FF2B5EF4-FFF2-40B4-BE49-F238E27FC236}">
                <a16:creationId xmlns:a16="http://schemas.microsoft.com/office/drawing/2014/main" id="{3C4AFECD-5C0D-4DEF-B5B9-929CDFC32B03}"/>
              </a:ext>
            </a:extLst>
          </p:cNvPr>
          <p:cNvSpPr>
            <a:spLocks xmlns:a="http://schemas.openxmlformats.org/drawingml/2006/main" noGrp="1"/>
          </p:cNvSpPr>
          <p:nvPr/>
        </p:nvSpPr>
        <p:spPr>
          <a:xfrm xmlns:a="http://schemas.openxmlformats.org/drawingml/2006/main">
            <a:off x="4953000" y="3219450"/>
            <a:ext cx="6191250" cy="1905000"/>
          </a:xfrm>
          <a:prstGeom xmlns:a="http://schemas.openxmlformats.org/drawingml/2006/main" prst="rect">
            <a:avLst/>
          </a:prstGeom>
          <a:solidFill xmlns:a="http://schemas.openxmlformats.org/drawingml/2006/main">
            <a:srgbClr val="F2F4F7"/>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299F4179-1EB9-44EE-8E00-C40FE88A5B53}"/>
              </a:ext>
            </a:extLst>
          </p:cNvPr>
          <p:cNvSpPr>
            <a:spLocks xmlns:a="http://schemas.openxmlformats.org/drawingml/2006/main" noGrp="1"/>
          </p:cNvSpPr>
          <p:nvPr/>
        </p:nvSpPr>
        <p:spPr>
          <a:xfrm xmlns:a="http://schemas.openxmlformats.org/drawingml/2006/main">
            <a:off x="5238750" y="34290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2F80ED"/>
                </a:solidFill>
              </a:defRPr>
            </a:pPr>
            <a:r>
              <a:rPr sz="1650" b="1">
                <a:solidFill>
                  <a:srgbClr val="2F80ED"/>
                </a:solidFill>
              </a:rPr>
              <a:t>분모: 실제 검색 사용자 68명</a:t>
            </a:r>
          </a:p>
        </p:txBody>
      </p:sp>
      <p:sp>
        <p:nvSpPr>
          <p:cNvPr id="32" name="">
            <a:extLst xmlns:a="http://schemas.openxmlformats.org/drawingml/2006/main">
              <a:ext uri="{FF2B5EF4-FFF2-40B4-BE49-F238E27FC236}">
                <a16:creationId xmlns:a16="http://schemas.microsoft.com/office/drawing/2014/main" id="{1DEABC72-18D1-4FBF-9C44-7F99E26D02FC}"/>
              </a:ext>
            </a:extLst>
          </p:cNvPr>
          <p:cNvSpPr>
            <a:spLocks xmlns:a="http://schemas.openxmlformats.org/drawingml/2006/main" noGrp="1"/>
          </p:cNvSpPr>
          <p:nvPr/>
        </p:nvSpPr>
        <p:spPr>
          <a:xfrm xmlns:a="http://schemas.openxmlformats.org/drawingml/2006/main">
            <a:off x="5238750" y="3952875"/>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11827"/>
                </a:solidFill>
              </a:defRPr>
            </a:pPr>
            <a:r>
              <a:rPr sz="1500" b="1">
                <a:solidFill>
                  <a:srgbClr val="111827"/>
                </a:solidFill>
              </a:rPr>
              <a:t>직접 성공 12명 · 노출 미선택 18명</a:t>
            </a:r>
          </a:p>
        </p:txBody>
      </p:sp>
      <p:sp>
        <p:nvSpPr>
          <p:cNvPr id="33" name="">
            <a:extLst xmlns:a="http://schemas.openxmlformats.org/drawingml/2006/main">
              <a:ext uri="{FF2B5EF4-FFF2-40B4-BE49-F238E27FC236}">
                <a16:creationId xmlns:a16="http://schemas.microsoft.com/office/drawing/2014/main" id="{C4B409C3-85D5-43AD-A22C-8F7BE2B8EADD}"/>
              </a:ext>
            </a:extLst>
          </p:cNvPr>
          <p:cNvSpPr>
            <a:spLocks xmlns:a="http://schemas.openxmlformats.org/drawingml/2006/main" noGrp="1"/>
          </p:cNvSpPr>
          <p:nvPr/>
        </p:nvSpPr>
        <p:spPr>
          <a:xfrm xmlns:a="http://schemas.openxmlformats.org/drawingml/2006/main">
            <a:off x="5238750" y="4410075"/>
            <a:ext cx="542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11827"/>
                </a:solidFill>
              </a:defRPr>
            </a:pPr>
            <a:r>
              <a:rPr sz="1425" b="1">
                <a:solidFill>
                  <a:srgbClr val="111827"/>
                </a:solidFill>
              </a:rPr>
              <a:t>재검색 회복 26명 · 지속 실패 6명 · 즉시 종료 6명</a:t>
            </a:r>
          </a:p>
        </p:txBody>
      </p:sp>
    </p:spTree>
    <p:extLst>
      <p:ext uri="{BB962C8B-B14F-4D97-AF65-F5344CB8AC3E}">
        <p14:creationId xmlns:p14="http://schemas.microsoft.com/office/powerpoint/2010/main" val="118104107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ED26B63B-6BEE-4CEC-AC01-8B61E813B234}"/>
              </a:ext>
            </a:extLst>
          </p:cNvPr>
          <p:cNvSpPr>
            <a:spLocks xmlns:a="http://schemas.openxmlformats.org/drawingml/2006/main" noGrp="1"/>
          </p:cNvSpPr>
          <p:nvPr/>
        </p:nvSpPr>
        <p:spPr>
          <a:xfrm xmlns:a="http://schemas.openxmlformats.org/drawingml/2006/main">
            <a:off x="685800" y="4000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2F80ED"/>
                </a:solidFill>
              </a:defRPr>
            </a:pPr>
            <a:r>
              <a:rPr sz="1050" b="1">
                <a:solidFill>
                  <a:srgbClr val="2F80ED"/>
                </a:solidFill>
              </a:rPr>
              <a:t>SEGMENT C</a:t>
            </a:r>
          </a:p>
        </p:txBody>
      </p:sp>
      <p:sp>
        <p:nvSpPr>
          <p:cNvPr id="2" name="">
            <a:extLst xmlns:a="http://schemas.openxmlformats.org/drawingml/2006/main">
              <a:ext uri="{FF2B5EF4-FFF2-40B4-BE49-F238E27FC236}">
                <a16:creationId xmlns:a16="http://schemas.microsoft.com/office/drawing/2014/main" id="{7E734200-31F7-4C32-8898-F13D753F8A52}"/>
              </a:ext>
            </a:extLst>
          </p:cNvPr>
          <p:cNvSpPr>
            <a:spLocks xmlns:a="http://schemas.openxmlformats.org/drawingml/2006/main" noGrp="1"/>
          </p:cNvSpPr>
          <p:nvPr/>
        </p:nvSpPr>
        <p:spPr>
          <a:xfrm xmlns:a="http://schemas.openxmlformats.org/drawingml/2006/main">
            <a:off x="685800" y="762000"/>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11827"/>
                </a:solidFill>
              </a:defRPr>
            </a:pPr>
            <a:r>
              <a:rPr sz="2700" b="1">
                <a:solidFill>
                  <a:srgbClr val="111827"/>
                </a:solidFill>
              </a:rPr>
              <a:t>재검색 전략은 첫 실패와 다음 검색을 비교할 수 있는 27명만 분류한다</a:t>
            </a:r>
          </a:p>
        </p:txBody>
      </p:sp>
      <p:sp>
        <p:nvSpPr>
          <p:cNvPr id="3" name="">
            <a:extLst xmlns:a="http://schemas.openxmlformats.org/drawingml/2006/main">
              <a:ext uri="{FF2B5EF4-FFF2-40B4-BE49-F238E27FC236}">
                <a16:creationId xmlns:a16="http://schemas.microsoft.com/office/drawing/2014/main" id="{1549ECBB-8482-4EB2-B356-0984F9735722}"/>
              </a:ext>
            </a:extLst>
          </p:cNvPr>
          <p:cNvSpPr>
            <a:spLocks xmlns:a="http://schemas.openxmlformats.org/drawingml/2006/main" noGrp="1"/>
          </p:cNvSpPr>
          <p:nvPr/>
        </p:nvSpPr>
        <p:spPr>
          <a:xfrm xmlns:a="http://schemas.openxmlformats.org/drawingml/2006/main">
            <a:off x="685800" y="1504950"/>
            <a:ext cx="10820400" cy="0"/>
          </a:xfrm>
          <a:prstGeom xmlns:a="http://schemas.openxmlformats.org/drawingml/2006/main" prst="line">
            <a:avLst/>
          </a:prstGeom>
          <a:noFill xmlns:a="http://schemas.openxmlformats.org/drawingml/2006/main"/>
          <a:ln xmlns:a="http://schemas.openxmlformats.org/drawingml/2006/main" w="9525">
            <a:solidFill>
              <a:srgbClr val="CBD0D8"/>
            </a:solidFill>
            <a:prstDash val="solid"/>
          </a:ln>
        </p:spPr>
      </p:sp>
      <p:sp>
        <p:nvSpPr>
          <p:cNvPr id="4" name="">
            <a:extLst xmlns:a="http://schemas.openxmlformats.org/drawingml/2006/main">
              <a:ext uri="{FF2B5EF4-FFF2-40B4-BE49-F238E27FC236}">
                <a16:creationId xmlns:a16="http://schemas.microsoft.com/office/drawing/2014/main" id="{4E59A882-B172-4D08-815F-89DFD19B97CE}"/>
              </a:ext>
            </a:extLst>
          </p:cNvPr>
          <p:cNvSpPr>
            <a:spLocks xmlns:a="http://schemas.openxmlformats.org/drawingml/2006/main" noGrp="1"/>
          </p:cNvSpPr>
          <p:nvPr/>
        </p:nvSpPr>
        <p:spPr>
          <a:xfrm xmlns:a="http://schemas.openxmlformats.org/drawingml/2006/main">
            <a:off x="11144250" y="400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5B6472"/>
                </a:solidFill>
              </a:defRPr>
            </a:pPr>
            <a:r>
              <a:rPr sz="1050" b="1">
                <a:solidFill>
                  <a:srgbClr val="5B6472"/>
                </a:solidFill>
              </a:rPr>
              <a:t>08</a:t>
            </a:r>
          </a:p>
        </p:txBody>
      </p:sp>
      <p:sp>
        <p:nvSpPr>
          <p:cNvPr id="5" name="">
            <a:extLst xmlns:a="http://schemas.openxmlformats.org/drawingml/2006/main">
              <a:ext uri="{FF2B5EF4-FFF2-40B4-BE49-F238E27FC236}">
                <a16:creationId xmlns:a16="http://schemas.microsoft.com/office/drawing/2014/main" id="{4CF767D8-610B-408C-8774-AB39FEB5B4BC}"/>
              </a:ext>
            </a:extLst>
          </p:cNvPr>
          <p:cNvSpPr>
            <a:spLocks xmlns:a="http://schemas.openxmlformats.org/drawingml/2006/main" noGrp="1"/>
          </p:cNvSpPr>
          <p:nvPr/>
        </p:nvSpPr>
        <p:spPr>
          <a:xfrm xmlns:a="http://schemas.openxmlformats.org/drawingml/2006/main">
            <a:off x="781050" y="18288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5B6472"/>
                </a:solidFill>
              </a:defRPr>
            </a:pPr>
            <a:r>
              <a:rPr sz="1350" b="1">
                <a:solidFill>
                  <a:srgbClr val="5B6472"/>
                </a:solidFill>
              </a:rPr>
              <a:t>재검색 유형</a:t>
            </a:r>
          </a:p>
        </p:txBody>
      </p:sp>
      <p:sp>
        <p:nvSpPr>
          <p:cNvPr id="6" name="">
            <a:extLst xmlns:a="http://schemas.openxmlformats.org/drawingml/2006/main">
              <a:ext uri="{FF2B5EF4-FFF2-40B4-BE49-F238E27FC236}">
                <a16:creationId xmlns:a16="http://schemas.microsoft.com/office/drawing/2014/main" id="{C6BA1F0F-6F24-4641-B729-35A07A01ED24}"/>
              </a:ext>
            </a:extLst>
          </p:cNvPr>
          <p:cNvSpPr>
            <a:spLocks xmlns:a="http://schemas.openxmlformats.org/drawingml/2006/main" noGrp="1"/>
          </p:cNvSpPr>
          <p:nvPr/>
        </p:nvSpPr>
        <p:spPr>
          <a:xfrm xmlns:a="http://schemas.openxmlformats.org/drawingml/2006/main">
            <a:off x="3905250" y="18288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5B6472"/>
                </a:solidFill>
              </a:defRPr>
            </a:pPr>
            <a:r>
              <a:rPr sz="1350" b="1">
                <a:solidFill>
                  <a:srgbClr val="5B6472"/>
                </a:solidFill>
              </a:rPr>
              <a:t>사용자</a:t>
            </a:r>
          </a:p>
        </p:txBody>
      </p:sp>
      <p:sp>
        <p:nvSpPr>
          <p:cNvPr id="7" name="">
            <a:extLst xmlns:a="http://schemas.openxmlformats.org/drawingml/2006/main">
              <a:ext uri="{FF2B5EF4-FFF2-40B4-BE49-F238E27FC236}">
                <a16:creationId xmlns:a16="http://schemas.microsoft.com/office/drawing/2014/main" id="{7FA6AD78-EED7-4E7A-A8D8-2F37A731B7D4}"/>
              </a:ext>
            </a:extLst>
          </p:cNvPr>
          <p:cNvSpPr>
            <a:spLocks xmlns:a="http://schemas.openxmlformats.org/drawingml/2006/main" noGrp="1"/>
          </p:cNvSpPr>
          <p:nvPr/>
        </p:nvSpPr>
        <p:spPr>
          <a:xfrm xmlns:a="http://schemas.openxmlformats.org/drawingml/2006/main">
            <a:off x="6096000" y="18288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5B6472"/>
                </a:solidFill>
              </a:defRPr>
            </a:pPr>
            <a:r>
              <a:rPr sz="1350" b="1">
                <a:solidFill>
                  <a:srgbClr val="5B6472"/>
                </a:solidFill>
              </a:rPr>
              <a:t>즉시 성공률</a:t>
            </a:r>
          </a:p>
        </p:txBody>
      </p:sp>
      <p:sp>
        <p:nvSpPr>
          <p:cNvPr id="8" name="">
            <a:extLst xmlns:a="http://schemas.openxmlformats.org/drawingml/2006/main">
              <a:ext uri="{FF2B5EF4-FFF2-40B4-BE49-F238E27FC236}">
                <a16:creationId xmlns:a16="http://schemas.microsoft.com/office/drawing/2014/main" id="{AAD56EA0-2459-409E-8379-43371B960034}"/>
              </a:ext>
            </a:extLst>
          </p:cNvPr>
          <p:cNvSpPr>
            <a:spLocks xmlns:a="http://schemas.openxmlformats.org/drawingml/2006/main" noGrp="1"/>
          </p:cNvSpPr>
          <p:nvPr/>
        </p:nvSpPr>
        <p:spPr>
          <a:xfrm xmlns:a="http://schemas.openxmlformats.org/drawingml/2006/main">
            <a:off x="8858250" y="182880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5B6472"/>
                </a:solidFill>
              </a:defRPr>
            </a:pPr>
            <a:r>
              <a:rPr sz="1350" b="1">
                <a:solidFill>
                  <a:srgbClr val="5B6472"/>
                </a:solidFill>
              </a:rPr>
              <a:t>이후 최종 성공률</a:t>
            </a:r>
          </a:p>
        </p:txBody>
      </p:sp>
      <p:sp>
        <p:nvSpPr>
          <p:cNvPr id="9" name="">
            <a:extLst xmlns:a="http://schemas.openxmlformats.org/drawingml/2006/main">
              <a:ext uri="{FF2B5EF4-FFF2-40B4-BE49-F238E27FC236}">
                <a16:creationId xmlns:a16="http://schemas.microsoft.com/office/drawing/2014/main" id="{AE846258-740B-449E-987C-4108274CC77E}"/>
              </a:ext>
            </a:extLst>
          </p:cNvPr>
          <p:cNvSpPr>
            <a:spLocks xmlns:a="http://schemas.openxmlformats.org/drawingml/2006/main" noGrp="1"/>
          </p:cNvSpPr>
          <p:nvPr/>
        </p:nvSpPr>
        <p:spPr>
          <a:xfrm xmlns:a="http://schemas.openxmlformats.org/drawingml/2006/main">
            <a:off x="685800" y="2200275"/>
            <a:ext cx="10820400" cy="647700"/>
          </a:xfrm>
          <a:prstGeom xmlns:a="http://schemas.openxmlformats.org/drawingml/2006/main" prst="rect">
            <a:avLst/>
          </a:prstGeom>
          <a:solidFill xmlns:a="http://schemas.openxmlformats.org/drawingml/2006/main">
            <a:srgbClr val="F2F4F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2474617-77E9-4C99-B4D0-31E3A09EBCF7}"/>
              </a:ext>
            </a:extLst>
          </p:cNvPr>
          <p:cNvSpPr>
            <a:spLocks xmlns:a="http://schemas.openxmlformats.org/drawingml/2006/main" noGrp="1"/>
          </p:cNvSpPr>
          <p:nvPr/>
        </p:nvSpPr>
        <p:spPr>
          <a:xfrm xmlns:a="http://schemas.openxmlformats.org/drawingml/2006/main">
            <a:off x="800100" y="226695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11827"/>
                </a:solidFill>
              </a:defRPr>
            </a:pPr>
            <a:r>
              <a:rPr sz="1575" b="1">
                <a:solidFill>
                  <a:srgbClr val="111827"/>
                </a:solidFill>
              </a:rPr>
              <a:t>동일 반복형</a:t>
            </a:r>
          </a:p>
        </p:txBody>
      </p:sp>
      <p:sp>
        <p:nvSpPr>
          <p:cNvPr id="11" name="">
            <a:extLst xmlns:a="http://schemas.openxmlformats.org/drawingml/2006/main">
              <a:ext uri="{FF2B5EF4-FFF2-40B4-BE49-F238E27FC236}">
                <a16:creationId xmlns:a16="http://schemas.microsoft.com/office/drawing/2014/main" id="{0E96778D-9E5A-453C-8694-ECBCA1C406FA}"/>
              </a:ext>
            </a:extLst>
          </p:cNvPr>
          <p:cNvSpPr>
            <a:spLocks xmlns:a="http://schemas.openxmlformats.org/drawingml/2006/main" noGrp="1"/>
          </p:cNvSpPr>
          <p:nvPr/>
        </p:nvSpPr>
        <p:spPr>
          <a:xfrm xmlns:a="http://schemas.openxmlformats.org/drawingml/2006/main">
            <a:off x="3905250" y="22669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11827"/>
                </a:solidFill>
              </a:defRPr>
            </a:pPr>
            <a:r>
              <a:rPr sz="1575" b="0">
                <a:solidFill>
                  <a:srgbClr val="111827"/>
                </a:solidFill>
              </a:rPr>
              <a:t>12명</a:t>
            </a:r>
          </a:p>
        </p:txBody>
      </p:sp>
      <p:sp>
        <p:nvSpPr>
          <p:cNvPr id="12" name="">
            <a:extLst xmlns:a="http://schemas.openxmlformats.org/drawingml/2006/main">
              <a:ext uri="{FF2B5EF4-FFF2-40B4-BE49-F238E27FC236}">
                <a16:creationId xmlns:a16="http://schemas.microsoft.com/office/drawing/2014/main" id="{37EB21BB-8387-434D-9561-1DBD764A9073}"/>
              </a:ext>
            </a:extLst>
          </p:cNvPr>
          <p:cNvSpPr>
            <a:spLocks xmlns:a="http://schemas.openxmlformats.org/drawingml/2006/main" noGrp="1"/>
          </p:cNvSpPr>
          <p:nvPr/>
        </p:nvSpPr>
        <p:spPr>
          <a:xfrm xmlns:a="http://schemas.openxmlformats.org/drawingml/2006/main">
            <a:off x="6096000" y="2266950"/>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D64545"/>
                </a:solidFill>
              </a:defRPr>
            </a:pPr>
            <a:r>
              <a:rPr sz="1575" b="1">
                <a:solidFill>
                  <a:srgbClr val="D64545"/>
                </a:solidFill>
              </a:rPr>
              <a:t>0.0%</a:t>
            </a:r>
          </a:p>
        </p:txBody>
      </p:sp>
      <p:sp>
        <p:nvSpPr>
          <p:cNvPr id="13" name="">
            <a:extLst xmlns:a="http://schemas.openxmlformats.org/drawingml/2006/main">
              <a:ext uri="{FF2B5EF4-FFF2-40B4-BE49-F238E27FC236}">
                <a16:creationId xmlns:a16="http://schemas.microsoft.com/office/drawing/2014/main" id="{F6932902-D8D6-4EB0-98D3-A64A8D946FCC}"/>
              </a:ext>
            </a:extLst>
          </p:cNvPr>
          <p:cNvSpPr>
            <a:spLocks xmlns:a="http://schemas.openxmlformats.org/drawingml/2006/main" noGrp="1"/>
          </p:cNvSpPr>
          <p:nvPr/>
        </p:nvSpPr>
        <p:spPr>
          <a:xfrm xmlns:a="http://schemas.openxmlformats.org/drawingml/2006/main">
            <a:off x="8858250" y="2266950"/>
            <a:ext cx="190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11827"/>
                </a:solidFill>
              </a:defRPr>
            </a:pPr>
            <a:r>
              <a:rPr sz="1575" b="1">
                <a:solidFill>
                  <a:srgbClr val="111827"/>
                </a:solidFill>
              </a:rPr>
              <a:t>75.0%</a:t>
            </a:r>
          </a:p>
        </p:txBody>
      </p:sp>
      <p:sp>
        <p:nvSpPr>
          <p:cNvPr id="14" name="">
            <a:extLst xmlns:a="http://schemas.openxmlformats.org/drawingml/2006/main">
              <a:ext uri="{FF2B5EF4-FFF2-40B4-BE49-F238E27FC236}">
                <a16:creationId xmlns:a16="http://schemas.microsoft.com/office/drawing/2014/main" id="{4C303D6B-981E-42EC-B518-103F9E3A0E9C}"/>
              </a:ext>
            </a:extLst>
          </p:cNvPr>
          <p:cNvSpPr>
            <a:spLocks xmlns:a="http://schemas.openxmlformats.org/drawingml/2006/main" noGrp="1"/>
          </p:cNvSpPr>
          <p:nvPr/>
        </p:nvSpPr>
        <p:spPr>
          <a:xfrm xmlns:a="http://schemas.openxmlformats.org/drawingml/2006/main">
            <a:off x="800100" y="304800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11827"/>
                </a:solidFill>
              </a:defRPr>
            </a:pPr>
            <a:r>
              <a:rPr sz="1575" b="1">
                <a:solidFill>
                  <a:srgbClr val="111827"/>
                </a:solidFill>
              </a:rPr>
              <a:t>필터 완화형</a:t>
            </a:r>
          </a:p>
        </p:txBody>
      </p:sp>
      <p:sp>
        <p:nvSpPr>
          <p:cNvPr id="15" name="">
            <a:extLst xmlns:a="http://schemas.openxmlformats.org/drawingml/2006/main">
              <a:ext uri="{FF2B5EF4-FFF2-40B4-BE49-F238E27FC236}">
                <a16:creationId xmlns:a16="http://schemas.microsoft.com/office/drawing/2014/main" id="{8BA84D38-5092-4E8E-B92D-4E1ABDBDCA8B}"/>
              </a:ext>
            </a:extLst>
          </p:cNvPr>
          <p:cNvSpPr>
            <a:spLocks xmlns:a="http://schemas.openxmlformats.org/drawingml/2006/main" noGrp="1"/>
          </p:cNvSpPr>
          <p:nvPr/>
        </p:nvSpPr>
        <p:spPr>
          <a:xfrm xmlns:a="http://schemas.openxmlformats.org/drawingml/2006/main">
            <a:off x="3905250" y="30480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11827"/>
                </a:solidFill>
              </a:defRPr>
            </a:pPr>
            <a:r>
              <a:rPr sz="1575" b="0">
                <a:solidFill>
                  <a:srgbClr val="111827"/>
                </a:solidFill>
              </a:rPr>
              <a:t>8명</a:t>
            </a:r>
          </a:p>
        </p:txBody>
      </p:sp>
      <p:sp>
        <p:nvSpPr>
          <p:cNvPr id="16" name="">
            <a:extLst xmlns:a="http://schemas.openxmlformats.org/drawingml/2006/main">
              <a:ext uri="{FF2B5EF4-FFF2-40B4-BE49-F238E27FC236}">
                <a16:creationId xmlns:a16="http://schemas.microsoft.com/office/drawing/2014/main" id="{ABC8B0AA-1CCC-432B-BAD5-C4B0A544BB06}"/>
              </a:ext>
            </a:extLst>
          </p:cNvPr>
          <p:cNvSpPr>
            <a:spLocks xmlns:a="http://schemas.openxmlformats.org/drawingml/2006/main" noGrp="1"/>
          </p:cNvSpPr>
          <p:nvPr/>
        </p:nvSpPr>
        <p:spPr>
          <a:xfrm xmlns:a="http://schemas.openxmlformats.org/drawingml/2006/main">
            <a:off x="6096000" y="3048000"/>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2F80ED"/>
                </a:solidFill>
              </a:defRPr>
            </a:pPr>
            <a:r>
              <a:rPr sz="1575" b="1">
                <a:solidFill>
                  <a:srgbClr val="2F80ED"/>
                </a:solidFill>
              </a:rPr>
              <a:t>37.5%</a:t>
            </a:r>
          </a:p>
        </p:txBody>
      </p:sp>
      <p:sp>
        <p:nvSpPr>
          <p:cNvPr id="17" name="">
            <a:extLst xmlns:a="http://schemas.openxmlformats.org/drawingml/2006/main">
              <a:ext uri="{FF2B5EF4-FFF2-40B4-BE49-F238E27FC236}">
                <a16:creationId xmlns:a16="http://schemas.microsoft.com/office/drawing/2014/main" id="{1D5ABE6B-DA4D-4EE4-AC4B-F701FD90D7B5}"/>
              </a:ext>
            </a:extLst>
          </p:cNvPr>
          <p:cNvSpPr>
            <a:spLocks xmlns:a="http://schemas.openxmlformats.org/drawingml/2006/main" noGrp="1"/>
          </p:cNvSpPr>
          <p:nvPr/>
        </p:nvSpPr>
        <p:spPr>
          <a:xfrm xmlns:a="http://schemas.openxmlformats.org/drawingml/2006/main">
            <a:off x="8858250" y="3048000"/>
            <a:ext cx="190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68A68"/>
                </a:solidFill>
              </a:defRPr>
            </a:pPr>
            <a:r>
              <a:rPr sz="1575" b="1">
                <a:solidFill>
                  <a:srgbClr val="168A68"/>
                </a:solidFill>
              </a:rPr>
              <a:t>100.0%</a:t>
            </a:r>
          </a:p>
        </p:txBody>
      </p:sp>
      <p:sp>
        <p:nvSpPr>
          <p:cNvPr id="18" name="">
            <a:extLst xmlns:a="http://schemas.openxmlformats.org/drawingml/2006/main">
              <a:ext uri="{FF2B5EF4-FFF2-40B4-BE49-F238E27FC236}">
                <a16:creationId xmlns:a16="http://schemas.microsoft.com/office/drawing/2014/main" id="{7639949F-510D-4A04-A1B2-43FFA536D1A8}"/>
              </a:ext>
            </a:extLst>
          </p:cNvPr>
          <p:cNvSpPr>
            <a:spLocks xmlns:a="http://schemas.openxmlformats.org/drawingml/2006/main" noGrp="1"/>
          </p:cNvSpPr>
          <p:nvPr/>
        </p:nvSpPr>
        <p:spPr>
          <a:xfrm xmlns:a="http://schemas.openxmlformats.org/drawingml/2006/main">
            <a:off x="685800" y="3762375"/>
            <a:ext cx="10820400" cy="647700"/>
          </a:xfrm>
          <a:prstGeom xmlns:a="http://schemas.openxmlformats.org/drawingml/2006/main" prst="rect">
            <a:avLst/>
          </a:prstGeom>
          <a:solidFill xmlns:a="http://schemas.openxmlformats.org/drawingml/2006/main">
            <a:srgbClr val="F2F4F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DBAB06A-B89B-421E-950D-943FEE23AB97}"/>
              </a:ext>
            </a:extLst>
          </p:cNvPr>
          <p:cNvSpPr>
            <a:spLocks xmlns:a="http://schemas.openxmlformats.org/drawingml/2006/main" noGrp="1"/>
          </p:cNvSpPr>
          <p:nvPr/>
        </p:nvSpPr>
        <p:spPr>
          <a:xfrm xmlns:a="http://schemas.openxmlformats.org/drawingml/2006/main">
            <a:off x="800100" y="382905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11827"/>
                </a:solidFill>
              </a:defRPr>
            </a:pPr>
            <a:r>
              <a:rPr sz="1575" b="1">
                <a:solidFill>
                  <a:srgbClr val="111827"/>
                </a:solidFill>
              </a:rPr>
              <a:t>필터 강화형</a:t>
            </a:r>
          </a:p>
        </p:txBody>
      </p:sp>
      <p:sp>
        <p:nvSpPr>
          <p:cNvPr id="20" name="">
            <a:extLst xmlns:a="http://schemas.openxmlformats.org/drawingml/2006/main">
              <a:ext uri="{FF2B5EF4-FFF2-40B4-BE49-F238E27FC236}">
                <a16:creationId xmlns:a16="http://schemas.microsoft.com/office/drawing/2014/main" id="{4A6BA36F-CF87-4A33-9FF9-5E75A1DE434B}"/>
              </a:ext>
            </a:extLst>
          </p:cNvPr>
          <p:cNvSpPr>
            <a:spLocks xmlns:a="http://schemas.openxmlformats.org/drawingml/2006/main" noGrp="1"/>
          </p:cNvSpPr>
          <p:nvPr/>
        </p:nvSpPr>
        <p:spPr>
          <a:xfrm xmlns:a="http://schemas.openxmlformats.org/drawingml/2006/main">
            <a:off x="3905250" y="38290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11827"/>
                </a:solidFill>
              </a:defRPr>
            </a:pPr>
            <a:r>
              <a:rPr sz="1575" b="0">
                <a:solidFill>
                  <a:srgbClr val="111827"/>
                </a:solidFill>
              </a:rPr>
              <a:t>4명</a:t>
            </a:r>
          </a:p>
        </p:txBody>
      </p:sp>
      <p:sp>
        <p:nvSpPr>
          <p:cNvPr id="21" name="">
            <a:extLst xmlns:a="http://schemas.openxmlformats.org/drawingml/2006/main">
              <a:ext uri="{FF2B5EF4-FFF2-40B4-BE49-F238E27FC236}">
                <a16:creationId xmlns:a16="http://schemas.microsoft.com/office/drawing/2014/main" id="{07CDE052-1227-4D5D-9CEE-D42EF9BB82FE}"/>
              </a:ext>
            </a:extLst>
          </p:cNvPr>
          <p:cNvSpPr>
            <a:spLocks xmlns:a="http://schemas.openxmlformats.org/drawingml/2006/main" noGrp="1"/>
          </p:cNvSpPr>
          <p:nvPr/>
        </p:nvSpPr>
        <p:spPr>
          <a:xfrm xmlns:a="http://schemas.openxmlformats.org/drawingml/2006/main">
            <a:off x="6096000" y="3829050"/>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D64545"/>
                </a:solidFill>
              </a:defRPr>
            </a:pPr>
            <a:r>
              <a:rPr sz="1575" b="1">
                <a:solidFill>
                  <a:srgbClr val="D64545"/>
                </a:solidFill>
              </a:rPr>
              <a:t>0.0%</a:t>
            </a:r>
          </a:p>
        </p:txBody>
      </p:sp>
      <p:sp>
        <p:nvSpPr>
          <p:cNvPr id="22" name="">
            <a:extLst xmlns:a="http://schemas.openxmlformats.org/drawingml/2006/main">
              <a:ext uri="{FF2B5EF4-FFF2-40B4-BE49-F238E27FC236}">
                <a16:creationId xmlns:a16="http://schemas.microsoft.com/office/drawing/2014/main" id="{0B9BF5D7-C58E-437C-BA4D-CA58C29EEACD}"/>
              </a:ext>
            </a:extLst>
          </p:cNvPr>
          <p:cNvSpPr>
            <a:spLocks xmlns:a="http://schemas.openxmlformats.org/drawingml/2006/main" noGrp="1"/>
          </p:cNvSpPr>
          <p:nvPr/>
        </p:nvSpPr>
        <p:spPr>
          <a:xfrm xmlns:a="http://schemas.openxmlformats.org/drawingml/2006/main">
            <a:off x="8858250" y="3829050"/>
            <a:ext cx="190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11827"/>
                </a:solidFill>
              </a:defRPr>
            </a:pPr>
            <a:r>
              <a:rPr sz="1575" b="1">
                <a:solidFill>
                  <a:srgbClr val="111827"/>
                </a:solidFill>
              </a:rPr>
              <a:t>50.0%</a:t>
            </a:r>
          </a:p>
        </p:txBody>
      </p:sp>
      <p:sp>
        <p:nvSpPr>
          <p:cNvPr id="23" name="">
            <a:extLst xmlns:a="http://schemas.openxmlformats.org/drawingml/2006/main">
              <a:ext uri="{FF2B5EF4-FFF2-40B4-BE49-F238E27FC236}">
                <a16:creationId xmlns:a16="http://schemas.microsoft.com/office/drawing/2014/main" id="{73C6DED3-CBFF-4C9F-8346-C5C8B336F688}"/>
              </a:ext>
            </a:extLst>
          </p:cNvPr>
          <p:cNvSpPr>
            <a:spLocks xmlns:a="http://schemas.openxmlformats.org/drawingml/2006/main" noGrp="1"/>
          </p:cNvSpPr>
          <p:nvPr/>
        </p:nvSpPr>
        <p:spPr>
          <a:xfrm xmlns:a="http://schemas.openxmlformats.org/drawingml/2006/main">
            <a:off x="800100" y="461010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11827"/>
                </a:solidFill>
              </a:defRPr>
            </a:pPr>
            <a:r>
              <a:rPr sz="1575" b="1">
                <a:solidFill>
                  <a:srgbClr val="111827"/>
                </a:solidFill>
              </a:rPr>
              <a:t>복합 수정형</a:t>
            </a:r>
          </a:p>
        </p:txBody>
      </p:sp>
      <p:sp>
        <p:nvSpPr>
          <p:cNvPr id="24" name="">
            <a:extLst xmlns:a="http://schemas.openxmlformats.org/drawingml/2006/main">
              <a:ext uri="{FF2B5EF4-FFF2-40B4-BE49-F238E27FC236}">
                <a16:creationId xmlns:a16="http://schemas.microsoft.com/office/drawing/2014/main" id="{1CD955E4-0F68-4318-BF8D-C0A4482DEE78}"/>
              </a:ext>
            </a:extLst>
          </p:cNvPr>
          <p:cNvSpPr>
            <a:spLocks xmlns:a="http://schemas.openxmlformats.org/drawingml/2006/main" noGrp="1"/>
          </p:cNvSpPr>
          <p:nvPr/>
        </p:nvSpPr>
        <p:spPr>
          <a:xfrm xmlns:a="http://schemas.openxmlformats.org/drawingml/2006/main">
            <a:off x="3905250" y="46101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11827"/>
                </a:solidFill>
              </a:defRPr>
            </a:pPr>
            <a:r>
              <a:rPr sz="1575" b="0">
                <a:solidFill>
                  <a:srgbClr val="111827"/>
                </a:solidFill>
              </a:rPr>
              <a:t>3명</a:t>
            </a:r>
          </a:p>
        </p:txBody>
      </p:sp>
      <p:sp>
        <p:nvSpPr>
          <p:cNvPr id="25" name="">
            <a:extLst xmlns:a="http://schemas.openxmlformats.org/drawingml/2006/main">
              <a:ext uri="{FF2B5EF4-FFF2-40B4-BE49-F238E27FC236}">
                <a16:creationId xmlns:a16="http://schemas.microsoft.com/office/drawing/2014/main" id="{F6FE15DE-B931-4511-9761-04DD7C1981DC}"/>
              </a:ext>
            </a:extLst>
          </p:cNvPr>
          <p:cNvSpPr>
            <a:spLocks xmlns:a="http://schemas.openxmlformats.org/drawingml/2006/main" noGrp="1"/>
          </p:cNvSpPr>
          <p:nvPr/>
        </p:nvSpPr>
        <p:spPr>
          <a:xfrm xmlns:a="http://schemas.openxmlformats.org/drawingml/2006/main">
            <a:off x="6096000" y="4610100"/>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2F80ED"/>
                </a:solidFill>
              </a:defRPr>
            </a:pPr>
            <a:r>
              <a:rPr sz="1575" b="1">
                <a:solidFill>
                  <a:srgbClr val="2F80ED"/>
                </a:solidFill>
              </a:rPr>
              <a:t>33.3%</a:t>
            </a:r>
          </a:p>
        </p:txBody>
      </p:sp>
      <p:sp>
        <p:nvSpPr>
          <p:cNvPr id="26" name="">
            <a:extLst xmlns:a="http://schemas.openxmlformats.org/drawingml/2006/main">
              <a:ext uri="{FF2B5EF4-FFF2-40B4-BE49-F238E27FC236}">
                <a16:creationId xmlns:a16="http://schemas.microsoft.com/office/drawing/2014/main" id="{0140FA2B-1BAD-4898-A24C-764F37A292CA}"/>
              </a:ext>
            </a:extLst>
          </p:cNvPr>
          <p:cNvSpPr>
            <a:spLocks xmlns:a="http://schemas.openxmlformats.org/drawingml/2006/main" noGrp="1"/>
          </p:cNvSpPr>
          <p:nvPr/>
        </p:nvSpPr>
        <p:spPr>
          <a:xfrm xmlns:a="http://schemas.openxmlformats.org/drawingml/2006/main">
            <a:off x="8858250" y="4610100"/>
            <a:ext cx="190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11827"/>
                </a:solidFill>
              </a:defRPr>
            </a:pPr>
            <a:r>
              <a:rPr sz="1575" b="1">
                <a:solidFill>
                  <a:srgbClr val="111827"/>
                </a:solidFill>
              </a:rPr>
              <a:t>66.7%</a:t>
            </a:r>
          </a:p>
        </p:txBody>
      </p:sp>
      <p:sp>
        <p:nvSpPr>
          <p:cNvPr id="27" name="">
            <a:extLst xmlns:a="http://schemas.openxmlformats.org/drawingml/2006/main">
              <a:ext uri="{FF2B5EF4-FFF2-40B4-BE49-F238E27FC236}">
                <a16:creationId xmlns:a16="http://schemas.microsoft.com/office/drawing/2014/main" id="{6656E740-1E01-45CA-9969-E71930A0737A}"/>
              </a:ext>
            </a:extLst>
          </p:cNvPr>
          <p:cNvSpPr>
            <a:spLocks xmlns:a="http://schemas.openxmlformats.org/drawingml/2006/main" noGrp="1"/>
          </p:cNvSpPr>
          <p:nvPr/>
        </p:nvSpPr>
        <p:spPr>
          <a:xfrm xmlns:a="http://schemas.openxmlformats.org/drawingml/2006/main">
            <a:off x="685800" y="5572125"/>
            <a:ext cx="10820400" cy="619125"/>
          </a:xfrm>
          <a:prstGeom xmlns:a="http://schemas.openxmlformats.org/drawingml/2006/main" prst="rect">
            <a:avLst/>
          </a:prstGeom>
          <a:solidFill xmlns:a="http://schemas.openxmlformats.org/drawingml/2006/main">
            <a:srgbClr val="FFF6E7"/>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47EE478-FEE4-4FE4-BBE8-63E878189F79}"/>
              </a:ext>
            </a:extLst>
          </p:cNvPr>
          <p:cNvSpPr>
            <a:spLocks xmlns:a="http://schemas.openxmlformats.org/drawingml/2006/main" noGrp="1"/>
          </p:cNvSpPr>
          <p:nvPr/>
        </p:nvSpPr>
        <p:spPr>
          <a:xfrm xmlns:a="http://schemas.openxmlformats.org/drawingml/2006/main">
            <a:off x="914400" y="5724525"/>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E49A2D"/>
                </a:solidFill>
              </a:defRPr>
            </a:pPr>
            <a:r>
              <a:rPr sz="1350" b="1">
                <a:solidFill>
                  <a:srgbClr val="E49A2D"/>
                </a:solidFill>
              </a:rPr>
              <a:t>분모 주의</a:t>
            </a:r>
          </a:p>
        </p:txBody>
      </p:sp>
      <p:sp>
        <p:nvSpPr>
          <p:cNvPr id="29" name="">
            <a:extLst xmlns:a="http://schemas.openxmlformats.org/drawingml/2006/main">
              <a:ext uri="{FF2B5EF4-FFF2-40B4-BE49-F238E27FC236}">
                <a16:creationId xmlns:a16="http://schemas.microsoft.com/office/drawing/2014/main" id="{A493B8C1-2578-407C-85ED-FF2621417867}"/>
              </a:ext>
            </a:extLst>
          </p:cNvPr>
          <p:cNvSpPr>
            <a:spLocks xmlns:a="http://schemas.openxmlformats.org/drawingml/2006/main" noGrp="1"/>
          </p:cNvSpPr>
          <p:nvPr/>
        </p:nvSpPr>
        <p:spPr>
          <a:xfrm xmlns:a="http://schemas.openxmlformats.org/drawingml/2006/main">
            <a:off x="2286000" y="5657850"/>
            <a:ext cx="857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11827"/>
                </a:solidFill>
              </a:defRPr>
            </a:pPr>
            <a:r>
              <a:rPr sz="1425" b="1">
                <a:solidFill>
                  <a:srgbClr val="111827"/>
                </a:solidFill>
              </a:rPr>
              <a:t>27명은 전체 사용자 비율이 아니라 “첫 실패 직후 조건 변화”를 비교할 수 있는 부분표본이다.</a:t>
            </a:r>
          </a:p>
        </p:txBody>
      </p:sp>
    </p:spTree>
    <p:extLst>
      <p:ext uri="{BB962C8B-B14F-4D97-AF65-F5344CB8AC3E}">
        <p14:creationId xmlns:p14="http://schemas.microsoft.com/office/powerpoint/2010/main" val="185531946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76CEFFDD-AD54-4369-BD21-5FE405C870DE}"/>
              </a:ext>
            </a:extLst>
          </p:cNvPr>
          <p:cNvSpPr>
            <a:spLocks xmlns:a="http://schemas.openxmlformats.org/drawingml/2006/main" noGrp="1"/>
          </p:cNvSpPr>
          <p:nvPr/>
        </p:nvSpPr>
        <p:spPr>
          <a:xfrm xmlns:a="http://schemas.openxmlformats.org/drawingml/2006/main">
            <a:off x="685800" y="4000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2F80ED"/>
                </a:solidFill>
              </a:defRPr>
            </a:pPr>
            <a:r>
              <a:rPr sz="1050" b="1">
                <a:solidFill>
                  <a:srgbClr val="2F80ED"/>
                </a:solidFill>
              </a:rPr>
              <a:t>AUGMENTATION</a:t>
            </a:r>
          </a:p>
        </p:txBody>
      </p:sp>
      <p:sp>
        <p:nvSpPr>
          <p:cNvPr id="2" name="">
            <a:extLst xmlns:a="http://schemas.openxmlformats.org/drawingml/2006/main">
              <a:ext uri="{FF2B5EF4-FFF2-40B4-BE49-F238E27FC236}">
                <a16:creationId xmlns:a16="http://schemas.microsoft.com/office/drawing/2014/main" id="{DE8DBB19-879F-4EBA-8F6B-A7DA4C8377CD}"/>
              </a:ext>
            </a:extLst>
          </p:cNvPr>
          <p:cNvSpPr>
            <a:spLocks xmlns:a="http://schemas.openxmlformats.org/drawingml/2006/main" noGrp="1"/>
          </p:cNvSpPr>
          <p:nvPr/>
        </p:nvSpPr>
        <p:spPr>
          <a:xfrm xmlns:a="http://schemas.openxmlformats.org/drawingml/2006/main">
            <a:off x="685800" y="762000"/>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11827"/>
                </a:solidFill>
              </a:defRPr>
            </a:pPr>
            <a:r>
              <a:rPr sz="2700" b="1">
                <a:solidFill>
                  <a:srgbClr val="111827"/>
                </a:solidFill>
              </a:rPr>
              <a:t>6개 테이블을 사용자–검색–행동 순서로 함께 증강한다</a:t>
            </a:r>
          </a:p>
        </p:txBody>
      </p:sp>
      <p:sp>
        <p:nvSpPr>
          <p:cNvPr id="3" name="">
            <a:extLst xmlns:a="http://schemas.openxmlformats.org/drawingml/2006/main">
              <a:ext uri="{FF2B5EF4-FFF2-40B4-BE49-F238E27FC236}">
                <a16:creationId xmlns:a16="http://schemas.microsoft.com/office/drawing/2014/main" id="{03EE8EFC-6E1F-47FA-B573-EBEFDC1BA4AE}"/>
              </a:ext>
            </a:extLst>
          </p:cNvPr>
          <p:cNvSpPr>
            <a:spLocks xmlns:a="http://schemas.openxmlformats.org/drawingml/2006/main" noGrp="1"/>
          </p:cNvSpPr>
          <p:nvPr/>
        </p:nvSpPr>
        <p:spPr>
          <a:xfrm xmlns:a="http://schemas.openxmlformats.org/drawingml/2006/main">
            <a:off x="685800" y="1504950"/>
            <a:ext cx="10820400" cy="0"/>
          </a:xfrm>
          <a:prstGeom xmlns:a="http://schemas.openxmlformats.org/drawingml/2006/main" prst="line">
            <a:avLst/>
          </a:prstGeom>
          <a:noFill xmlns:a="http://schemas.openxmlformats.org/drawingml/2006/main"/>
          <a:ln xmlns:a="http://schemas.openxmlformats.org/drawingml/2006/main" w="9525">
            <a:solidFill>
              <a:srgbClr val="CBD0D8"/>
            </a:solidFill>
            <a:prstDash val="solid"/>
          </a:ln>
        </p:spPr>
      </p:sp>
      <p:sp>
        <p:nvSpPr>
          <p:cNvPr id="4" name="">
            <a:extLst xmlns:a="http://schemas.openxmlformats.org/drawingml/2006/main">
              <a:ext uri="{FF2B5EF4-FFF2-40B4-BE49-F238E27FC236}">
                <a16:creationId xmlns:a16="http://schemas.microsoft.com/office/drawing/2014/main" id="{44A7C121-81C7-4604-996A-8E763F4283FD}"/>
              </a:ext>
            </a:extLst>
          </p:cNvPr>
          <p:cNvSpPr>
            <a:spLocks xmlns:a="http://schemas.openxmlformats.org/drawingml/2006/main" noGrp="1"/>
          </p:cNvSpPr>
          <p:nvPr/>
        </p:nvSpPr>
        <p:spPr>
          <a:xfrm xmlns:a="http://schemas.openxmlformats.org/drawingml/2006/main">
            <a:off x="11144250" y="400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5B6472"/>
                </a:solidFill>
              </a:defRPr>
            </a:pPr>
            <a:r>
              <a:rPr sz="1050" b="1">
                <a:solidFill>
                  <a:srgbClr val="5B6472"/>
                </a:solidFill>
              </a:rPr>
              <a:t>09</a:t>
            </a:r>
          </a:p>
        </p:txBody>
      </p:sp>
      <p:sp>
        <p:nvSpPr>
          <p:cNvPr id="5" name="">
            <a:extLst xmlns:a="http://schemas.openxmlformats.org/drawingml/2006/main">
              <a:ext uri="{FF2B5EF4-FFF2-40B4-BE49-F238E27FC236}">
                <a16:creationId xmlns:a16="http://schemas.microsoft.com/office/drawing/2014/main" id="{4EA73F87-53F4-4D99-BE79-9ADFF391B791}"/>
              </a:ext>
            </a:extLst>
          </p:cNvPr>
          <p:cNvSpPr>
            <a:spLocks xmlns:a="http://schemas.openxmlformats.org/drawingml/2006/main" noGrp="1"/>
          </p:cNvSpPr>
          <p:nvPr/>
        </p:nvSpPr>
        <p:spPr>
          <a:xfrm xmlns:a="http://schemas.openxmlformats.org/drawingml/2006/main">
            <a:off x="742950" y="1762125"/>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5B6472"/>
                </a:solidFill>
              </a:defRPr>
            </a:pPr>
            <a:r>
              <a:rPr sz="1275" b="1">
                <a:solidFill>
                  <a:srgbClr val="5B6472"/>
                </a:solidFill>
              </a:rPr>
              <a:t>테이블</a:t>
            </a:r>
          </a:p>
        </p:txBody>
      </p:sp>
      <p:sp>
        <p:nvSpPr>
          <p:cNvPr id="6" name="">
            <a:extLst xmlns:a="http://schemas.openxmlformats.org/drawingml/2006/main">
              <a:ext uri="{FF2B5EF4-FFF2-40B4-BE49-F238E27FC236}">
                <a16:creationId xmlns:a16="http://schemas.microsoft.com/office/drawing/2014/main" id="{FFB120F3-3E32-4014-A17B-F36C18875942}"/>
              </a:ext>
            </a:extLst>
          </p:cNvPr>
          <p:cNvSpPr>
            <a:spLocks xmlns:a="http://schemas.openxmlformats.org/drawingml/2006/main" noGrp="1"/>
          </p:cNvSpPr>
          <p:nvPr/>
        </p:nvSpPr>
        <p:spPr>
          <a:xfrm xmlns:a="http://schemas.openxmlformats.org/drawingml/2006/main">
            <a:off x="2857500" y="1762125"/>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5B6472"/>
                </a:solidFill>
              </a:defRPr>
            </a:pPr>
            <a:r>
              <a:rPr sz="1275" b="1">
                <a:solidFill>
                  <a:srgbClr val="5B6472"/>
                </a:solidFill>
              </a:rPr>
              <a:t>키 연결</a:t>
            </a:r>
          </a:p>
        </p:txBody>
      </p:sp>
      <p:sp>
        <p:nvSpPr>
          <p:cNvPr id="7" name="">
            <a:extLst xmlns:a="http://schemas.openxmlformats.org/drawingml/2006/main">
              <a:ext uri="{FF2B5EF4-FFF2-40B4-BE49-F238E27FC236}">
                <a16:creationId xmlns:a16="http://schemas.microsoft.com/office/drawing/2014/main" id="{113599EF-D1D5-4D74-9A18-09849B7CB103}"/>
              </a:ext>
            </a:extLst>
          </p:cNvPr>
          <p:cNvSpPr>
            <a:spLocks xmlns:a="http://schemas.openxmlformats.org/drawingml/2006/main" noGrp="1"/>
          </p:cNvSpPr>
          <p:nvPr/>
        </p:nvSpPr>
        <p:spPr>
          <a:xfrm xmlns:a="http://schemas.openxmlformats.org/drawingml/2006/main">
            <a:off x="6381750" y="17621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5B6472"/>
                </a:solidFill>
              </a:defRPr>
            </a:pPr>
            <a:r>
              <a:rPr sz="1275" b="1">
                <a:solidFill>
                  <a:srgbClr val="5B6472"/>
                </a:solidFill>
              </a:rPr>
              <a:t>주요 증강 필드·방식</a:t>
            </a:r>
          </a:p>
        </p:txBody>
      </p:sp>
      <p:sp>
        <p:nvSpPr>
          <p:cNvPr id="8" name="">
            <a:extLst xmlns:a="http://schemas.openxmlformats.org/drawingml/2006/main">
              <a:ext uri="{FF2B5EF4-FFF2-40B4-BE49-F238E27FC236}">
                <a16:creationId xmlns:a16="http://schemas.microsoft.com/office/drawing/2014/main" id="{8D180C01-2585-4CC2-98C6-654F7C109D14}"/>
              </a:ext>
            </a:extLst>
          </p:cNvPr>
          <p:cNvSpPr>
            <a:spLocks xmlns:a="http://schemas.openxmlformats.org/drawingml/2006/main" noGrp="1"/>
          </p:cNvSpPr>
          <p:nvPr/>
        </p:nvSpPr>
        <p:spPr>
          <a:xfrm xmlns:a="http://schemas.openxmlformats.org/drawingml/2006/main">
            <a:off x="685800" y="2124075"/>
            <a:ext cx="10820400" cy="571500"/>
          </a:xfrm>
          <a:prstGeom xmlns:a="http://schemas.openxmlformats.org/drawingml/2006/main" prst="rect">
            <a:avLst/>
          </a:prstGeom>
          <a:solidFill xmlns:a="http://schemas.openxmlformats.org/drawingml/2006/main">
            <a:srgbClr val="F7F8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E94C9BE-BB75-40F7-8EAA-5762DAFA6052}"/>
              </a:ext>
            </a:extLst>
          </p:cNvPr>
          <p:cNvSpPr>
            <a:spLocks xmlns:a="http://schemas.openxmlformats.org/drawingml/2006/main" noGrp="1"/>
          </p:cNvSpPr>
          <p:nvPr/>
        </p:nvSpPr>
        <p:spPr>
          <a:xfrm xmlns:a="http://schemas.openxmlformats.org/drawingml/2006/main">
            <a:off x="781050" y="219075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2F80ED"/>
                </a:solidFill>
              </a:defRPr>
            </a:pPr>
            <a:r>
              <a:rPr sz="1350" b="1">
                <a:solidFill>
                  <a:srgbClr val="2F80ED"/>
                </a:solidFill>
              </a:rPr>
              <a:t>USER</a:t>
            </a:r>
          </a:p>
        </p:txBody>
      </p:sp>
      <p:sp>
        <p:nvSpPr>
          <p:cNvPr id="10" name="">
            <a:extLst xmlns:a="http://schemas.openxmlformats.org/drawingml/2006/main">
              <a:ext uri="{FF2B5EF4-FFF2-40B4-BE49-F238E27FC236}">
                <a16:creationId xmlns:a16="http://schemas.microsoft.com/office/drawing/2014/main" id="{5DE03210-E2FE-4FDE-99FC-7E457B3635DF}"/>
              </a:ext>
            </a:extLst>
          </p:cNvPr>
          <p:cNvSpPr>
            <a:spLocks xmlns:a="http://schemas.openxmlformats.org/drawingml/2006/main" noGrp="1"/>
          </p:cNvSpPr>
          <p:nvPr/>
        </p:nvSpPr>
        <p:spPr>
          <a:xfrm xmlns:a="http://schemas.openxmlformats.org/drawingml/2006/main">
            <a:off x="2857500" y="219075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user_id 고정</a:t>
            </a:r>
          </a:p>
        </p:txBody>
      </p:sp>
      <p:sp>
        <p:nvSpPr>
          <p:cNvPr id="11" name="">
            <a:extLst xmlns:a="http://schemas.openxmlformats.org/drawingml/2006/main">
              <a:ext uri="{FF2B5EF4-FFF2-40B4-BE49-F238E27FC236}">
                <a16:creationId xmlns:a16="http://schemas.microsoft.com/office/drawing/2014/main" id="{4782F4AE-E670-4825-B035-B1BD9E843901}"/>
              </a:ext>
            </a:extLst>
          </p:cNvPr>
          <p:cNvSpPr>
            <a:spLocks xmlns:a="http://schemas.openxmlformats.org/drawingml/2006/main" noGrp="1"/>
          </p:cNvSpPr>
          <p:nvPr/>
        </p:nvSpPr>
        <p:spPr>
          <a:xfrm xmlns:a="http://schemas.openxmlformats.org/drawingml/2006/main">
            <a:off x="6381750" y="21907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11827"/>
                </a:solidFill>
              </a:defRPr>
            </a:pPr>
            <a:r>
              <a:rPr sz="1275" b="0">
                <a:solidFill>
                  <a:srgbClr val="111827"/>
                </a:solidFill>
              </a:rPr>
              <a:t>성향·세그먼트 배정</a:t>
            </a:r>
          </a:p>
        </p:txBody>
      </p:sp>
      <p:sp>
        <p:nvSpPr>
          <p:cNvPr id="12" name="">
            <a:extLst xmlns:a="http://schemas.openxmlformats.org/drawingml/2006/main">
              <a:ext uri="{FF2B5EF4-FFF2-40B4-BE49-F238E27FC236}">
                <a16:creationId xmlns:a16="http://schemas.microsoft.com/office/drawing/2014/main" id="{D7292EB8-C008-4295-B0FC-85C65DDCFA15}"/>
              </a:ext>
            </a:extLst>
          </p:cNvPr>
          <p:cNvSpPr>
            <a:spLocks xmlns:a="http://schemas.openxmlformats.org/drawingml/2006/main" noGrp="1"/>
          </p:cNvSpPr>
          <p:nvPr/>
        </p:nvSpPr>
        <p:spPr>
          <a:xfrm xmlns:a="http://schemas.openxmlformats.org/drawingml/2006/main">
            <a:off x="781050" y="281940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11827"/>
                </a:solidFill>
              </a:defRPr>
            </a:pPr>
            <a:r>
              <a:rPr sz="1350" b="1">
                <a:solidFill>
                  <a:srgbClr val="111827"/>
                </a:solidFill>
              </a:rPr>
              <a:t>SEARCH</a:t>
            </a:r>
          </a:p>
        </p:txBody>
      </p:sp>
      <p:sp>
        <p:nvSpPr>
          <p:cNvPr id="13" name="">
            <a:extLst xmlns:a="http://schemas.openxmlformats.org/drawingml/2006/main">
              <a:ext uri="{FF2B5EF4-FFF2-40B4-BE49-F238E27FC236}">
                <a16:creationId xmlns:a16="http://schemas.microsoft.com/office/drawing/2014/main" id="{F6A7BBBD-8219-4CF3-91DB-F62EE57BDB53}"/>
              </a:ext>
            </a:extLst>
          </p:cNvPr>
          <p:cNvSpPr>
            <a:spLocks xmlns:a="http://schemas.openxmlformats.org/drawingml/2006/main" noGrp="1"/>
          </p:cNvSpPr>
          <p:nvPr/>
        </p:nvSpPr>
        <p:spPr>
          <a:xfrm xmlns:a="http://schemas.openxmlformats.org/drawingml/2006/main">
            <a:off x="2857500" y="281940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search_id / session_id</a:t>
            </a:r>
          </a:p>
        </p:txBody>
      </p:sp>
      <p:sp>
        <p:nvSpPr>
          <p:cNvPr id="14" name="">
            <a:extLst xmlns:a="http://schemas.openxmlformats.org/drawingml/2006/main">
              <a:ext uri="{FF2B5EF4-FFF2-40B4-BE49-F238E27FC236}">
                <a16:creationId xmlns:a16="http://schemas.microsoft.com/office/drawing/2014/main" id="{D16AB4D5-BA9C-439B-8A0A-96D1DB18711A}"/>
              </a:ext>
            </a:extLst>
          </p:cNvPr>
          <p:cNvSpPr>
            <a:spLocks xmlns:a="http://schemas.openxmlformats.org/drawingml/2006/main" noGrp="1"/>
          </p:cNvSpPr>
          <p:nvPr/>
        </p:nvSpPr>
        <p:spPr>
          <a:xfrm xmlns:a="http://schemas.openxmlformats.org/drawingml/2006/main">
            <a:off x="6381750" y="28194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11827"/>
                </a:solidFill>
              </a:defRPr>
            </a:pPr>
            <a:r>
              <a:rPr sz="1275" b="0">
                <a:solidFill>
                  <a:srgbClr val="111827"/>
                </a:solidFill>
              </a:rPr>
              <a:t>검색어·지역·일정·인원</a:t>
            </a:r>
          </a:p>
        </p:txBody>
      </p:sp>
      <p:sp>
        <p:nvSpPr>
          <p:cNvPr id="15" name="">
            <a:extLst xmlns:a="http://schemas.openxmlformats.org/drawingml/2006/main">
              <a:ext uri="{FF2B5EF4-FFF2-40B4-BE49-F238E27FC236}">
                <a16:creationId xmlns:a16="http://schemas.microsoft.com/office/drawing/2014/main" id="{7A804C44-2558-48A1-B082-E9DE6330E5B0}"/>
              </a:ext>
            </a:extLst>
          </p:cNvPr>
          <p:cNvSpPr>
            <a:spLocks xmlns:a="http://schemas.openxmlformats.org/drawingml/2006/main" noGrp="1"/>
          </p:cNvSpPr>
          <p:nvPr/>
        </p:nvSpPr>
        <p:spPr>
          <a:xfrm xmlns:a="http://schemas.openxmlformats.org/drawingml/2006/main">
            <a:off x="685800" y="3381375"/>
            <a:ext cx="10820400" cy="571500"/>
          </a:xfrm>
          <a:prstGeom xmlns:a="http://schemas.openxmlformats.org/drawingml/2006/main" prst="rect">
            <a:avLst/>
          </a:prstGeom>
          <a:solidFill xmlns:a="http://schemas.openxmlformats.org/drawingml/2006/main">
            <a:srgbClr val="F7F8F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D24C92F-349E-4713-8B78-10954A577C38}"/>
              </a:ext>
            </a:extLst>
          </p:cNvPr>
          <p:cNvSpPr>
            <a:spLocks xmlns:a="http://schemas.openxmlformats.org/drawingml/2006/main" noGrp="1"/>
          </p:cNvSpPr>
          <p:nvPr/>
        </p:nvSpPr>
        <p:spPr>
          <a:xfrm xmlns:a="http://schemas.openxmlformats.org/drawingml/2006/main">
            <a:off x="781050" y="344805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11827"/>
                </a:solidFill>
              </a:defRPr>
            </a:pPr>
            <a:r>
              <a:rPr sz="1350" b="1">
                <a:solidFill>
                  <a:srgbClr val="111827"/>
                </a:solidFill>
              </a:rPr>
              <a:t>SEARCH_FILTER</a:t>
            </a:r>
          </a:p>
        </p:txBody>
      </p:sp>
      <p:sp>
        <p:nvSpPr>
          <p:cNvPr id="17" name="">
            <a:extLst xmlns:a="http://schemas.openxmlformats.org/drawingml/2006/main">
              <a:ext uri="{FF2B5EF4-FFF2-40B4-BE49-F238E27FC236}">
                <a16:creationId xmlns:a16="http://schemas.microsoft.com/office/drawing/2014/main" id="{5C18B0D6-73FC-472D-9186-8A9F9756152D}"/>
              </a:ext>
            </a:extLst>
          </p:cNvPr>
          <p:cNvSpPr>
            <a:spLocks xmlns:a="http://schemas.openxmlformats.org/drawingml/2006/main" noGrp="1"/>
          </p:cNvSpPr>
          <p:nvPr/>
        </p:nvSpPr>
        <p:spPr>
          <a:xfrm xmlns:a="http://schemas.openxmlformats.org/drawingml/2006/main">
            <a:off x="2857500" y="344805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search_filter_id / search_id</a:t>
            </a:r>
          </a:p>
        </p:txBody>
      </p:sp>
      <p:sp>
        <p:nvSpPr>
          <p:cNvPr id="18" name="">
            <a:extLst xmlns:a="http://schemas.openxmlformats.org/drawingml/2006/main">
              <a:ext uri="{FF2B5EF4-FFF2-40B4-BE49-F238E27FC236}">
                <a16:creationId xmlns:a16="http://schemas.microsoft.com/office/drawing/2014/main" id="{A3062BBA-01F6-49B6-A733-EC286E1AF236}"/>
              </a:ext>
            </a:extLst>
          </p:cNvPr>
          <p:cNvSpPr>
            <a:spLocks xmlns:a="http://schemas.openxmlformats.org/drawingml/2006/main" noGrp="1"/>
          </p:cNvSpPr>
          <p:nvPr/>
        </p:nvSpPr>
        <p:spPr>
          <a:xfrm xmlns:a="http://schemas.openxmlformats.org/drawingml/2006/main">
            <a:off x="6381750" y="34480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11827"/>
                </a:solidFill>
              </a:defRPr>
            </a:pPr>
            <a:r>
              <a:rPr sz="1275" b="0">
                <a:solidFill>
                  <a:srgbClr val="111827"/>
                </a:solidFill>
              </a:rPr>
              <a:t>평점·가격·편의시설 수</a:t>
            </a:r>
          </a:p>
        </p:txBody>
      </p:sp>
      <p:sp>
        <p:nvSpPr>
          <p:cNvPr id="19" name="">
            <a:extLst xmlns:a="http://schemas.openxmlformats.org/drawingml/2006/main">
              <a:ext uri="{FF2B5EF4-FFF2-40B4-BE49-F238E27FC236}">
                <a16:creationId xmlns:a16="http://schemas.microsoft.com/office/drawing/2014/main" id="{F2B41A33-0503-4413-934B-6563A357812C}"/>
              </a:ext>
            </a:extLst>
          </p:cNvPr>
          <p:cNvSpPr>
            <a:spLocks xmlns:a="http://schemas.openxmlformats.org/drawingml/2006/main" noGrp="1"/>
          </p:cNvSpPr>
          <p:nvPr/>
        </p:nvSpPr>
        <p:spPr>
          <a:xfrm xmlns:a="http://schemas.openxmlformats.org/drawingml/2006/main">
            <a:off x="781050" y="407670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11827"/>
                </a:solidFill>
              </a:defRPr>
            </a:pPr>
            <a:r>
              <a:rPr sz="1350" b="1">
                <a:solidFill>
                  <a:srgbClr val="111827"/>
                </a:solidFill>
              </a:rPr>
              <a:t>SEARCH_RESULT</a:t>
            </a:r>
          </a:p>
        </p:txBody>
      </p:sp>
      <p:sp>
        <p:nvSpPr>
          <p:cNvPr id="20" name="">
            <a:extLst xmlns:a="http://schemas.openxmlformats.org/drawingml/2006/main">
              <a:ext uri="{FF2B5EF4-FFF2-40B4-BE49-F238E27FC236}">
                <a16:creationId xmlns:a16="http://schemas.microsoft.com/office/drawing/2014/main" id="{E7DDE6E0-4EB0-4D8D-B580-65A5D73ABDF2}"/>
              </a:ext>
            </a:extLst>
          </p:cNvPr>
          <p:cNvSpPr>
            <a:spLocks xmlns:a="http://schemas.openxmlformats.org/drawingml/2006/main" noGrp="1"/>
          </p:cNvSpPr>
          <p:nvPr/>
        </p:nvSpPr>
        <p:spPr>
          <a:xfrm xmlns:a="http://schemas.openxmlformats.org/drawingml/2006/main">
            <a:off x="2857500" y="407670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search_result_id / search_id</a:t>
            </a:r>
          </a:p>
        </p:txBody>
      </p:sp>
      <p:sp>
        <p:nvSpPr>
          <p:cNvPr id="21" name="">
            <a:extLst xmlns:a="http://schemas.openxmlformats.org/drawingml/2006/main">
              <a:ext uri="{FF2B5EF4-FFF2-40B4-BE49-F238E27FC236}">
                <a16:creationId xmlns:a16="http://schemas.microsoft.com/office/drawing/2014/main" id="{EB6D012A-DD46-4782-8B62-CB6C391E0CA0}"/>
              </a:ext>
            </a:extLst>
          </p:cNvPr>
          <p:cNvSpPr>
            <a:spLocks xmlns:a="http://schemas.openxmlformats.org/drawingml/2006/main" noGrp="1"/>
          </p:cNvSpPr>
          <p:nvPr/>
        </p:nvSpPr>
        <p:spPr>
          <a:xfrm xmlns:a="http://schemas.openxmlformats.org/drawingml/2006/main">
            <a:off x="6381750" y="40767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11827"/>
                </a:solidFill>
              </a:defRPr>
            </a:pPr>
            <a:r>
              <a:rPr sz="1275" b="0">
                <a:solidFill>
                  <a:srgbClr val="111827"/>
                </a:solidFill>
              </a:rPr>
              <a:t>검색당 24~25개 노출·순위</a:t>
            </a:r>
          </a:p>
        </p:txBody>
      </p:sp>
      <p:sp>
        <p:nvSpPr>
          <p:cNvPr id="22" name="">
            <a:extLst xmlns:a="http://schemas.openxmlformats.org/drawingml/2006/main">
              <a:ext uri="{FF2B5EF4-FFF2-40B4-BE49-F238E27FC236}">
                <a16:creationId xmlns:a16="http://schemas.microsoft.com/office/drawing/2014/main" id="{59CCC408-56E0-419C-ADA7-0DA615BE2BB5}"/>
              </a:ext>
            </a:extLst>
          </p:cNvPr>
          <p:cNvSpPr>
            <a:spLocks xmlns:a="http://schemas.openxmlformats.org/drawingml/2006/main" noGrp="1"/>
          </p:cNvSpPr>
          <p:nvPr/>
        </p:nvSpPr>
        <p:spPr>
          <a:xfrm xmlns:a="http://schemas.openxmlformats.org/drawingml/2006/main">
            <a:off x="685800" y="4638675"/>
            <a:ext cx="10820400" cy="571500"/>
          </a:xfrm>
          <a:prstGeom xmlns:a="http://schemas.openxmlformats.org/drawingml/2006/main" prst="rect">
            <a:avLst/>
          </a:prstGeom>
          <a:solidFill xmlns:a="http://schemas.openxmlformats.org/drawingml/2006/main">
            <a:srgbClr val="F7F8F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DFD7E3C-B7DD-44EF-89B5-AF248E5E0AE6}"/>
              </a:ext>
            </a:extLst>
          </p:cNvPr>
          <p:cNvSpPr>
            <a:spLocks xmlns:a="http://schemas.openxmlformats.org/drawingml/2006/main" noGrp="1"/>
          </p:cNvSpPr>
          <p:nvPr/>
        </p:nvSpPr>
        <p:spPr>
          <a:xfrm xmlns:a="http://schemas.openxmlformats.org/drawingml/2006/main">
            <a:off x="781050" y="470535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11827"/>
                </a:solidFill>
              </a:defRPr>
            </a:pPr>
            <a:r>
              <a:rPr sz="1350" b="1">
                <a:solidFill>
                  <a:srgbClr val="111827"/>
                </a:solidFill>
              </a:rPr>
              <a:t>EVENT</a:t>
            </a:r>
          </a:p>
        </p:txBody>
      </p:sp>
      <p:sp>
        <p:nvSpPr>
          <p:cNvPr id="24" name="">
            <a:extLst xmlns:a="http://schemas.openxmlformats.org/drawingml/2006/main">
              <a:ext uri="{FF2B5EF4-FFF2-40B4-BE49-F238E27FC236}">
                <a16:creationId xmlns:a16="http://schemas.microsoft.com/office/drawing/2014/main" id="{793FB774-8EB4-4B9F-8D35-150D0770140F}"/>
              </a:ext>
            </a:extLst>
          </p:cNvPr>
          <p:cNvSpPr>
            <a:spLocks xmlns:a="http://schemas.openxmlformats.org/drawingml/2006/main" noGrp="1"/>
          </p:cNvSpPr>
          <p:nvPr/>
        </p:nvSpPr>
        <p:spPr>
          <a:xfrm xmlns:a="http://schemas.openxmlformats.org/drawingml/2006/main">
            <a:off x="2857500" y="470535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event_id / user_id / search_id</a:t>
            </a:r>
          </a:p>
        </p:txBody>
      </p:sp>
      <p:sp>
        <p:nvSpPr>
          <p:cNvPr id="25" name="">
            <a:extLst xmlns:a="http://schemas.openxmlformats.org/drawingml/2006/main">
              <a:ext uri="{FF2B5EF4-FFF2-40B4-BE49-F238E27FC236}">
                <a16:creationId xmlns:a16="http://schemas.microsoft.com/office/drawing/2014/main" id="{303C2A2C-9B3A-4E9B-8340-F913106D1E01}"/>
              </a:ext>
            </a:extLst>
          </p:cNvPr>
          <p:cNvSpPr>
            <a:spLocks xmlns:a="http://schemas.openxmlformats.org/drawingml/2006/main" noGrp="1"/>
          </p:cNvSpPr>
          <p:nvPr/>
        </p:nvSpPr>
        <p:spPr>
          <a:xfrm xmlns:a="http://schemas.openxmlformats.org/drawingml/2006/main">
            <a:off x="6381750" y="47053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11827"/>
                </a:solidFill>
              </a:defRPr>
            </a:pPr>
            <a:r>
              <a:rPr sz="1275" b="0">
                <a:solidFill>
                  <a:srgbClr val="111827"/>
                </a:solidFill>
              </a:rPr>
              <a:t>클릭·필터·정렬·exit·end_time</a:t>
            </a:r>
          </a:p>
        </p:txBody>
      </p:sp>
      <p:sp>
        <p:nvSpPr>
          <p:cNvPr id="26" name="">
            <a:extLst xmlns:a="http://schemas.openxmlformats.org/drawingml/2006/main">
              <a:ext uri="{FF2B5EF4-FFF2-40B4-BE49-F238E27FC236}">
                <a16:creationId xmlns:a16="http://schemas.microsoft.com/office/drawing/2014/main" id="{7771E150-951C-4B8D-A780-F11800F8C01F}"/>
              </a:ext>
            </a:extLst>
          </p:cNvPr>
          <p:cNvSpPr>
            <a:spLocks xmlns:a="http://schemas.openxmlformats.org/drawingml/2006/main" noGrp="1"/>
          </p:cNvSpPr>
          <p:nvPr/>
        </p:nvSpPr>
        <p:spPr>
          <a:xfrm xmlns:a="http://schemas.openxmlformats.org/drawingml/2006/main">
            <a:off x="781050" y="533400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11827"/>
                </a:solidFill>
              </a:defRPr>
            </a:pPr>
            <a:r>
              <a:rPr sz="1350" b="1">
                <a:solidFill>
                  <a:srgbClr val="111827"/>
                </a:solidFill>
              </a:rPr>
              <a:t>BOOKING</a:t>
            </a:r>
          </a:p>
        </p:txBody>
      </p:sp>
      <p:sp>
        <p:nvSpPr>
          <p:cNvPr id="27" name="">
            <a:extLst xmlns:a="http://schemas.openxmlformats.org/drawingml/2006/main">
              <a:ext uri="{FF2B5EF4-FFF2-40B4-BE49-F238E27FC236}">
                <a16:creationId xmlns:a16="http://schemas.microsoft.com/office/drawing/2014/main" id="{38DDABA5-3FD0-4724-8EB0-31755244359E}"/>
              </a:ext>
            </a:extLst>
          </p:cNvPr>
          <p:cNvSpPr>
            <a:spLocks xmlns:a="http://schemas.openxmlformats.org/drawingml/2006/main" noGrp="1"/>
          </p:cNvSpPr>
          <p:nvPr/>
        </p:nvSpPr>
        <p:spPr>
          <a:xfrm xmlns:a="http://schemas.openxmlformats.org/drawingml/2006/main">
            <a:off x="2857500" y="533400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booking_id / user_id / hotel_id / room_id</a:t>
            </a:r>
          </a:p>
        </p:txBody>
      </p:sp>
      <p:sp>
        <p:nvSpPr>
          <p:cNvPr id="28" name="">
            <a:extLst xmlns:a="http://schemas.openxmlformats.org/drawingml/2006/main">
              <a:ext uri="{FF2B5EF4-FFF2-40B4-BE49-F238E27FC236}">
                <a16:creationId xmlns:a16="http://schemas.microsoft.com/office/drawing/2014/main" id="{87A11CD1-A157-46F4-96BC-A57F2FE0C537}"/>
              </a:ext>
            </a:extLst>
          </p:cNvPr>
          <p:cNvSpPr>
            <a:spLocks xmlns:a="http://schemas.openxmlformats.org/drawingml/2006/main" noGrp="1"/>
          </p:cNvSpPr>
          <p:nvPr/>
        </p:nvSpPr>
        <p:spPr>
          <a:xfrm xmlns:a="http://schemas.openxmlformats.org/drawingml/2006/main">
            <a:off x="6381750" y="53340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11827"/>
                </a:solidFill>
              </a:defRPr>
            </a:pPr>
            <a:r>
              <a:rPr sz="1275" b="0">
                <a:solidFill>
                  <a:srgbClr val="111827"/>
                </a:solidFill>
              </a:rPr>
              <a:t>클릭 이후 일부만 생성</a:t>
            </a:r>
          </a:p>
        </p:txBody>
      </p:sp>
      <p:sp>
        <p:nvSpPr>
          <p:cNvPr id="29" name="">
            <a:extLst xmlns:a="http://schemas.openxmlformats.org/drawingml/2006/main">
              <a:ext uri="{FF2B5EF4-FFF2-40B4-BE49-F238E27FC236}">
                <a16:creationId xmlns:a16="http://schemas.microsoft.com/office/drawing/2014/main" id="{8C1178B2-B38C-4395-859A-629FC7296FCA}"/>
              </a:ext>
            </a:extLst>
          </p:cNvPr>
          <p:cNvSpPr>
            <a:spLocks xmlns:a="http://schemas.openxmlformats.org/drawingml/2006/main" noGrp="1"/>
          </p:cNvSpPr>
          <p:nvPr/>
        </p:nvSpPr>
        <p:spPr>
          <a:xfrm xmlns:a="http://schemas.openxmlformats.org/drawingml/2006/main">
            <a:off x="685800" y="6115050"/>
            <a:ext cx="704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D64545"/>
                </a:solidFill>
              </a:defRPr>
            </a:pPr>
            <a:r>
              <a:rPr sz="1275" b="1">
                <a:solidFill>
                  <a:srgbClr val="D64545"/>
                </a:solidFill>
              </a:rPr>
              <a:t>HOTEL·ROOM은 기준정보로 유지하며 증강 대상에서 제외</a:t>
            </a:r>
          </a:p>
        </p:txBody>
      </p:sp>
    </p:spTree>
    <p:extLst>
      <p:ext uri="{BB962C8B-B14F-4D97-AF65-F5344CB8AC3E}">
        <p14:creationId xmlns:p14="http://schemas.microsoft.com/office/powerpoint/2010/main" val="184970689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66BB8B3-521A-4D40-847E-0DBC1132A468}"/>
              </a:ext>
            </a:extLst>
          </p:cNvPr>
          <p:cNvSpPr>
            <a:spLocks xmlns:a="http://schemas.openxmlformats.org/drawingml/2006/main" noGrp="1"/>
          </p:cNvSpPr>
          <p:nvPr/>
        </p:nvSpPr>
        <p:spPr>
          <a:xfrm xmlns:a="http://schemas.openxmlformats.org/drawingml/2006/main">
            <a:off x="685800" y="4000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2F80ED"/>
                </a:solidFill>
              </a:defRPr>
            </a:pPr>
            <a:r>
              <a:rPr sz="1050" b="1">
                <a:solidFill>
                  <a:srgbClr val="2F80ED"/>
                </a:solidFill>
              </a:rPr>
              <a:t>ROW LOGIC</a:t>
            </a:r>
          </a:p>
        </p:txBody>
      </p:sp>
      <p:sp>
        <p:nvSpPr>
          <p:cNvPr id="2" name="">
            <a:extLst xmlns:a="http://schemas.openxmlformats.org/drawingml/2006/main">
              <a:ext uri="{FF2B5EF4-FFF2-40B4-BE49-F238E27FC236}">
                <a16:creationId xmlns:a16="http://schemas.microsoft.com/office/drawing/2014/main" id="{C5F4A56F-19E6-48A5-B7D9-D98D70C26233}"/>
              </a:ext>
            </a:extLst>
          </p:cNvPr>
          <p:cNvSpPr>
            <a:spLocks xmlns:a="http://schemas.openxmlformats.org/drawingml/2006/main" noGrp="1"/>
          </p:cNvSpPr>
          <p:nvPr/>
        </p:nvSpPr>
        <p:spPr>
          <a:xfrm xmlns:a="http://schemas.openxmlformats.org/drawingml/2006/main">
            <a:off x="685800" y="762000"/>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11827"/>
                </a:solidFill>
              </a:defRPr>
            </a:pPr>
            <a:r>
              <a:rPr sz="2700" b="1">
                <a:solidFill>
                  <a:srgbClr val="111827"/>
                </a:solidFill>
              </a:rPr>
              <a:t>한 사용자의 연속 행동을 만들고, 결과는 확률로 결정한다</a:t>
            </a:r>
          </a:p>
        </p:txBody>
      </p:sp>
      <p:sp>
        <p:nvSpPr>
          <p:cNvPr id="3" name="">
            <a:extLst xmlns:a="http://schemas.openxmlformats.org/drawingml/2006/main">
              <a:ext uri="{FF2B5EF4-FFF2-40B4-BE49-F238E27FC236}">
                <a16:creationId xmlns:a16="http://schemas.microsoft.com/office/drawing/2014/main" id="{7ECE42CD-FC86-45DA-86C9-F9FAB5D762E1}"/>
              </a:ext>
            </a:extLst>
          </p:cNvPr>
          <p:cNvSpPr>
            <a:spLocks xmlns:a="http://schemas.openxmlformats.org/drawingml/2006/main" noGrp="1"/>
          </p:cNvSpPr>
          <p:nvPr/>
        </p:nvSpPr>
        <p:spPr>
          <a:xfrm xmlns:a="http://schemas.openxmlformats.org/drawingml/2006/main">
            <a:off x="685800" y="1504950"/>
            <a:ext cx="10820400" cy="0"/>
          </a:xfrm>
          <a:prstGeom xmlns:a="http://schemas.openxmlformats.org/drawingml/2006/main" prst="line">
            <a:avLst/>
          </a:prstGeom>
          <a:noFill xmlns:a="http://schemas.openxmlformats.org/drawingml/2006/main"/>
          <a:ln xmlns:a="http://schemas.openxmlformats.org/drawingml/2006/main" w="9525">
            <a:solidFill>
              <a:srgbClr val="CBD0D8"/>
            </a:solidFill>
            <a:prstDash val="solid"/>
          </a:ln>
        </p:spPr>
      </p:sp>
      <p:sp>
        <p:nvSpPr>
          <p:cNvPr id="4" name="">
            <a:extLst xmlns:a="http://schemas.openxmlformats.org/drawingml/2006/main">
              <a:ext uri="{FF2B5EF4-FFF2-40B4-BE49-F238E27FC236}">
                <a16:creationId xmlns:a16="http://schemas.microsoft.com/office/drawing/2014/main" id="{D509E288-2325-4476-BE1E-31D773699701}"/>
              </a:ext>
            </a:extLst>
          </p:cNvPr>
          <p:cNvSpPr>
            <a:spLocks xmlns:a="http://schemas.openxmlformats.org/drawingml/2006/main" noGrp="1"/>
          </p:cNvSpPr>
          <p:nvPr/>
        </p:nvSpPr>
        <p:spPr>
          <a:xfrm xmlns:a="http://schemas.openxmlformats.org/drawingml/2006/main">
            <a:off x="11144250" y="400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5B6472"/>
                </a:solidFill>
              </a:defRPr>
            </a:pPr>
            <a:r>
              <a:rPr sz="1050" b="1">
                <a:solidFill>
                  <a:srgbClr val="5B6472"/>
                </a:solidFill>
              </a:rPr>
              <a:t>10</a:t>
            </a:r>
          </a:p>
        </p:txBody>
      </p:sp>
      <p:sp>
        <p:nvSpPr>
          <p:cNvPr id="5" name="">
            <a:extLst xmlns:a="http://schemas.openxmlformats.org/drawingml/2006/main">
              <a:ext uri="{FF2B5EF4-FFF2-40B4-BE49-F238E27FC236}">
                <a16:creationId xmlns:a16="http://schemas.microsoft.com/office/drawing/2014/main" id="{323A9BB6-A947-4B4B-BE71-1689EEAC246E}"/>
              </a:ext>
            </a:extLst>
          </p:cNvPr>
          <p:cNvSpPr>
            <a:spLocks xmlns:a="http://schemas.openxmlformats.org/drawingml/2006/main" noGrp="1"/>
          </p:cNvSpPr>
          <p:nvPr/>
        </p:nvSpPr>
        <p:spPr>
          <a:xfrm xmlns:a="http://schemas.openxmlformats.org/drawingml/2006/main">
            <a:off x="704850" y="2000250"/>
            <a:ext cx="3143250" cy="2047875"/>
          </a:xfrm>
          <a:prstGeom xmlns:a="http://schemas.openxmlformats.org/drawingml/2006/main" prst="rect">
            <a:avLst/>
          </a:prstGeom>
          <a:solidFill xmlns:a="http://schemas.openxmlformats.org/drawingml/2006/main">
            <a:srgbClr val="FFF0F0"/>
          </a:solidFill>
          <a:ln xmlns:a="http://schemas.openxmlformats.org/drawingml/2006/main" w="9525">
            <a:solidFill>
              <a:srgbClr val="D64545"/>
            </a:solidFill>
            <a:prstDash val="solid"/>
          </a:ln>
        </p:spPr>
      </p:sp>
      <p:sp>
        <p:nvSpPr>
          <p:cNvPr id="6" name="">
            <a:extLst xmlns:a="http://schemas.openxmlformats.org/drawingml/2006/main">
              <a:ext uri="{FF2B5EF4-FFF2-40B4-BE49-F238E27FC236}">
                <a16:creationId xmlns:a16="http://schemas.microsoft.com/office/drawing/2014/main" id="{A570990B-902D-40E5-8407-EDFDE80241AD}"/>
              </a:ext>
            </a:extLst>
          </p:cNvPr>
          <p:cNvSpPr>
            <a:spLocks xmlns:a="http://schemas.openxmlformats.org/drawingml/2006/main" noGrp="1"/>
          </p:cNvSpPr>
          <p:nvPr/>
        </p:nvSpPr>
        <p:spPr>
          <a:xfrm xmlns:a="http://schemas.openxmlformats.org/drawingml/2006/main">
            <a:off x="933450" y="21907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2F80ED"/>
                </a:solidFill>
              </a:defRPr>
            </a:pPr>
            <a:r>
              <a:rPr sz="1350" b="1">
                <a:solidFill>
                  <a:srgbClr val="2F80ED"/>
                </a:solidFill>
              </a:rPr>
              <a:t>S001</a:t>
            </a:r>
          </a:p>
        </p:txBody>
      </p:sp>
      <p:sp>
        <p:nvSpPr>
          <p:cNvPr id="7" name="">
            <a:extLst xmlns:a="http://schemas.openxmlformats.org/drawingml/2006/main">
              <a:ext uri="{FF2B5EF4-FFF2-40B4-BE49-F238E27FC236}">
                <a16:creationId xmlns:a16="http://schemas.microsoft.com/office/drawing/2014/main" id="{BE9BF12D-17CC-4BD2-8845-69D4AA616D29}"/>
              </a:ext>
            </a:extLst>
          </p:cNvPr>
          <p:cNvSpPr>
            <a:spLocks xmlns:a="http://schemas.openxmlformats.org/drawingml/2006/main" noGrp="1"/>
          </p:cNvSpPr>
          <p:nvPr/>
        </p:nvSpPr>
        <p:spPr>
          <a:xfrm xmlns:a="http://schemas.openxmlformats.org/drawingml/2006/main">
            <a:off x="933450" y="2647950"/>
            <a:ext cx="266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11827"/>
                </a:solidFill>
              </a:defRPr>
            </a:pPr>
            <a:r>
              <a:rPr sz="1650" b="1">
                <a:solidFill>
                  <a:srgbClr val="111827"/>
                </a:solidFill>
              </a:rPr>
              <a:t>도쿄 · 4성 · 20만원</a:t>
            </a:r>
          </a:p>
        </p:txBody>
      </p:sp>
      <p:sp>
        <p:nvSpPr>
          <p:cNvPr id="8" name="">
            <a:extLst xmlns:a="http://schemas.openxmlformats.org/drawingml/2006/main">
              <a:ext uri="{FF2B5EF4-FFF2-40B4-BE49-F238E27FC236}">
                <a16:creationId xmlns:a16="http://schemas.microsoft.com/office/drawing/2014/main" id="{24E62E82-28ED-4818-A841-3C91C40375BB}"/>
              </a:ext>
            </a:extLst>
          </p:cNvPr>
          <p:cNvSpPr>
            <a:spLocks xmlns:a="http://schemas.openxmlformats.org/drawingml/2006/main" noGrp="1"/>
          </p:cNvSpPr>
          <p:nvPr/>
        </p:nvSpPr>
        <p:spPr>
          <a:xfrm xmlns:a="http://schemas.openxmlformats.org/drawingml/2006/main">
            <a:off x="933450" y="3286125"/>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D64545"/>
                </a:solidFill>
              </a:defRPr>
            </a:pPr>
            <a:r>
              <a:rPr sz="1500" b="1">
                <a:solidFill>
                  <a:srgbClr val="D64545"/>
                </a:solidFill>
              </a:rPr>
              <a:t>0건</a:t>
            </a:r>
          </a:p>
        </p:txBody>
      </p:sp>
      <p:sp>
        <p:nvSpPr>
          <p:cNvPr id="9" name="">
            <a:extLst xmlns:a="http://schemas.openxmlformats.org/drawingml/2006/main">
              <a:ext uri="{FF2B5EF4-FFF2-40B4-BE49-F238E27FC236}">
                <a16:creationId xmlns:a16="http://schemas.microsoft.com/office/drawing/2014/main" id="{FCABC3C2-40DB-4FEC-B889-C5D29EDFF948}"/>
              </a:ext>
            </a:extLst>
          </p:cNvPr>
          <p:cNvSpPr>
            <a:spLocks xmlns:a="http://schemas.openxmlformats.org/drawingml/2006/main" noGrp="1"/>
          </p:cNvSpPr>
          <p:nvPr/>
        </p:nvSpPr>
        <p:spPr>
          <a:xfrm xmlns:a="http://schemas.openxmlformats.org/drawingml/2006/main">
            <a:off x="933450" y="3667125"/>
            <a:ext cx="266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재검색</a:t>
            </a:r>
          </a:p>
        </p:txBody>
      </p:sp>
      <p:sp>
        <p:nvSpPr>
          <p:cNvPr id="10" name="">
            <a:extLst xmlns:a="http://schemas.openxmlformats.org/drawingml/2006/main">
              <a:ext uri="{FF2B5EF4-FFF2-40B4-BE49-F238E27FC236}">
                <a16:creationId xmlns:a16="http://schemas.microsoft.com/office/drawing/2014/main" id="{FFD46427-32A9-415F-B36F-78120FBCA522}"/>
              </a:ext>
            </a:extLst>
          </p:cNvPr>
          <p:cNvSpPr>
            <a:spLocks xmlns:a="http://schemas.openxmlformats.org/drawingml/2006/main" noGrp="1"/>
          </p:cNvSpPr>
          <p:nvPr/>
        </p:nvSpPr>
        <p:spPr>
          <a:xfrm xmlns:a="http://schemas.openxmlformats.org/drawingml/2006/main">
            <a:off x="4371975" y="2000250"/>
            <a:ext cx="3143250" cy="2047875"/>
          </a:xfrm>
          <a:prstGeom xmlns:a="http://schemas.openxmlformats.org/drawingml/2006/main" prst="rect">
            <a:avLst/>
          </a:prstGeom>
          <a:solidFill xmlns:a="http://schemas.openxmlformats.org/drawingml/2006/main">
            <a:srgbClr val="EAF7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F57AF7C-A1A3-45D5-9693-A2B65AC257AD}"/>
              </a:ext>
            </a:extLst>
          </p:cNvPr>
          <p:cNvSpPr>
            <a:spLocks xmlns:a="http://schemas.openxmlformats.org/drawingml/2006/main" noGrp="1"/>
          </p:cNvSpPr>
          <p:nvPr/>
        </p:nvSpPr>
        <p:spPr>
          <a:xfrm xmlns:a="http://schemas.openxmlformats.org/drawingml/2006/main">
            <a:off x="4600575" y="21907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2F80ED"/>
                </a:solidFill>
              </a:defRPr>
            </a:pPr>
            <a:r>
              <a:rPr sz="1350" b="1">
                <a:solidFill>
                  <a:srgbClr val="2F80ED"/>
                </a:solidFill>
              </a:rPr>
              <a:t>S002</a:t>
            </a:r>
          </a:p>
        </p:txBody>
      </p:sp>
      <p:sp>
        <p:nvSpPr>
          <p:cNvPr id="12" name="">
            <a:extLst xmlns:a="http://schemas.openxmlformats.org/drawingml/2006/main">
              <a:ext uri="{FF2B5EF4-FFF2-40B4-BE49-F238E27FC236}">
                <a16:creationId xmlns:a16="http://schemas.microsoft.com/office/drawing/2014/main" id="{C7275817-D994-42D5-BB88-AC5305E867AD}"/>
              </a:ext>
            </a:extLst>
          </p:cNvPr>
          <p:cNvSpPr>
            <a:spLocks xmlns:a="http://schemas.openxmlformats.org/drawingml/2006/main" noGrp="1"/>
          </p:cNvSpPr>
          <p:nvPr/>
        </p:nvSpPr>
        <p:spPr>
          <a:xfrm xmlns:a="http://schemas.openxmlformats.org/drawingml/2006/main">
            <a:off x="4600575" y="2647950"/>
            <a:ext cx="266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11827"/>
                </a:solidFill>
              </a:defRPr>
            </a:pPr>
            <a:r>
              <a:rPr sz="1650" b="1">
                <a:solidFill>
                  <a:srgbClr val="111827"/>
                </a:solidFill>
              </a:rPr>
              <a:t>가격 25만원으로 완화</a:t>
            </a:r>
          </a:p>
        </p:txBody>
      </p:sp>
      <p:sp>
        <p:nvSpPr>
          <p:cNvPr id="13" name="">
            <a:extLst xmlns:a="http://schemas.openxmlformats.org/drawingml/2006/main">
              <a:ext uri="{FF2B5EF4-FFF2-40B4-BE49-F238E27FC236}">
                <a16:creationId xmlns:a16="http://schemas.microsoft.com/office/drawing/2014/main" id="{1C1C349B-6EC4-45DE-B847-D552A52BBBD5}"/>
              </a:ext>
            </a:extLst>
          </p:cNvPr>
          <p:cNvSpPr>
            <a:spLocks xmlns:a="http://schemas.openxmlformats.org/drawingml/2006/main" noGrp="1"/>
          </p:cNvSpPr>
          <p:nvPr/>
        </p:nvSpPr>
        <p:spPr>
          <a:xfrm xmlns:a="http://schemas.openxmlformats.org/drawingml/2006/main">
            <a:off x="4600575" y="3286125"/>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68A68"/>
                </a:solidFill>
              </a:defRPr>
            </a:pPr>
            <a:r>
              <a:rPr sz="1500" b="1">
                <a:solidFill>
                  <a:srgbClr val="168A68"/>
                </a:solidFill>
              </a:rPr>
              <a:t>결과 있음</a:t>
            </a:r>
          </a:p>
        </p:txBody>
      </p:sp>
      <p:sp>
        <p:nvSpPr>
          <p:cNvPr id="14" name="">
            <a:extLst xmlns:a="http://schemas.openxmlformats.org/drawingml/2006/main">
              <a:ext uri="{FF2B5EF4-FFF2-40B4-BE49-F238E27FC236}">
                <a16:creationId xmlns:a16="http://schemas.microsoft.com/office/drawing/2014/main" id="{0D0B870A-146A-4AB0-B535-FF90F903A440}"/>
              </a:ext>
            </a:extLst>
          </p:cNvPr>
          <p:cNvSpPr>
            <a:spLocks xmlns:a="http://schemas.openxmlformats.org/drawingml/2006/main" noGrp="1"/>
          </p:cNvSpPr>
          <p:nvPr/>
        </p:nvSpPr>
        <p:spPr>
          <a:xfrm xmlns:a="http://schemas.openxmlformats.org/drawingml/2006/main">
            <a:off x="4600575" y="3667125"/>
            <a:ext cx="266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호텔 클릭</a:t>
            </a:r>
          </a:p>
        </p:txBody>
      </p:sp>
      <p:sp>
        <p:nvSpPr>
          <p:cNvPr id="15" name="">
            <a:extLst xmlns:a="http://schemas.openxmlformats.org/drawingml/2006/main">
              <a:ext uri="{FF2B5EF4-FFF2-40B4-BE49-F238E27FC236}">
                <a16:creationId xmlns:a16="http://schemas.microsoft.com/office/drawing/2014/main" id="{1BA3407B-6A7C-4C45-BFD0-6604B4484582}"/>
              </a:ext>
            </a:extLst>
          </p:cNvPr>
          <p:cNvSpPr>
            <a:spLocks xmlns:a="http://schemas.openxmlformats.org/drawingml/2006/main" noGrp="1"/>
          </p:cNvSpPr>
          <p:nvPr/>
        </p:nvSpPr>
        <p:spPr>
          <a:xfrm xmlns:a="http://schemas.openxmlformats.org/drawingml/2006/main">
            <a:off x="8039100" y="2000250"/>
            <a:ext cx="3143250" cy="2047875"/>
          </a:xfrm>
          <a:prstGeom xmlns:a="http://schemas.openxmlformats.org/drawingml/2006/main" prst="rect">
            <a:avLst/>
          </a:prstGeom>
          <a:solidFill xmlns:a="http://schemas.openxmlformats.org/drawingml/2006/main">
            <a:srgbClr val="F2F4F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E6F7848-A3F4-4F51-AF29-20EE01675E8F}"/>
              </a:ext>
            </a:extLst>
          </p:cNvPr>
          <p:cNvSpPr>
            <a:spLocks xmlns:a="http://schemas.openxmlformats.org/drawingml/2006/main" noGrp="1"/>
          </p:cNvSpPr>
          <p:nvPr/>
        </p:nvSpPr>
        <p:spPr>
          <a:xfrm xmlns:a="http://schemas.openxmlformats.org/drawingml/2006/main">
            <a:off x="8267700" y="21907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2F80ED"/>
                </a:solidFill>
              </a:defRPr>
            </a:pPr>
            <a:r>
              <a:rPr sz="1350" b="1">
                <a:solidFill>
                  <a:srgbClr val="2F80ED"/>
                </a:solidFill>
              </a:rPr>
              <a:t>S003</a:t>
            </a:r>
          </a:p>
        </p:txBody>
      </p:sp>
      <p:sp>
        <p:nvSpPr>
          <p:cNvPr id="17" name="">
            <a:extLst xmlns:a="http://schemas.openxmlformats.org/drawingml/2006/main">
              <a:ext uri="{FF2B5EF4-FFF2-40B4-BE49-F238E27FC236}">
                <a16:creationId xmlns:a16="http://schemas.microsoft.com/office/drawing/2014/main" id="{F7D4A4AC-B392-4CD5-9B8D-C93A169F16BD}"/>
              </a:ext>
            </a:extLst>
          </p:cNvPr>
          <p:cNvSpPr>
            <a:spLocks xmlns:a="http://schemas.openxmlformats.org/drawingml/2006/main" noGrp="1"/>
          </p:cNvSpPr>
          <p:nvPr/>
        </p:nvSpPr>
        <p:spPr>
          <a:xfrm xmlns:a="http://schemas.openxmlformats.org/drawingml/2006/main">
            <a:off x="8267700" y="2647950"/>
            <a:ext cx="266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11827"/>
                </a:solidFill>
              </a:defRPr>
            </a:pPr>
            <a:r>
              <a:rPr sz="1650" b="1">
                <a:solidFill>
                  <a:srgbClr val="111827"/>
                </a:solidFill>
              </a:rPr>
              <a:t>동일 지역 · 날짜 변경</a:t>
            </a:r>
          </a:p>
        </p:txBody>
      </p:sp>
      <p:sp>
        <p:nvSpPr>
          <p:cNvPr id="18" name="">
            <a:extLst xmlns:a="http://schemas.openxmlformats.org/drawingml/2006/main">
              <a:ext uri="{FF2B5EF4-FFF2-40B4-BE49-F238E27FC236}">
                <a16:creationId xmlns:a16="http://schemas.microsoft.com/office/drawing/2014/main" id="{CB57EABD-7244-4949-BC0E-28EA3AB9BAF5}"/>
              </a:ext>
            </a:extLst>
          </p:cNvPr>
          <p:cNvSpPr>
            <a:spLocks xmlns:a="http://schemas.openxmlformats.org/drawingml/2006/main" noGrp="1"/>
          </p:cNvSpPr>
          <p:nvPr/>
        </p:nvSpPr>
        <p:spPr>
          <a:xfrm xmlns:a="http://schemas.openxmlformats.org/drawingml/2006/main">
            <a:off x="8267700" y="3286125"/>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68A68"/>
                </a:solidFill>
              </a:defRPr>
            </a:pPr>
            <a:r>
              <a:rPr sz="1500" b="1">
                <a:solidFill>
                  <a:srgbClr val="168A68"/>
                </a:solidFill>
              </a:rPr>
              <a:t>결과 있음</a:t>
            </a:r>
          </a:p>
        </p:txBody>
      </p:sp>
      <p:sp>
        <p:nvSpPr>
          <p:cNvPr id="19" name="">
            <a:extLst xmlns:a="http://schemas.openxmlformats.org/drawingml/2006/main">
              <a:ext uri="{FF2B5EF4-FFF2-40B4-BE49-F238E27FC236}">
                <a16:creationId xmlns:a16="http://schemas.microsoft.com/office/drawing/2014/main" id="{D0632FE9-4C79-4BC8-8EC3-92321B147CF6}"/>
              </a:ext>
            </a:extLst>
          </p:cNvPr>
          <p:cNvSpPr>
            <a:spLocks xmlns:a="http://schemas.openxmlformats.org/drawingml/2006/main" noGrp="1"/>
          </p:cNvSpPr>
          <p:nvPr/>
        </p:nvSpPr>
        <p:spPr>
          <a:xfrm xmlns:a="http://schemas.openxmlformats.org/drawingml/2006/main">
            <a:off x="8267700" y="3667125"/>
            <a:ext cx="266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종료</a:t>
            </a:r>
          </a:p>
        </p:txBody>
      </p:sp>
      <p:sp>
        <p:nvSpPr>
          <p:cNvPr id="20" name="">
            <a:extLst xmlns:a="http://schemas.openxmlformats.org/drawingml/2006/main">
              <a:ext uri="{FF2B5EF4-FFF2-40B4-BE49-F238E27FC236}">
                <a16:creationId xmlns:a16="http://schemas.microsoft.com/office/drawing/2014/main" id="{9797BDA3-930A-406D-AECC-E792D549449E}"/>
              </a:ext>
            </a:extLst>
          </p:cNvPr>
          <p:cNvSpPr>
            <a:spLocks xmlns:a="http://schemas.openxmlformats.org/drawingml/2006/main" noGrp="1"/>
          </p:cNvSpPr>
          <p:nvPr/>
        </p:nvSpPr>
        <p:spPr>
          <a:xfrm xmlns:a="http://schemas.openxmlformats.org/drawingml/2006/main">
            <a:off x="704850" y="46482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2F80ED"/>
                </a:solidFill>
              </a:defRPr>
            </a:pPr>
            <a:r>
              <a:rPr sz="1650" b="1">
                <a:solidFill>
                  <a:srgbClr val="2F80ED"/>
                </a:solidFill>
              </a:rPr>
              <a:t>생성 원칙</a:t>
            </a:r>
          </a:p>
        </p:txBody>
      </p:sp>
      <p:sp>
        <p:nvSpPr>
          <p:cNvPr id="21" name="">
            <a:extLst xmlns:a="http://schemas.openxmlformats.org/drawingml/2006/main">
              <a:ext uri="{FF2B5EF4-FFF2-40B4-BE49-F238E27FC236}">
                <a16:creationId xmlns:a16="http://schemas.microsoft.com/office/drawing/2014/main" id="{B4C2D3AE-4CCE-4AB2-A616-D34062C4F996}"/>
              </a:ext>
            </a:extLst>
          </p:cNvPr>
          <p:cNvSpPr>
            <a:spLocks xmlns:a="http://schemas.openxmlformats.org/drawingml/2006/main" noGrp="1"/>
          </p:cNvSpPr>
          <p:nvPr/>
        </p:nvSpPr>
        <p:spPr>
          <a:xfrm xmlns:a="http://schemas.openxmlformats.org/drawingml/2006/main">
            <a:off x="704850" y="5095875"/>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11827"/>
                </a:solidFill>
              </a:defRPr>
            </a:pPr>
            <a:r>
              <a:rPr sz="1650" b="1">
                <a:solidFill>
                  <a:srgbClr val="111827"/>
                </a:solidFill>
              </a:rPr>
              <a:t>① 기존 조건 1~2개만 변경   ② 불일치=무조건 이탈 금지   ③ 세그먼트별 확률 범위만 다르게 설정</a:t>
            </a:r>
          </a:p>
        </p:txBody>
      </p:sp>
      <p:sp>
        <p:nvSpPr>
          <p:cNvPr id="22" name="">
            <a:extLst xmlns:a="http://schemas.openxmlformats.org/drawingml/2006/main">
              <a:ext uri="{FF2B5EF4-FFF2-40B4-BE49-F238E27FC236}">
                <a16:creationId xmlns:a16="http://schemas.microsoft.com/office/drawing/2014/main" id="{8EEC6ACC-7424-4243-A962-C206C7A7D525}"/>
              </a:ext>
            </a:extLst>
          </p:cNvPr>
          <p:cNvSpPr>
            <a:spLocks xmlns:a="http://schemas.openxmlformats.org/drawingml/2006/main" noGrp="1"/>
          </p:cNvSpPr>
          <p:nvPr/>
        </p:nvSpPr>
        <p:spPr>
          <a:xfrm xmlns:a="http://schemas.openxmlformats.org/drawingml/2006/main">
            <a:off x="704850" y="5695950"/>
            <a:ext cx="1000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D64545"/>
                </a:solidFill>
              </a:defRPr>
            </a:pPr>
            <a:r>
              <a:rPr sz="1275" b="0">
                <a:solidFill>
                  <a:srgbClr val="D64545"/>
                </a:solidFill>
              </a:rPr>
              <a:t>날짜 예약 가능성은 임의 ROOM 데이터이므로 일치도 계산에서 제외하고 한계로 명시</a:t>
            </a:r>
          </a:p>
        </p:txBody>
      </p:sp>
    </p:spTree>
    <p:extLst>
      <p:ext uri="{BB962C8B-B14F-4D97-AF65-F5344CB8AC3E}">
        <p14:creationId xmlns:p14="http://schemas.microsoft.com/office/powerpoint/2010/main" val="126946626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AEEEC111-43F0-472C-B6EE-E8071F67487A}"/>
              </a:ext>
            </a:extLst>
          </p:cNvPr>
          <p:cNvSpPr>
            <a:spLocks xmlns:a="http://schemas.openxmlformats.org/drawingml/2006/main" noGrp="1"/>
          </p:cNvSpPr>
          <p:nvPr/>
        </p:nvSpPr>
        <p:spPr>
          <a:xfrm xmlns:a="http://schemas.openxmlformats.org/drawingml/2006/main">
            <a:off x="685800" y="4000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2F80ED"/>
                </a:solidFill>
              </a:defRPr>
            </a:pPr>
            <a:r>
              <a:rPr sz="1050" b="1">
                <a:solidFill>
                  <a:srgbClr val="2F80ED"/>
                </a:solidFill>
              </a:rPr>
              <a:t>LIMITS</a:t>
            </a:r>
          </a:p>
        </p:txBody>
      </p:sp>
      <p:sp>
        <p:nvSpPr>
          <p:cNvPr id="2" name="">
            <a:extLst xmlns:a="http://schemas.openxmlformats.org/drawingml/2006/main">
              <a:ext uri="{FF2B5EF4-FFF2-40B4-BE49-F238E27FC236}">
                <a16:creationId xmlns:a16="http://schemas.microsoft.com/office/drawing/2014/main" id="{AED89E78-C110-4B7F-8415-6C32E2256612}"/>
              </a:ext>
            </a:extLst>
          </p:cNvPr>
          <p:cNvSpPr>
            <a:spLocks xmlns:a="http://schemas.openxmlformats.org/drawingml/2006/main" noGrp="1"/>
          </p:cNvSpPr>
          <p:nvPr/>
        </p:nvSpPr>
        <p:spPr>
          <a:xfrm xmlns:a="http://schemas.openxmlformats.org/drawingml/2006/main">
            <a:off x="685800" y="762000"/>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11827"/>
                </a:solidFill>
              </a:defRPr>
            </a:pPr>
            <a:r>
              <a:rPr sz="2700" b="1">
                <a:solidFill>
                  <a:srgbClr val="111827"/>
                </a:solidFill>
              </a:rPr>
              <a:t>증강 검증 결과는 실제 서비스의 인과효과를 의미하지 않는다</a:t>
            </a:r>
          </a:p>
        </p:txBody>
      </p:sp>
      <p:sp>
        <p:nvSpPr>
          <p:cNvPr id="3" name="">
            <a:extLst xmlns:a="http://schemas.openxmlformats.org/drawingml/2006/main">
              <a:ext uri="{FF2B5EF4-FFF2-40B4-BE49-F238E27FC236}">
                <a16:creationId xmlns:a16="http://schemas.microsoft.com/office/drawing/2014/main" id="{FBDAECF1-CA2A-4C63-A48E-D21177474548}"/>
              </a:ext>
            </a:extLst>
          </p:cNvPr>
          <p:cNvSpPr>
            <a:spLocks xmlns:a="http://schemas.openxmlformats.org/drawingml/2006/main" noGrp="1"/>
          </p:cNvSpPr>
          <p:nvPr/>
        </p:nvSpPr>
        <p:spPr>
          <a:xfrm xmlns:a="http://schemas.openxmlformats.org/drawingml/2006/main">
            <a:off x="685800" y="1504950"/>
            <a:ext cx="10820400" cy="0"/>
          </a:xfrm>
          <a:prstGeom xmlns:a="http://schemas.openxmlformats.org/drawingml/2006/main" prst="line">
            <a:avLst/>
          </a:prstGeom>
          <a:noFill xmlns:a="http://schemas.openxmlformats.org/drawingml/2006/main"/>
          <a:ln xmlns:a="http://schemas.openxmlformats.org/drawingml/2006/main" w="9525">
            <a:solidFill>
              <a:srgbClr val="CBD0D8"/>
            </a:solidFill>
            <a:prstDash val="solid"/>
          </a:ln>
        </p:spPr>
      </p:sp>
      <p:sp>
        <p:nvSpPr>
          <p:cNvPr id="4" name="">
            <a:extLst xmlns:a="http://schemas.openxmlformats.org/drawingml/2006/main">
              <a:ext uri="{FF2B5EF4-FFF2-40B4-BE49-F238E27FC236}">
                <a16:creationId xmlns:a16="http://schemas.microsoft.com/office/drawing/2014/main" id="{BCBBF744-B815-40DB-BADF-9D0D30F7A772}"/>
              </a:ext>
            </a:extLst>
          </p:cNvPr>
          <p:cNvSpPr>
            <a:spLocks xmlns:a="http://schemas.openxmlformats.org/drawingml/2006/main" noGrp="1"/>
          </p:cNvSpPr>
          <p:nvPr/>
        </p:nvSpPr>
        <p:spPr>
          <a:xfrm xmlns:a="http://schemas.openxmlformats.org/drawingml/2006/main">
            <a:off x="11144250" y="400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5B6472"/>
                </a:solidFill>
              </a:defRPr>
            </a:pPr>
            <a:r>
              <a:rPr sz="1050" b="1">
                <a:solidFill>
                  <a:srgbClr val="5B6472"/>
                </a:solidFill>
              </a:rPr>
              <a:t>11</a:t>
            </a:r>
          </a:p>
        </p:txBody>
      </p:sp>
      <p:sp>
        <p:nvSpPr>
          <p:cNvPr id="5" name="">
            <a:extLst xmlns:a="http://schemas.openxmlformats.org/drawingml/2006/main">
              <a:ext uri="{FF2B5EF4-FFF2-40B4-BE49-F238E27FC236}">
                <a16:creationId xmlns:a16="http://schemas.microsoft.com/office/drawing/2014/main" id="{18DCB79C-D2C9-4E41-A17D-6B259BF6A66A}"/>
              </a:ext>
            </a:extLst>
          </p:cNvPr>
          <p:cNvSpPr>
            <a:spLocks xmlns:a="http://schemas.openxmlformats.org/drawingml/2006/main" noGrp="1"/>
          </p:cNvSpPr>
          <p:nvPr/>
        </p:nvSpPr>
        <p:spPr>
          <a:xfrm xmlns:a="http://schemas.openxmlformats.org/drawingml/2006/main">
            <a:off x="723900" y="17907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2F80ED"/>
                </a:solidFill>
              </a:defRPr>
            </a:pPr>
            <a:r>
              <a:rPr sz="1650" b="1">
                <a:solidFill>
                  <a:srgbClr val="2F80ED"/>
                </a:solidFill>
              </a:rPr>
              <a:t>가설 검증의 한계</a:t>
            </a:r>
          </a:p>
        </p:txBody>
      </p:sp>
      <p:sp>
        <p:nvSpPr>
          <p:cNvPr id="6" name="">
            <a:extLst xmlns:a="http://schemas.openxmlformats.org/drawingml/2006/main">
              <a:ext uri="{FF2B5EF4-FFF2-40B4-BE49-F238E27FC236}">
                <a16:creationId xmlns:a16="http://schemas.microsoft.com/office/drawing/2014/main" id="{A77D1F08-CBE5-4B2F-8BDE-CC4B56FEA523}"/>
              </a:ext>
            </a:extLst>
          </p:cNvPr>
          <p:cNvSpPr>
            <a:spLocks xmlns:a="http://schemas.openxmlformats.org/drawingml/2006/main" noGrp="1"/>
          </p:cNvSpPr>
          <p:nvPr/>
        </p:nvSpPr>
        <p:spPr>
          <a:xfrm xmlns:a="http://schemas.openxmlformats.org/drawingml/2006/main">
            <a:off x="6286500" y="17907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2F80ED"/>
                </a:solidFill>
              </a:defRPr>
            </a:pPr>
            <a:r>
              <a:rPr sz="1650" b="1">
                <a:solidFill>
                  <a:srgbClr val="2F80ED"/>
                </a:solidFill>
              </a:rPr>
              <a:t>추천 실험의 한계</a:t>
            </a:r>
          </a:p>
        </p:txBody>
      </p:sp>
      <p:sp>
        <p:nvSpPr>
          <p:cNvPr id="7" name="">
            <a:extLst xmlns:a="http://schemas.openxmlformats.org/drawingml/2006/main">
              <a:ext uri="{FF2B5EF4-FFF2-40B4-BE49-F238E27FC236}">
                <a16:creationId xmlns:a16="http://schemas.microsoft.com/office/drawing/2014/main" id="{64795084-CF3A-4A0E-9E6B-7916FA885776}"/>
              </a:ext>
            </a:extLst>
          </p:cNvPr>
          <p:cNvSpPr>
            <a:spLocks xmlns:a="http://schemas.openxmlformats.org/drawingml/2006/main" noGrp="1"/>
          </p:cNvSpPr>
          <p:nvPr/>
        </p:nvSpPr>
        <p:spPr>
          <a:xfrm xmlns:a="http://schemas.openxmlformats.org/drawingml/2006/main">
            <a:off x="742950" y="2286000"/>
            <a:ext cx="333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D64545"/>
                </a:solidFill>
              </a:defRPr>
            </a:pPr>
            <a:r>
              <a:rPr sz="1350" b="1">
                <a:solidFill>
                  <a:srgbClr val="D64545"/>
                </a:solidFill>
              </a:rPr>
              <a:t>1</a:t>
            </a:r>
          </a:p>
        </p:txBody>
      </p:sp>
      <p:sp>
        <p:nvSpPr>
          <p:cNvPr id="8" name="">
            <a:extLst xmlns:a="http://schemas.openxmlformats.org/drawingml/2006/main">
              <a:ext uri="{FF2B5EF4-FFF2-40B4-BE49-F238E27FC236}">
                <a16:creationId xmlns:a16="http://schemas.microsoft.com/office/drawing/2014/main" id="{B20D18B8-CAC7-4DD6-B226-0A93A9F7CFB6}"/>
              </a:ext>
            </a:extLst>
          </p:cNvPr>
          <p:cNvSpPr>
            <a:spLocks xmlns:a="http://schemas.openxmlformats.org/drawingml/2006/main" noGrp="1"/>
          </p:cNvSpPr>
          <p:nvPr/>
        </p:nvSpPr>
        <p:spPr>
          <a:xfrm xmlns:a="http://schemas.openxmlformats.org/drawingml/2006/main">
            <a:off x="1190625" y="228600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11827"/>
                </a:solidFill>
              </a:defRPr>
            </a:pPr>
            <a:r>
              <a:rPr sz="1425" b="1">
                <a:solidFill>
                  <a:srgbClr val="111827"/>
                </a:solidFill>
              </a:rPr>
              <a:t>순환 검증 위험</a:t>
            </a:r>
          </a:p>
        </p:txBody>
      </p:sp>
      <p:sp>
        <p:nvSpPr>
          <p:cNvPr id="9" name="">
            <a:extLst xmlns:a="http://schemas.openxmlformats.org/drawingml/2006/main">
              <a:ext uri="{FF2B5EF4-FFF2-40B4-BE49-F238E27FC236}">
                <a16:creationId xmlns:a16="http://schemas.microsoft.com/office/drawing/2014/main" id="{0C067538-E7DF-469C-A90F-33F9E523C506}"/>
              </a:ext>
            </a:extLst>
          </p:cNvPr>
          <p:cNvSpPr>
            <a:spLocks xmlns:a="http://schemas.openxmlformats.org/drawingml/2006/main" noGrp="1"/>
          </p:cNvSpPr>
          <p:nvPr/>
        </p:nvSpPr>
        <p:spPr>
          <a:xfrm xmlns:a="http://schemas.openxmlformats.org/drawingml/2006/main">
            <a:off x="2952750" y="2266950"/>
            <a:ext cx="2714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B6472"/>
                </a:solidFill>
              </a:defRPr>
            </a:pPr>
            <a:r>
              <a:rPr sz="1200" b="0">
                <a:solidFill>
                  <a:srgbClr val="5B6472"/>
                </a:solidFill>
              </a:rPr>
              <a:t>현재 결과로 확률을 만들고 같은 결과를 검증할 수 있음</a:t>
            </a:r>
          </a:p>
        </p:txBody>
      </p:sp>
      <p:sp>
        <p:nvSpPr>
          <p:cNvPr id="10" name="">
            <a:extLst xmlns:a="http://schemas.openxmlformats.org/drawingml/2006/main">
              <a:ext uri="{FF2B5EF4-FFF2-40B4-BE49-F238E27FC236}">
                <a16:creationId xmlns:a16="http://schemas.microsoft.com/office/drawing/2014/main" id="{01A06090-04E2-4EBA-B923-395D3D174BF6}"/>
              </a:ext>
            </a:extLst>
          </p:cNvPr>
          <p:cNvSpPr>
            <a:spLocks xmlns:a="http://schemas.openxmlformats.org/drawingml/2006/main" noGrp="1"/>
          </p:cNvSpPr>
          <p:nvPr/>
        </p:nvSpPr>
        <p:spPr>
          <a:xfrm xmlns:a="http://schemas.openxmlformats.org/drawingml/2006/main">
            <a:off x="742950" y="3171825"/>
            <a:ext cx="333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D64545"/>
                </a:solidFill>
              </a:defRPr>
            </a:pPr>
            <a:r>
              <a:rPr sz="1350" b="1">
                <a:solidFill>
                  <a:srgbClr val="D64545"/>
                </a:solidFill>
              </a:rPr>
              <a:t>2</a:t>
            </a:r>
          </a:p>
        </p:txBody>
      </p:sp>
      <p:sp>
        <p:nvSpPr>
          <p:cNvPr id="11" name="">
            <a:extLst xmlns:a="http://schemas.openxmlformats.org/drawingml/2006/main">
              <a:ext uri="{FF2B5EF4-FFF2-40B4-BE49-F238E27FC236}">
                <a16:creationId xmlns:a16="http://schemas.microsoft.com/office/drawing/2014/main" id="{2904D3C5-A964-4A62-A85C-981ECC81163D}"/>
              </a:ext>
            </a:extLst>
          </p:cNvPr>
          <p:cNvSpPr>
            <a:spLocks xmlns:a="http://schemas.openxmlformats.org/drawingml/2006/main" noGrp="1"/>
          </p:cNvSpPr>
          <p:nvPr/>
        </p:nvSpPr>
        <p:spPr>
          <a:xfrm xmlns:a="http://schemas.openxmlformats.org/drawingml/2006/main">
            <a:off x="1190625" y="317182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11827"/>
                </a:solidFill>
              </a:defRPr>
            </a:pPr>
            <a:r>
              <a:rPr sz="1425" b="1">
                <a:solidFill>
                  <a:srgbClr val="111827"/>
                </a:solidFill>
              </a:rPr>
              <a:t>원표본 의존</a:t>
            </a:r>
          </a:p>
        </p:txBody>
      </p:sp>
      <p:sp>
        <p:nvSpPr>
          <p:cNvPr id="12" name="">
            <a:extLst xmlns:a="http://schemas.openxmlformats.org/drawingml/2006/main">
              <a:ext uri="{FF2B5EF4-FFF2-40B4-BE49-F238E27FC236}">
                <a16:creationId xmlns:a16="http://schemas.microsoft.com/office/drawing/2014/main" id="{DC07A75B-28C4-421E-9583-AAA8AD74B545}"/>
              </a:ext>
            </a:extLst>
          </p:cNvPr>
          <p:cNvSpPr>
            <a:spLocks xmlns:a="http://schemas.openxmlformats.org/drawingml/2006/main" noGrp="1"/>
          </p:cNvSpPr>
          <p:nvPr/>
        </p:nvSpPr>
        <p:spPr>
          <a:xfrm xmlns:a="http://schemas.openxmlformats.org/drawingml/2006/main">
            <a:off x="2952750" y="3152775"/>
            <a:ext cx="2714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B6472"/>
                </a:solidFill>
              </a:defRPr>
            </a:pPr>
            <a:r>
              <a:rPr sz="1200" b="0">
                <a:solidFill>
                  <a:srgbClr val="5B6472"/>
                </a:solidFill>
              </a:rPr>
              <a:t>68명·5개 지역의 편향이 증강 규칙에 남을 수 있음</a:t>
            </a:r>
          </a:p>
        </p:txBody>
      </p:sp>
      <p:sp>
        <p:nvSpPr>
          <p:cNvPr id="13" name="">
            <a:extLst xmlns:a="http://schemas.openxmlformats.org/drawingml/2006/main">
              <a:ext uri="{FF2B5EF4-FFF2-40B4-BE49-F238E27FC236}">
                <a16:creationId xmlns:a16="http://schemas.microsoft.com/office/drawing/2014/main" id="{5D93BDCF-9A0E-4DF5-A66D-68F237835F85}"/>
              </a:ext>
            </a:extLst>
          </p:cNvPr>
          <p:cNvSpPr>
            <a:spLocks xmlns:a="http://schemas.openxmlformats.org/drawingml/2006/main" noGrp="1"/>
          </p:cNvSpPr>
          <p:nvPr/>
        </p:nvSpPr>
        <p:spPr>
          <a:xfrm xmlns:a="http://schemas.openxmlformats.org/drawingml/2006/main">
            <a:off x="742950" y="4057650"/>
            <a:ext cx="333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D64545"/>
                </a:solidFill>
              </a:defRPr>
            </a:pPr>
            <a:r>
              <a:rPr sz="1350" b="1">
                <a:solidFill>
                  <a:srgbClr val="D64545"/>
                </a:solidFill>
              </a:rPr>
              <a:t>3</a:t>
            </a:r>
          </a:p>
        </p:txBody>
      </p:sp>
      <p:sp>
        <p:nvSpPr>
          <p:cNvPr id="14" name="">
            <a:extLst xmlns:a="http://schemas.openxmlformats.org/drawingml/2006/main">
              <a:ext uri="{FF2B5EF4-FFF2-40B4-BE49-F238E27FC236}">
                <a16:creationId xmlns:a16="http://schemas.microsoft.com/office/drawing/2014/main" id="{D0F78195-BCB0-4A03-A332-AD260C56DA32}"/>
              </a:ext>
            </a:extLst>
          </p:cNvPr>
          <p:cNvSpPr>
            <a:spLocks xmlns:a="http://schemas.openxmlformats.org/drawingml/2006/main" noGrp="1"/>
          </p:cNvSpPr>
          <p:nvPr/>
        </p:nvSpPr>
        <p:spPr>
          <a:xfrm xmlns:a="http://schemas.openxmlformats.org/drawingml/2006/main">
            <a:off x="1190625" y="40576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11827"/>
                </a:solidFill>
              </a:defRPr>
            </a:pPr>
            <a:r>
              <a:rPr sz="1425" b="1">
                <a:solidFill>
                  <a:srgbClr val="111827"/>
                </a:solidFill>
              </a:rPr>
              <a:t>합성 결과의 한계</a:t>
            </a:r>
          </a:p>
        </p:txBody>
      </p:sp>
      <p:sp>
        <p:nvSpPr>
          <p:cNvPr id="15" name="">
            <a:extLst xmlns:a="http://schemas.openxmlformats.org/drawingml/2006/main">
              <a:ext uri="{FF2B5EF4-FFF2-40B4-BE49-F238E27FC236}">
                <a16:creationId xmlns:a16="http://schemas.microsoft.com/office/drawing/2014/main" id="{F852C6E8-3294-45CA-8365-EE650C69C74E}"/>
              </a:ext>
            </a:extLst>
          </p:cNvPr>
          <p:cNvSpPr>
            <a:spLocks xmlns:a="http://schemas.openxmlformats.org/drawingml/2006/main" noGrp="1"/>
          </p:cNvSpPr>
          <p:nvPr/>
        </p:nvSpPr>
        <p:spPr>
          <a:xfrm xmlns:a="http://schemas.openxmlformats.org/drawingml/2006/main">
            <a:off x="2952750" y="4038600"/>
            <a:ext cx="2714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B6472"/>
                </a:solidFill>
              </a:defRPr>
            </a:pPr>
            <a:r>
              <a:rPr sz="1200" b="0">
                <a:solidFill>
                  <a:srgbClr val="5B6472"/>
                </a:solidFill>
              </a:rPr>
              <a:t>유의한 차이가 나와도 현실 행동의 증거는 아님</a:t>
            </a:r>
          </a:p>
        </p:txBody>
      </p:sp>
      <p:sp>
        <p:nvSpPr>
          <p:cNvPr id="16" name="">
            <a:extLst xmlns:a="http://schemas.openxmlformats.org/drawingml/2006/main">
              <a:ext uri="{FF2B5EF4-FFF2-40B4-BE49-F238E27FC236}">
                <a16:creationId xmlns:a16="http://schemas.microsoft.com/office/drawing/2014/main" id="{B7A2FC21-0E54-4202-9FBC-65CAEBBDF99C}"/>
              </a:ext>
            </a:extLst>
          </p:cNvPr>
          <p:cNvSpPr>
            <a:spLocks xmlns:a="http://schemas.openxmlformats.org/drawingml/2006/main" noGrp="1"/>
          </p:cNvSpPr>
          <p:nvPr/>
        </p:nvSpPr>
        <p:spPr>
          <a:xfrm xmlns:a="http://schemas.openxmlformats.org/drawingml/2006/main">
            <a:off x="6305550" y="2286000"/>
            <a:ext cx="333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D64545"/>
                </a:solidFill>
              </a:defRPr>
            </a:pPr>
            <a:r>
              <a:rPr sz="1350" b="1">
                <a:solidFill>
                  <a:srgbClr val="D64545"/>
                </a:solidFill>
              </a:rPr>
              <a:t>1</a:t>
            </a:r>
          </a:p>
        </p:txBody>
      </p:sp>
      <p:sp>
        <p:nvSpPr>
          <p:cNvPr id="17" name="">
            <a:extLst xmlns:a="http://schemas.openxmlformats.org/drawingml/2006/main">
              <a:ext uri="{FF2B5EF4-FFF2-40B4-BE49-F238E27FC236}">
                <a16:creationId xmlns:a16="http://schemas.microsoft.com/office/drawing/2014/main" id="{4F9F1507-686D-4722-9A0C-6403B2B46A7F}"/>
              </a:ext>
            </a:extLst>
          </p:cNvPr>
          <p:cNvSpPr>
            <a:spLocks xmlns:a="http://schemas.openxmlformats.org/drawingml/2006/main" noGrp="1"/>
          </p:cNvSpPr>
          <p:nvPr/>
        </p:nvSpPr>
        <p:spPr>
          <a:xfrm xmlns:a="http://schemas.openxmlformats.org/drawingml/2006/main">
            <a:off x="6753225" y="228600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11827"/>
                </a:solidFill>
              </a:defRPr>
            </a:pPr>
            <a:r>
              <a:rPr sz="1425" b="1">
                <a:solidFill>
                  <a:srgbClr val="111827"/>
                </a:solidFill>
              </a:rPr>
              <a:t>실제 A/B 미실시</a:t>
            </a:r>
          </a:p>
        </p:txBody>
      </p:sp>
      <p:sp>
        <p:nvSpPr>
          <p:cNvPr id="18" name="">
            <a:extLst xmlns:a="http://schemas.openxmlformats.org/drawingml/2006/main">
              <a:ext uri="{FF2B5EF4-FFF2-40B4-BE49-F238E27FC236}">
                <a16:creationId xmlns:a16="http://schemas.microsoft.com/office/drawing/2014/main" id="{298A6116-E737-421B-9A00-24D22318E855}"/>
              </a:ext>
            </a:extLst>
          </p:cNvPr>
          <p:cNvSpPr>
            <a:spLocks xmlns:a="http://schemas.openxmlformats.org/drawingml/2006/main" noGrp="1"/>
          </p:cNvSpPr>
          <p:nvPr/>
        </p:nvSpPr>
        <p:spPr>
          <a:xfrm xmlns:a="http://schemas.openxmlformats.org/drawingml/2006/main">
            <a:off x="8515350" y="2266950"/>
            <a:ext cx="2714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B6472"/>
                </a:solidFill>
              </a:defRPr>
            </a:pPr>
            <a:r>
              <a:rPr sz="1200" b="0">
                <a:solidFill>
                  <a:srgbClr val="5B6472"/>
                </a:solidFill>
              </a:rPr>
              <a:t>대체 지역 추천군과 기존 화면의 무작위 비교가 없음</a:t>
            </a:r>
          </a:p>
        </p:txBody>
      </p:sp>
      <p:sp>
        <p:nvSpPr>
          <p:cNvPr id="19" name="">
            <a:extLst xmlns:a="http://schemas.openxmlformats.org/drawingml/2006/main">
              <a:ext uri="{FF2B5EF4-FFF2-40B4-BE49-F238E27FC236}">
                <a16:creationId xmlns:a16="http://schemas.microsoft.com/office/drawing/2014/main" id="{1E588978-512B-42AB-9806-372277E2F9E1}"/>
              </a:ext>
            </a:extLst>
          </p:cNvPr>
          <p:cNvSpPr>
            <a:spLocks xmlns:a="http://schemas.openxmlformats.org/drawingml/2006/main" noGrp="1"/>
          </p:cNvSpPr>
          <p:nvPr/>
        </p:nvSpPr>
        <p:spPr>
          <a:xfrm xmlns:a="http://schemas.openxmlformats.org/drawingml/2006/main">
            <a:off x="6305550" y="3171825"/>
            <a:ext cx="333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D64545"/>
                </a:solidFill>
              </a:defRPr>
            </a:pPr>
            <a:r>
              <a:rPr sz="1350" b="1">
                <a:solidFill>
                  <a:srgbClr val="D64545"/>
                </a:solidFill>
              </a:rPr>
              <a:t>2</a:t>
            </a:r>
          </a:p>
        </p:txBody>
      </p:sp>
      <p:sp>
        <p:nvSpPr>
          <p:cNvPr id="20" name="">
            <a:extLst xmlns:a="http://schemas.openxmlformats.org/drawingml/2006/main">
              <a:ext uri="{FF2B5EF4-FFF2-40B4-BE49-F238E27FC236}">
                <a16:creationId xmlns:a16="http://schemas.microsoft.com/office/drawing/2014/main" id="{BAA19E61-94E2-46C2-9745-5C9E1F0D3EFF}"/>
              </a:ext>
            </a:extLst>
          </p:cNvPr>
          <p:cNvSpPr>
            <a:spLocks xmlns:a="http://schemas.openxmlformats.org/drawingml/2006/main" noGrp="1"/>
          </p:cNvSpPr>
          <p:nvPr/>
        </p:nvSpPr>
        <p:spPr>
          <a:xfrm xmlns:a="http://schemas.openxmlformats.org/drawingml/2006/main">
            <a:off x="6753225" y="317182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11827"/>
                </a:solidFill>
              </a:defRPr>
            </a:pPr>
            <a:r>
              <a:rPr sz="1425" b="1">
                <a:solidFill>
                  <a:srgbClr val="111827"/>
                </a:solidFill>
              </a:rPr>
              <a:t>전환 데이터 제한</a:t>
            </a:r>
          </a:p>
        </p:txBody>
      </p:sp>
      <p:sp>
        <p:nvSpPr>
          <p:cNvPr id="21" name="">
            <a:extLst xmlns:a="http://schemas.openxmlformats.org/drawingml/2006/main">
              <a:ext uri="{FF2B5EF4-FFF2-40B4-BE49-F238E27FC236}">
                <a16:creationId xmlns:a16="http://schemas.microsoft.com/office/drawing/2014/main" id="{D2B9BEDF-83CE-4292-B308-69735BBA6279}"/>
              </a:ext>
            </a:extLst>
          </p:cNvPr>
          <p:cNvSpPr>
            <a:spLocks xmlns:a="http://schemas.openxmlformats.org/drawingml/2006/main" noGrp="1"/>
          </p:cNvSpPr>
          <p:nvPr/>
        </p:nvSpPr>
        <p:spPr>
          <a:xfrm xmlns:a="http://schemas.openxmlformats.org/drawingml/2006/main">
            <a:off x="8515350" y="3152775"/>
            <a:ext cx="2714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B6472"/>
                </a:solidFill>
              </a:defRPr>
            </a:pPr>
            <a:r>
              <a:rPr sz="1200" b="0">
                <a:solidFill>
                  <a:srgbClr val="5B6472"/>
                </a:solidFill>
              </a:rPr>
              <a:t>BOOKING·ROOM이 가상이므로 예약 효과 판단 불가</a:t>
            </a:r>
          </a:p>
        </p:txBody>
      </p:sp>
      <p:sp>
        <p:nvSpPr>
          <p:cNvPr id="22" name="">
            <a:extLst xmlns:a="http://schemas.openxmlformats.org/drawingml/2006/main">
              <a:ext uri="{FF2B5EF4-FFF2-40B4-BE49-F238E27FC236}">
                <a16:creationId xmlns:a16="http://schemas.microsoft.com/office/drawing/2014/main" id="{AD15C26F-2DDB-46CF-919C-CE4971297217}"/>
              </a:ext>
            </a:extLst>
          </p:cNvPr>
          <p:cNvSpPr>
            <a:spLocks xmlns:a="http://schemas.openxmlformats.org/drawingml/2006/main" noGrp="1"/>
          </p:cNvSpPr>
          <p:nvPr/>
        </p:nvSpPr>
        <p:spPr>
          <a:xfrm xmlns:a="http://schemas.openxmlformats.org/drawingml/2006/main">
            <a:off x="6305550" y="4057650"/>
            <a:ext cx="333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D64545"/>
                </a:solidFill>
              </a:defRPr>
            </a:pPr>
            <a:r>
              <a:rPr sz="1350" b="1">
                <a:solidFill>
                  <a:srgbClr val="D64545"/>
                </a:solidFill>
              </a:rPr>
              <a:t>3</a:t>
            </a:r>
          </a:p>
        </p:txBody>
      </p:sp>
      <p:sp>
        <p:nvSpPr>
          <p:cNvPr id="23" name="">
            <a:extLst xmlns:a="http://schemas.openxmlformats.org/drawingml/2006/main">
              <a:ext uri="{FF2B5EF4-FFF2-40B4-BE49-F238E27FC236}">
                <a16:creationId xmlns:a16="http://schemas.microsoft.com/office/drawing/2014/main" id="{A27C235D-BF5A-491F-9737-082E78F556AF}"/>
              </a:ext>
            </a:extLst>
          </p:cNvPr>
          <p:cNvSpPr>
            <a:spLocks xmlns:a="http://schemas.openxmlformats.org/drawingml/2006/main" noGrp="1"/>
          </p:cNvSpPr>
          <p:nvPr/>
        </p:nvSpPr>
        <p:spPr>
          <a:xfrm xmlns:a="http://schemas.openxmlformats.org/drawingml/2006/main">
            <a:off x="6753225" y="40576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11827"/>
                </a:solidFill>
              </a:defRPr>
            </a:pPr>
            <a:r>
              <a:rPr sz="1425" b="1">
                <a:solidFill>
                  <a:srgbClr val="111827"/>
                </a:solidFill>
              </a:rPr>
              <a:t>추천 기준 미확정</a:t>
            </a:r>
          </a:p>
        </p:txBody>
      </p:sp>
      <p:sp>
        <p:nvSpPr>
          <p:cNvPr id="24" name="">
            <a:extLst xmlns:a="http://schemas.openxmlformats.org/drawingml/2006/main">
              <a:ext uri="{FF2B5EF4-FFF2-40B4-BE49-F238E27FC236}">
                <a16:creationId xmlns:a16="http://schemas.microsoft.com/office/drawing/2014/main" id="{5824BBB6-ED6D-4FC8-B10C-FEC8AC8CBB91}"/>
              </a:ext>
            </a:extLst>
          </p:cNvPr>
          <p:cNvSpPr>
            <a:spLocks xmlns:a="http://schemas.openxmlformats.org/drawingml/2006/main" noGrp="1"/>
          </p:cNvSpPr>
          <p:nvPr/>
        </p:nvSpPr>
        <p:spPr>
          <a:xfrm xmlns:a="http://schemas.openxmlformats.org/drawingml/2006/main">
            <a:off x="8515350" y="4038600"/>
            <a:ext cx="2714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B6472"/>
                </a:solidFill>
              </a:defRPr>
            </a:pPr>
            <a:r>
              <a:rPr sz="1200" b="0">
                <a:solidFill>
                  <a:srgbClr val="5B6472"/>
                </a:solidFill>
              </a:rPr>
              <a:t>인접 지역·거리·재고 기준이 실제 운영 데이터와 미연결</a:t>
            </a:r>
          </a:p>
        </p:txBody>
      </p:sp>
      <p:sp>
        <p:nvSpPr>
          <p:cNvPr id="25" name="">
            <a:extLst xmlns:a="http://schemas.openxmlformats.org/drawingml/2006/main">
              <a:ext uri="{FF2B5EF4-FFF2-40B4-BE49-F238E27FC236}">
                <a16:creationId xmlns:a16="http://schemas.microsoft.com/office/drawing/2014/main" id="{0AAB4A6F-CCB4-4F5D-975B-6C11179F1617}"/>
              </a:ext>
            </a:extLst>
          </p:cNvPr>
          <p:cNvSpPr>
            <a:spLocks xmlns:a="http://schemas.openxmlformats.org/drawingml/2006/main" noGrp="1"/>
          </p:cNvSpPr>
          <p:nvPr/>
        </p:nvSpPr>
        <p:spPr>
          <a:xfrm xmlns:a="http://schemas.openxmlformats.org/drawingml/2006/main">
            <a:off x="685800" y="5429250"/>
            <a:ext cx="10820400" cy="742950"/>
          </a:xfrm>
          <a:prstGeom xmlns:a="http://schemas.openxmlformats.org/drawingml/2006/main" prst="rect">
            <a:avLst/>
          </a:prstGeom>
          <a:solidFill xmlns:a="http://schemas.openxmlformats.org/drawingml/2006/main">
            <a:srgbClr val="F2F4F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5317769-237C-4D6A-AF18-E46A6DB554D6}"/>
              </a:ext>
            </a:extLst>
          </p:cNvPr>
          <p:cNvSpPr>
            <a:spLocks xmlns:a="http://schemas.openxmlformats.org/drawingml/2006/main" noGrp="1"/>
          </p:cNvSpPr>
          <p:nvPr/>
        </p:nvSpPr>
        <p:spPr>
          <a:xfrm xmlns:a="http://schemas.openxmlformats.org/drawingml/2006/main">
            <a:off x="914400" y="5638800"/>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68A68"/>
                </a:solidFill>
              </a:defRPr>
            </a:pPr>
            <a:r>
              <a:rPr sz="1350" b="1">
                <a:solidFill>
                  <a:srgbClr val="168A68"/>
                </a:solidFill>
              </a:rPr>
              <a:t>보완</a:t>
            </a:r>
          </a:p>
        </p:txBody>
      </p:sp>
      <p:sp>
        <p:nvSpPr>
          <p:cNvPr id="27" name="">
            <a:extLst xmlns:a="http://schemas.openxmlformats.org/drawingml/2006/main">
              <a:ext uri="{FF2B5EF4-FFF2-40B4-BE49-F238E27FC236}">
                <a16:creationId xmlns:a16="http://schemas.microsoft.com/office/drawing/2014/main" id="{C63802FB-8A85-4BEA-BB7F-F8BD5AFFA54D}"/>
              </a:ext>
            </a:extLst>
          </p:cNvPr>
          <p:cNvSpPr>
            <a:spLocks xmlns:a="http://schemas.openxmlformats.org/drawingml/2006/main" noGrp="1"/>
          </p:cNvSpPr>
          <p:nvPr/>
        </p:nvSpPr>
        <p:spPr>
          <a:xfrm xmlns:a="http://schemas.openxmlformats.org/drawingml/2006/main">
            <a:off x="1809750" y="5562600"/>
            <a:ext cx="904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11827"/>
                </a:solidFill>
              </a:defRPr>
            </a:pPr>
            <a:r>
              <a:rPr sz="1425" b="1">
                <a:solidFill>
                  <a:srgbClr val="111827"/>
                </a:solidFill>
              </a:rPr>
              <a:t>실제 로그 홀드아웃 · 가중치 전후/민감도 비교 · 생성 여부 표기 · 최종 판단은 실제 A/B 테스트</a:t>
            </a:r>
          </a:p>
        </p:txBody>
      </p:sp>
    </p:spTree>
    <p:extLst>
      <p:ext uri="{BB962C8B-B14F-4D97-AF65-F5344CB8AC3E}">
        <p14:creationId xmlns:p14="http://schemas.microsoft.com/office/powerpoint/2010/main" val="18278844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AD49682-E9BE-4AE6-9BCC-F6CF954233B1}"/>
              </a:ext>
            </a:extLst>
          </p:cNvPr>
          <p:cNvSpPr>
            <a:spLocks xmlns:a="http://schemas.openxmlformats.org/drawingml/2006/main" noGrp="1"/>
          </p:cNvSpPr>
          <p:nvPr/>
        </p:nvSpPr>
        <p:spPr>
          <a:xfrm xmlns:a="http://schemas.openxmlformats.org/drawingml/2006/main">
            <a:off x="685800" y="4000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2F80ED"/>
                </a:solidFill>
              </a:defRPr>
            </a:pPr>
            <a:r>
              <a:rPr sz="1050" b="1">
                <a:solidFill>
                  <a:srgbClr val="2F80ED"/>
                </a:solidFill>
              </a:rPr>
              <a:t>VALIDATION</a:t>
            </a:r>
          </a:p>
        </p:txBody>
      </p:sp>
      <p:sp>
        <p:nvSpPr>
          <p:cNvPr id="2" name="">
            <a:extLst xmlns:a="http://schemas.openxmlformats.org/drawingml/2006/main">
              <a:ext uri="{FF2B5EF4-FFF2-40B4-BE49-F238E27FC236}">
                <a16:creationId xmlns:a16="http://schemas.microsoft.com/office/drawing/2014/main" id="{180B85B2-B107-4362-8DFC-142BFFB09BF2}"/>
              </a:ext>
            </a:extLst>
          </p:cNvPr>
          <p:cNvSpPr>
            <a:spLocks xmlns:a="http://schemas.openxmlformats.org/drawingml/2006/main" noGrp="1"/>
          </p:cNvSpPr>
          <p:nvPr/>
        </p:nvSpPr>
        <p:spPr>
          <a:xfrm xmlns:a="http://schemas.openxmlformats.org/drawingml/2006/main">
            <a:off x="685800" y="762000"/>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11827"/>
                </a:solidFill>
              </a:defRPr>
            </a:pPr>
            <a:r>
              <a:rPr sz="2700" b="1">
                <a:solidFill>
                  <a:srgbClr val="111827"/>
                </a:solidFill>
              </a:rPr>
              <a:t>증강 후에도 실제 분포와 가설 검증 가능성을 함께 지킨다</a:t>
            </a:r>
          </a:p>
        </p:txBody>
      </p:sp>
      <p:sp>
        <p:nvSpPr>
          <p:cNvPr id="3" name="">
            <a:extLst xmlns:a="http://schemas.openxmlformats.org/drawingml/2006/main">
              <a:ext uri="{FF2B5EF4-FFF2-40B4-BE49-F238E27FC236}">
                <a16:creationId xmlns:a16="http://schemas.microsoft.com/office/drawing/2014/main" id="{4EC70E22-0450-4AB4-B742-03C35D32BBCC}"/>
              </a:ext>
            </a:extLst>
          </p:cNvPr>
          <p:cNvSpPr>
            <a:spLocks xmlns:a="http://schemas.openxmlformats.org/drawingml/2006/main" noGrp="1"/>
          </p:cNvSpPr>
          <p:nvPr/>
        </p:nvSpPr>
        <p:spPr>
          <a:xfrm xmlns:a="http://schemas.openxmlformats.org/drawingml/2006/main">
            <a:off x="685800" y="1504950"/>
            <a:ext cx="10820400" cy="0"/>
          </a:xfrm>
          <a:prstGeom xmlns:a="http://schemas.openxmlformats.org/drawingml/2006/main" prst="line">
            <a:avLst/>
          </a:prstGeom>
          <a:noFill xmlns:a="http://schemas.openxmlformats.org/drawingml/2006/main"/>
          <a:ln xmlns:a="http://schemas.openxmlformats.org/drawingml/2006/main" w="9525">
            <a:solidFill>
              <a:srgbClr val="CBD0D8"/>
            </a:solidFill>
            <a:prstDash val="solid"/>
          </a:ln>
        </p:spPr>
      </p:sp>
      <p:sp>
        <p:nvSpPr>
          <p:cNvPr id="4" name="">
            <a:extLst xmlns:a="http://schemas.openxmlformats.org/drawingml/2006/main">
              <a:ext uri="{FF2B5EF4-FFF2-40B4-BE49-F238E27FC236}">
                <a16:creationId xmlns:a16="http://schemas.microsoft.com/office/drawing/2014/main" id="{89D899E6-B412-4AFA-B755-5CB5E7DDACE6}"/>
              </a:ext>
            </a:extLst>
          </p:cNvPr>
          <p:cNvSpPr>
            <a:spLocks xmlns:a="http://schemas.openxmlformats.org/drawingml/2006/main" noGrp="1"/>
          </p:cNvSpPr>
          <p:nvPr/>
        </p:nvSpPr>
        <p:spPr>
          <a:xfrm xmlns:a="http://schemas.openxmlformats.org/drawingml/2006/main">
            <a:off x="11144250" y="400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5B6472"/>
                </a:solidFill>
              </a:defRPr>
            </a:pPr>
            <a:r>
              <a:rPr sz="1050" b="1">
                <a:solidFill>
                  <a:srgbClr val="5B6472"/>
                </a:solidFill>
              </a:rPr>
              <a:t>12</a:t>
            </a:r>
          </a:p>
        </p:txBody>
      </p:sp>
      <p:sp>
        <p:nvSpPr>
          <p:cNvPr id="5" name="">
            <a:extLst xmlns:a="http://schemas.openxmlformats.org/drawingml/2006/main">
              <a:ext uri="{FF2B5EF4-FFF2-40B4-BE49-F238E27FC236}">
                <a16:creationId xmlns:a16="http://schemas.microsoft.com/office/drawing/2014/main" id="{8DDF32AA-1BF4-4050-847C-554370FA9634}"/>
              </a:ext>
            </a:extLst>
          </p:cNvPr>
          <p:cNvSpPr>
            <a:spLocks xmlns:a="http://schemas.openxmlformats.org/drawingml/2006/main" noGrp="1"/>
          </p:cNvSpPr>
          <p:nvPr/>
        </p:nvSpPr>
        <p:spPr>
          <a:xfrm xmlns:a="http://schemas.openxmlformats.org/drawingml/2006/main">
            <a:off x="742950" y="188595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2F80ED"/>
                </a:solidFill>
              </a:defRPr>
            </a:pPr>
            <a:r>
              <a:rPr sz="1800" b="1">
                <a:solidFill>
                  <a:srgbClr val="2F80ED"/>
                </a:solidFill>
              </a:rPr>
              <a:t>01</a:t>
            </a:r>
          </a:p>
        </p:txBody>
      </p:sp>
      <p:sp>
        <p:nvSpPr>
          <p:cNvPr id="6" name="">
            <a:extLst xmlns:a="http://schemas.openxmlformats.org/drawingml/2006/main">
              <a:ext uri="{FF2B5EF4-FFF2-40B4-BE49-F238E27FC236}">
                <a16:creationId xmlns:a16="http://schemas.microsoft.com/office/drawing/2014/main" id="{A1BF7AD3-5EB6-479E-9039-5F973829A274}"/>
              </a:ext>
            </a:extLst>
          </p:cNvPr>
          <p:cNvSpPr>
            <a:spLocks xmlns:a="http://schemas.openxmlformats.org/drawingml/2006/main" noGrp="1"/>
          </p:cNvSpPr>
          <p:nvPr/>
        </p:nvSpPr>
        <p:spPr>
          <a:xfrm xmlns:a="http://schemas.openxmlformats.org/drawingml/2006/main">
            <a:off x="1524000" y="1885950"/>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11827"/>
                </a:solidFill>
              </a:defRPr>
            </a:pPr>
            <a:r>
              <a:rPr sz="1650" b="1">
                <a:solidFill>
                  <a:srgbClr val="111827"/>
                </a:solidFill>
              </a:rPr>
              <a:t>분포</a:t>
            </a:r>
          </a:p>
        </p:txBody>
      </p:sp>
      <p:sp>
        <p:nvSpPr>
          <p:cNvPr id="7" name="">
            <a:extLst xmlns:a="http://schemas.openxmlformats.org/drawingml/2006/main">
              <a:ext uri="{FF2B5EF4-FFF2-40B4-BE49-F238E27FC236}">
                <a16:creationId xmlns:a16="http://schemas.microsoft.com/office/drawing/2014/main" id="{A940965E-E101-408B-B782-18337F003C5F}"/>
              </a:ext>
            </a:extLst>
          </p:cNvPr>
          <p:cNvSpPr>
            <a:spLocks xmlns:a="http://schemas.openxmlformats.org/drawingml/2006/main" noGrp="1"/>
          </p:cNvSpPr>
          <p:nvPr/>
        </p:nvSpPr>
        <p:spPr>
          <a:xfrm xmlns:a="http://schemas.openxmlformats.org/drawingml/2006/main">
            <a:off x="3143250" y="1885950"/>
            <a:ext cx="781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5B6472"/>
                </a:solidFill>
              </a:defRPr>
            </a:pPr>
            <a:r>
              <a:rPr sz="1500" b="0">
                <a:solidFill>
                  <a:srgbClr val="5B6472"/>
                </a:solidFill>
              </a:rPr>
              <a:t>상대비율·사용자 집중도·가중치가 허용범위 안인가</a:t>
            </a:r>
          </a:p>
        </p:txBody>
      </p:sp>
      <p:sp>
        <p:nvSpPr>
          <p:cNvPr id="8" name="">
            <a:extLst xmlns:a="http://schemas.openxmlformats.org/drawingml/2006/main">
              <a:ext uri="{FF2B5EF4-FFF2-40B4-BE49-F238E27FC236}">
                <a16:creationId xmlns:a16="http://schemas.microsoft.com/office/drawing/2014/main" id="{12B2947B-29AA-4B67-9508-577940F392FC}"/>
              </a:ext>
            </a:extLst>
          </p:cNvPr>
          <p:cNvSpPr>
            <a:spLocks xmlns:a="http://schemas.openxmlformats.org/drawingml/2006/main" noGrp="1"/>
          </p:cNvSpPr>
          <p:nvPr/>
        </p:nvSpPr>
        <p:spPr>
          <a:xfrm xmlns:a="http://schemas.openxmlformats.org/drawingml/2006/main">
            <a:off x="742950" y="266700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2F80ED"/>
                </a:solidFill>
              </a:defRPr>
            </a:pPr>
            <a:r>
              <a:rPr sz="1800" b="1">
                <a:solidFill>
                  <a:srgbClr val="2F80ED"/>
                </a:solidFill>
              </a:rPr>
              <a:t>02</a:t>
            </a:r>
          </a:p>
        </p:txBody>
      </p:sp>
      <p:sp>
        <p:nvSpPr>
          <p:cNvPr id="9" name="">
            <a:extLst xmlns:a="http://schemas.openxmlformats.org/drawingml/2006/main">
              <a:ext uri="{FF2B5EF4-FFF2-40B4-BE49-F238E27FC236}">
                <a16:creationId xmlns:a16="http://schemas.microsoft.com/office/drawing/2014/main" id="{0E0F0A46-3443-48D7-B31A-EEDFF9B604C5}"/>
              </a:ext>
            </a:extLst>
          </p:cNvPr>
          <p:cNvSpPr>
            <a:spLocks xmlns:a="http://schemas.openxmlformats.org/drawingml/2006/main" noGrp="1"/>
          </p:cNvSpPr>
          <p:nvPr/>
        </p:nvSpPr>
        <p:spPr>
          <a:xfrm xmlns:a="http://schemas.openxmlformats.org/drawingml/2006/main">
            <a:off x="1524000" y="2667000"/>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11827"/>
                </a:solidFill>
              </a:defRPr>
            </a:pPr>
            <a:r>
              <a:rPr sz="1650" b="1">
                <a:solidFill>
                  <a:srgbClr val="111827"/>
                </a:solidFill>
              </a:rPr>
              <a:t>관계</a:t>
            </a:r>
          </a:p>
        </p:txBody>
      </p:sp>
      <p:sp>
        <p:nvSpPr>
          <p:cNvPr id="10" name="">
            <a:extLst xmlns:a="http://schemas.openxmlformats.org/drawingml/2006/main">
              <a:ext uri="{FF2B5EF4-FFF2-40B4-BE49-F238E27FC236}">
                <a16:creationId xmlns:a16="http://schemas.microsoft.com/office/drawing/2014/main" id="{7A63A514-75B1-4095-8187-726947A0D5F1}"/>
              </a:ext>
            </a:extLst>
          </p:cNvPr>
          <p:cNvSpPr>
            <a:spLocks xmlns:a="http://schemas.openxmlformats.org/drawingml/2006/main" noGrp="1"/>
          </p:cNvSpPr>
          <p:nvPr/>
        </p:nvSpPr>
        <p:spPr>
          <a:xfrm xmlns:a="http://schemas.openxmlformats.org/drawingml/2006/main">
            <a:off x="3143250" y="2667000"/>
            <a:ext cx="781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5B6472"/>
                </a:solidFill>
              </a:defRPr>
            </a:pPr>
            <a:r>
              <a:rPr sz="1500" b="0">
                <a:solidFill>
                  <a:srgbClr val="5B6472"/>
                </a:solidFill>
              </a:rPr>
              <a:t>PK/FK와 search→result→event 순서가 보존되는가</a:t>
            </a:r>
          </a:p>
        </p:txBody>
      </p:sp>
      <p:sp>
        <p:nvSpPr>
          <p:cNvPr id="11" name="">
            <a:extLst xmlns:a="http://schemas.openxmlformats.org/drawingml/2006/main">
              <a:ext uri="{FF2B5EF4-FFF2-40B4-BE49-F238E27FC236}">
                <a16:creationId xmlns:a16="http://schemas.microsoft.com/office/drawing/2014/main" id="{6DB87B2A-9488-4CBE-A469-45BE73668DFB}"/>
              </a:ext>
            </a:extLst>
          </p:cNvPr>
          <p:cNvSpPr>
            <a:spLocks xmlns:a="http://schemas.openxmlformats.org/drawingml/2006/main" noGrp="1"/>
          </p:cNvSpPr>
          <p:nvPr/>
        </p:nvSpPr>
        <p:spPr>
          <a:xfrm xmlns:a="http://schemas.openxmlformats.org/drawingml/2006/main">
            <a:off x="742950" y="344805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2F80ED"/>
                </a:solidFill>
              </a:defRPr>
            </a:pPr>
            <a:r>
              <a:rPr sz="1800" b="1">
                <a:solidFill>
                  <a:srgbClr val="2F80ED"/>
                </a:solidFill>
              </a:rPr>
              <a:t>03</a:t>
            </a:r>
          </a:p>
        </p:txBody>
      </p:sp>
      <p:sp>
        <p:nvSpPr>
          <p:cNvPr id="12" name="">
            <a:extLst xmlns:a="http://schemas.openxmlformats.org/drawingml/2006/main">
              <a:ext uri="{FF2B5EF4-FFF2-40B4-BE49-F238E27FC236}">
                <a16:creationId xmlns:a16="http://schemas.microsoft.com/office/drawing/2014/main" id="{00B4AF96-6D3D-426E-857E-E71D0476791B}"/>
              </a:ext>
            </a:extLst>
          </p:cNvPr>
          <p:cNvSpPr>
            <a:spLocks xmlns:a="http://schemas.openxmlformats.org/drawingml/2006/main" noGrp="1"/>
          </p:cNvSpPr>
          <p:nvPr/>
        </p:nvSpPr>
        <p:spPr>
          <a:xfrm xmlns:a="http://schemas.openxmlformats.org/drawingml/2006/main">
            <a:off x="1524000" y="3448050"/>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11827"/>
                </a:solidFill>
              </a:defRPr>
            </a:pPr>
            <a:r>
              <a:rPr sz="1650" b="1">
                <a:solidFill>
                  <a:srgbClr val="111827"/>
                </a:solidFill>
              </a:rPr>
              <a:t>편향</a:t>
            </a:r>
          </a:p>
        </p:txBody>
      </p:sp>
      <p:sp>
        <p:nvSpPr>
          <p:cNvPr id="13" name="">
            <a:extLst xmlns:a="http://schemas.openxmlformats.org/drawingml/2006/main">
              <a:ext uri="{FF2B5EF4-FFF2-40B4-BE49-F238E27FC236}">
                <a16:creationId xmlns:a16="http://schemas.microsoft.com/office/drawing/2014/main" id="{A9690984-A27A-4EEF-8132-BEA020A1945A}"/>
              </a:ext>
            </a:extLst>
          </p:cNvPr>
          <p:cNvSpPr>
            <a:spLocks xmlns:a="http://schemas.openxmlformats.org/drawingml/2006/main" noGrp="1"/>
          </p:cNvSpPr>
          <p:nvPr/>
        </p:nvSpPr>
        <p:spPr>
          <a:xfrm xmlns:a="http://schemas.openxmlformats.org/drawingml/2006/main">
            <a:off x="3143250" y="3448050"/>
            <a:ext cx="781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5B6472"/>
                </a:solidFill>
              </a:defRPr>
            </a:pPr>
            <a:r>
              <a:rPr sz="1500" b="0">
                <a:solidFill>
                  <a:srgbClr val="5B6472"/>
                </a:solidFill>
              </a:rPr>
              <a:t>특정 세그먼트·결론을 과도하게 심지 않았는가</a:t>
            </a:r>
          </a:p>
        </p:txBody>
      </p:sp>
      <p:sp>
        <p:nvSpPr>
          <p:cNvPr id="14" name="">
            <a:extLst xmlns:a="http://schemas.openxmlformats.org/drawingml/2006/main">
              <a:ext uri="{FF2B5EF4-FFF2-40B4-BE49-F238E27FC236}">
                <a16:creationId xmlns:a16="http://schemas.microsoft.com/office/drawing/2014/main" id="{80B5ECFA-2E0F-4B11-A1A7-D9BCA799C179}"/>
              </a:ext>
            </a:extLst>
          </p:cNvPr>
          <p:cNvSpPr>
            <a:spLocks xmlns:a="http://schemas.openxmlformats.org/drawingml/2006/main" noGrp="1"/>
          </p:cNvSpPr>
          <p:nvPr/>
        </p:nvSpPr>
        <p:spPr>
          <a:xfrm xmlns:a="http://schemas.openxmlformats.org/drawingml/2006/main">
            <a:off x="742950" y="422910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2F80ED"/>
                </a:solidFill>
              </a:defRPr>
            </a:pPr>
            <a:r>
              <a:rPr sz="1800" b="1">
                <a:solidFill>
                  <a:srgbClr val="2F80ED"/>
                </a:solidFill>
              </a:rPr>
              <a:t>04</a:t>
            </a:r>
          </a:p>
        </p:txBody>
      </p:sp>
      <p:sp>
        <p:nvSpPr>
          <p:cNvPr id="15" name="">
            <a:extLst xmlns:a="http://schemas.openxmlformats.org/drawingml/2006/main">
              <a:ext uri="{FF2B5EF4-FFF2-40B4-BE49-F238E27FC236}">
                <a16:creationId xmlns:a16="http://schemas.microsoft.com/office/drawing/2014/main" id="{FF804A47-1CCD-4544-8EE7-F67AD9BA2B3F}"/>
              </a:ext>
            </a:extLst>
          </p:cNvPr>
          <p:cNvSpPr>
            <a:spLocks xmlns:a="http://schemas.openxmlformats.org/drawingml/2006/main" noGrp="1"/>
          </p:cNvSpPr>
          <p:nvPr/>
        </p:nvSpPr>
        <p:spPr>
          <a:xfrm xmlns:a="http://schemas.openxmlformats.org/drawingml/2006/main">
            <a:off x="1524000" y="4229100"/>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11827"/>
                </a:solidFill>
              </a:defRPr>
            </a:pPr>
            <a:r>
              <a:rPr sz="1650" b="1">
                <a:solidFill>
                  <a:srgbClr val="111827"/>
                </a:solidFill>
              </a:rPr>
              <a:t>가설</a:t>
            </a:r>
          </a:p>
        </p:txBody>
      </p:sp>
      <p:sp>
        <p:nvSpPr>
          <p:cNvPr id="16" name="">
            <a:extLst xmlns:a="http://schemas.openxmlformats.org/drawingml/2006/main">
              <a:ext uri="{FF2B5EF4-FFF2-40B4-BE49-F238E27FC236}">
                <a16:creationId xmlns:a16="http://schemas.microsoft.com/office/drawing/2014/main" id="{7DDFA28B-60A9-4088-BCBD-4AFF5C9176AA}"/>
              </a:ext>
            </a:extLst>
          </p:cNvPr>
          <p:cNvSpPr>
            <a:spLocks xmlns:a="http://schemas.openxmlformats.org/drawingml/2006/main" noGrp="1"/>
          </p:cNvSpPr>
          <p:nvPr/>
        </p:nvSpPr>
        <p:spPr>
          <a:xfrm xmlns:a="http://schemas.openxmlformats.org/drawingml/2006/main">
            <a:off x="3143250" y="4229100"/>
            <a:ext cx="781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5B6472"/>
                </a:solidFill>
              </a:defRPr>
            </a:pPr>
            <a:r>
              <a:rPr sz="1500" b="0">
                <a:solidFill>
                  <a:srgbClr val="5B6472"/>
                </a:solidFill>
              </a:rPr>
              <a:t>조건 조합·재검색 전략별 차이를 다시 검증할 수 있는가</a:t>
            </a:r>
          </a:p>
        </p:txBody>
      </p:sp>
      <p:sp>
        <p:nvSpPr>
          <p:cNvPr id="17" name="">
            <a:extLst xmlns:a="http://schemas.openxmlformats.org/drawingml/2006/main">
              <a:ext uri="{FF2B5EF4-FFF2-40B4-BE49-F238E27FC236}">
                <a16:creationId xmlns:a16="http://schemas.microsoft.com/office/drawing/2014/main" id="{69113B65-4B23-4E95-8153-1BBC7A83DB87}"/>
              </a:ext>
            </a:extLst>
          </p:cNvPr>
          <p:cNvSpPr>
            <a:spLocks xmlns:a="http://schemas.openxmlformats.org/drawingml/2006/main" noGrp="1"/>
          </p:cNvSpPr>
          <p:nvPr/>
        </p:nvSpPr>
        <p:spPr>
          <a:xfrm xmlns:a="http://schemas.openxmlformats.org/drawingml/2006/main">
            <a:off x="685800" y="5238750"/>
            <a:ext cx="10820400" cy="87630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BB16EAE-0A57-4995-A2C8-BC3BF51609D5}"/>
              </a:ext>
            </a:extLst>
          </p:cNvPr>
          <p:cNvSpPr>
            <a:spLocks xmlns:a="http://schemas.openxmlformats.org/drawingml/2006/main" noGrp="1"/>
          </p:cNvSpPr>
          <p:nvPr/>
        </p:nvSpPr>
        <p:spPr>
          <a:xfrm xmlns:a="http://schemas.openxmlformats.org/drawingml/2006/main">
            <a:off x="933450" y="5476875"/>
            <a:ext cx="104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2F80ED"/>
                </a:solidFill>
              </a:defRPr>
            </a:pPr>
            <a:r>
              <a:rPr sz="1500" b="1">
                <a:solidFill>
                  <a:srgbClr val="2F80ED"/>
                </a:solidFill>
              </a:rPr>
              <a:t>결론</a:t>
            </a:r>
          </a:p>
        </p:txBody>
      </p:sp>
      <p:sp>
        <p:nvSpPr>
          <p:cNvPr id="19" name="">
            <a:extLst xmlns:a="http://schemas.openxmlformats.org/drawingml/2006/main">
              <a:ext uri="{FF2B5EF4-FFF2-40B4-BE49-F238E27FC236}">
                <a16:creationId xmlns:a16="http://schemas.microsoft.com/office/drawing/2014/main" id="{0D8B4B9D-4536-4446-8548-421E1AE71B63}"/>
              </a:ext>
            </a:extLst>
          </p:cNvPr>
          <p:cNvSpPr>
            <a:spLocks xmlns:a="http://schemas.openxmlformats.org/drawingml/2006/main" noGrp="1"/>
          </p:cNvSpPr>
          <p:nvPr/>
        </p:nvSpPr>
        <p:spPr>
          <a:xfrm xmlns:a="http://schemas.openxmlformats.org/drawingml/2006/main">
            <a:off x="2143125" y="5381625"/>
            <a:ext cx="8810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FFFFF"/>
                </a:solidFill>
              </a:defRPr>
            </a:pPr>
            <a:r>
              <a:rPr sz="1875" b="1">
                <a:solidFill>
                  <a:srgbClr val="FFFFFF"/>
                </a:solidFill>
              </a:rPr>
              <a:t>전체 검색 퍼널을 유지하고, 0건을 중심으로 조건·회복 가설을 검증한다.</a:t>
            </a:r>
          </a:p>
        </p:txBody>
      </p:sp>
    </p:spTree>
    <p:extLst>
      <p:ext uri="{BB962C8B-B14F-4D97-AF65-F5344CB8AC3E}">
        <p14:creationId xmlns:p14="http://schemas.microsoft.com/office/powerpoint/2010/main" val="17196493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2026-09-01T07:24:34.5950000Z</dcterms:created>
  <dcterms:modified xsi:type="dcterms:W3CDTF">2026-09-01T07:24:34.5950000Z</dcterms:modified>
</coreProperties>
</file>