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6bba5a72884edc" /><Relationship Type="http://schemas.openxmlformats.org/officeDocument/2006/relationships/extended-properties" Target="/docProps/app.xml" Id="Rc0f8adda77c04d4f" /><Relationship Type="http://schemas.openxmlformats.org/officeDocument/2006/relationships/officeDocument" Target="/ppt/presentation.xml" Id="Ra2254a7c13b649cd" /></Relationships>
</file>

<file path=ppt/presentation.xml><?xml version="1.0" encoding="utf-8"?>
<p:presentation xmlns:p="http://schemas.openxmlformats.org/presentationml/2006/main">
  <p:sldMasterIdLst>
    <p:sldMasterId xmlns:r="http://schemas.openxmlformats.org/officeDocument/2006/relationships" id="2147483648" r:id="R25d8c0af403141b3"/>
  </p:sldMasterIdLst>
  <p:notesMasterIdLst>
    <p:notesMasterId xmlns:r="http://schemas.openxmlformats.org/officeDocument/2006/relationships" r:id="R0ad7fe5195bd4529"/>
  </p:notesMasterIdLst>
  <p:sldIdLst>
    <p:sldId xmlns:r="http://schemas.openxmlformats.org/officeDocument/2006/relationships" id="256" r:id="R3c9161dff26a4fd6"/>
    <p:sldId xmlns:r="http://schemas.openxmlformats.org/officeDocument/2006/relationships" id="257" r:id="R3cda1eb573ca47bb"/>
    <p:sldId xmlns:r="http://schemas.openxmlformats.org/officeDocument/2006/relationships" id="258" r:id="R68fd38104fd949b6"/>
    <p:sldId xmlns:r="http://schemas.openxmlformats.org/officeDocument/2006/relationships" id="259" r:id="R076d4317d6cc4276"/>
    <p:sldId xmlns:r="http://schemas.openxmlformats.org/officeDocument/2006/relationships" id="260" r:id="R08b7092bd1ed4b9c"/>
    <p:sldId xmlns:r="http://schemas.openxmlformats.org/officeDocument/2006/relationships" id="261" r:id="Re0fe677b25c140ba"/>
    <p:sldId xmlns:r="http://schemas.openxmlformats.org/officeDocument/2006/relationships" id="262" r:id="Rd9cf8123636d4972"/>
    <p:sldId xmlns:r="http://schemas.openxmlformats.org/officeDocument/2006/relationships" id="263" r:id="Rc35cac0cc66846aa"/>
    <p:sldId xmlns:r="http://schemas.openxmlformats.org/officeDocument/2006/relationships" id="264" r:id="R297ab50747e14e6f"/>
    <p:sldId xmlns:r="http://schemas.openxmlformats.org/officeDocument/2006/relationships" id="265" r:id="R5a834857fa804617"/>
    <p:sldId xmlns:r="http://schemas.openxmlformats.org/officeDocument/2006/relationships" id="266" r:id="R43dfc706d6ec4e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996c75cd084a04" /><Relationship Type="http://schemas.openxmlformats.org/officeDocument/2006/relationships/slideMaster" Target="/ppt/slideMasters/slideMaster1.xml" Id="R25d8c0af403141b3" /><Relationship Type="http://schemas.openxmlformats.org/officeDocument/2006/relationships/notesMaster" Target="/ppt/notesMasters/notesMaster1.xml" Id="R0ad7fe5195bd4529" /><Relationship Type="http://schemas.openxmlformats.org/officeDocument/2006/relationships/presProps" Target="/ppt/presProps.xml" Id="R8fe11021d5e84397" /><Relationship Type="http://schemas.openxmlformats.org/officeDocument/2006/relationships/tableStyles" Target="/ppt/tableStyles.xml" Id="R95b78d2936f14614" /><Relationship Type="http://schemas.openxmlformats.org/officeDocument/2006/relationships/slide" Target="/ppt/slides/slide1.xml" Id="R3c9161dff26a4fd6" /><Relationship Type="http://schemas.openxmlformats.org/officeDocument/2006/relationships/slide" Target="/ppt/slides/slide2.xml" Id="R3cda1eb573ca47bb" /><Relationship Type="http://schemas.openxmlformats.org/officeDocument/2006/relationships/slide" Target="/ppt/slides/slide3.xml" Id="R68fd38104fd949b6" /><Relationship Type="http://schemas.openxmlformats.org/officeDocument/2006/relationships/slide" Target="/ppt/slides/slide4.xml" Id="R076d4317d6cc4276" /><Relationship Type="http://schemas.openxmlformats.org/officeDocument/2006/relationships/slide" Target="/ppt/slides/slide5.xml" Id="R08b7092bd1ed4b9c" /><Relationship Type="http://schemas.openxmlformats.org/officeDocument/2006/relationships/slide" Target="/ppt/slides/slide6.xml" Id="Re0fe677b25c140ba" /><Relationship Type="http://schemas.openxmlformats.org/officeDocument/2006/relationships/slide" Target="/ppt/slides/slide7.xml" Id="Rd9cf8123636d4972" /><Relationship Type="http://schemas.openxmlformats.org/officeDocument/2006/relationships/slide" Target="/ppt/slides/slide8.xml" Id="Rc35cac0cc66846aa" /><Relationship Type="http://schemas.openxmlformats.org/officeDocument/2006/relationships/slide" Target="/ppt/slides/slide9.xml" Id="R297ab50747e14e6f" /><Relationship Type="http://schemas.openxmlformats.org/officeDocument/2006/relationships/slide" Target="/ppt/slides/slide10.xml" Id="R5a834857fa804617" /><Relationship Type="http://schemas.openxmlformats.org/officeDocument/2006/relationships/slide" Target="/ppt/slides/slide11.xml" Id="R43dfc706d6ec4e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d51812e93045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43caa682c24374" /><Relationship Type="http://schemas.openxmlformats.org/officeDocument/2006/relationships/notesMaster" Target="/ppt/notesMasters/notesMaster1.xml" Id="R49723661584c4f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fcce5cba38474a" /><Relationship Type="http://schemas.openxmlformats.org/officeDocument/2006/relationships/notesMaster" Target="/ppt/notesMasters/notesMaster1.xml" Id="R848c6a9172e945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091b9560884d9d" /><Relationship Type="http://schemas.openxmlformats.org/officeDocument/2006/relationships/notesMaster" Target="/ppt/notesMasters/notesMaster1.xml" Id="R0599f6238a0847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66d7c216344276" /><Relationship Type="http://schemas.openxmlformats.org/officeDocument/2006/relationships/notesMaster" Target="/ppt/notesMasters/notesMaster1.xml" Id="R44c1507e73b74e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8da64b4c8c43f5" /><Relationship Type="http://schemas.openxmlformats.org/officeDocument/2006/relationships/notesMaster" Target="/ppt/notesMasters/notesMaster1.xml" Id="R418ba611f8c04c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b9f02b76b44087" /><Relationship Type="http://schemas.openxmlformats.org/officeDocument/2006/relationships/notesMaster" Target="/ppt/notesMasters/notesMaster1.xml" Id="R76735f132c354f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ee10cee250469d" /><Relationship Type="http://schemas.openxmlformats.org/officeDocument/2006/relationships/notesMaster" Target="/ppt/notesMasters/notesMaster1.xml" Id="Rd35321c3059748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1d4a45b9634db5" /><Relationship Type="http://schemas.openxmlformats.org/officeDocument/2006/relationships/notesMaster" Target="/ppt/notesMasters/notesMaster1.xml" Id="R8b7fb7f5c1a741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cb2b87258045ac" /><Relationship Type="http://schemas.openxmlformats.org/officeDocument/2006/relationships/notesMaster" Target="/ppt/notesMasters/notesMaster1.xml" Id="R0333cd27b27548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3770615847493f" /><Relationship Type="http://schemas.openxmlformats.org/officeDocument/2006/relationships/notesMaster" Target="/ppt/notesMasters/notesMaster1.xml" Id="Rda04cc18311b48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bea4ebb8084566" /><Relationship Type="http://schemas.openxmlformats.org/officeDocument/2006/relationships/notesMaster" Target="/ppt/notesMasters/notesMaster1.xml" Id="Ree28372b121243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저희의 원래 프로젝트 주제는 사용자의 호텔 검색 의도와 조건이 결과 노출, 호텔 선택, 재검색, 이탈에 어떤 영향을 주는지 분석하는 것입니다. 이 전체 흐름을 분석하는 과정에서 결과 0건 검색이 310건으로 많이 관찰됐기 때문에, 이번 가설 검증에서는 0건 이후의 재검색과 회복 행동을 핵심 사례로 선택했습니다. 오늘은 이 가설을 검증할 수 있도록 데이터를 어떻게 증강할지 말씀드리겠습니다.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프로젝트 전체 범위와 이번 발표의 초점을 구분하겠습니다. 원래 주제는 검색 의도와 조건에서 시작해 결과 노출, 호텔 선택, 재검색, 이탈까지 이어지는 전체 검색 행동입니다. 그중 결과 0건 검색이 전체 608건 중 310건으로 많이 관찰됐기 때문에, 이번 분석에서는 0건을 핵심 실패 신호로 좁혔습니다. 하지만 증강 데이터는 0건 사용자만 만드는 것이 아니라 직접 성공과 결과 노출 후 미선택 같은 전체 사용자 집단을 함께 유지합니다. 표본이 작고 검색량 편차가 크기 때문에 상대비율로 가설을 세우고, 검색 의도별 집단을 확장한 뒤 같은 가설을 다시 검증합니다.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DB의 전체 검색은 608건입니다. 이 가운데 결과가 0건인 검색은 310건이므로, 전체 검색을 분모로 한 0건률은 51퍼센트입니다. 결과 0건 310건 가운데 같은 세션에서 다음 검색이 발생한 경우는 298건으로, 0건 후 재검색률은 96.1퍼센트입니다. 그리고 재검색 298건 가운데 바로 다음 검색에서 결과가 발생한 경우는 67건으로, 재검색 즉시 회복률은 22.5퍼센트입니다. 세 지표의 분모가 서로 다르므로 22.5퍼센트를 전체 성공률이나 최종 회복률로 말하면 안 됩니다. 검색 건수와 결과 여부는 SEARCH와 SEARCH_RESULT에서 확인하고, 같은 세션의 다음 검색은 session_id와 search_time으로 연결하며, 사용자는 EVENT의 user_id로 연결했습니다. 또한 상위 5명이 전체 검색의 48.5퍼센트를 차지하므로, 절대 건수 복제 대신 상대비율과 가중치를 사용합니다.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가설을 보기 전에 표본의 한계를 먼저 말씀드리겠습니다. 전체 등록 사용자는 169명이지만 검색 품질 분석의 분모는 실제로 검색한 68명입니다. 또한 상위 5명이 전체 검색의 48.5퍼센트를 발생시켜 특정 사용자의 영향이 큽니다. 첫 실패 검색과 바로 다음 검색을 비교할 수 있는 사용자는 27명뿐이며, 참여자는 5개 지역 안에서 자유롭게 검색했기 때문에 전체 호텔 시장으로 일반화하기 어렵습니다. 따라서 증강에서는 현재 표본의 상대비율을 기준으로 하되 개인별 영향에 상한을 두고, 검색 의도별로 층화해 집단을 확장하며, 가중치 적용 전후 결과를 함께 비교하겠습니다. BOOKING과 ROOM은 가상 데이터이므로 실제 전환 근거와 분리하고, 날짜 예약 가능 여부는 일치도 계산에서 제외합니다.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가설은 현재 DB에서 실제로 나온 결과를 기준으로 두 개만 남겼습니다. 첫 번째 관찰 결과는 편의시설을 3개 이상 선택한 검색의 0건률이 85.9퍼센트, 평점 필터를 설정한 검색은 70.6퍼센트, 가격 필터를 설정한 검색은 66.8퍼센트였다는 것입니다. 따라서 H1은 편의시설, 평점, 가격 조건의 조합에 따라 결과 0건률에 차이가 있을 것이라는 가설입니다. 두 번째 관찰 결과는 재검색 유형별 성과가 달랐다는 것입니다. 지역 변경은 즉시 회복률 46.4퍼센트와 클릭률 14.3퍼센트, 검색어 수정은 회복률 34.7퍼센트와 클릭률 5퍼센트, 조건 완화는 회복률 22.7퍼센트와 클릭률 13.3퍼센트였고, 동일 조건 반복은 즉시 회복이 없었습니다. 따라서 H2는 재검색에서 변경한 조건의 유형에 따라 즉시 회복률과 호텔 클릭률에 차이가 있을 것이라는 가설입니다. 반면 첫 검색 0건 여부에 따라 검색 횟수가 증가한다는 가설은 7.43회와 7.88회, p값 .953으로 차이가 없어 제외했습니다.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분류는 한 가지 기준만 사용하지 않습니다. 먼저 검색 성향은 한 사용자에게 여러 개가 동시에 붙을 수 있는 다중 라벨입니다. 검색 조건에서는 지역 고정형, 가격 민감형, 품질 우선형, 테마 또는 호텔 지명형을 구분합니다. 세션 행동에서는 비교 탐색형, 빠른 결정형, 입력 탐색형, 지역 전환형을 구분합니다. 예를 들어 한 사용자는 지역 고정형이면서 가격 민감형일 수 있습니다. 따라서 이 분류의 인원수를 합쳐 전체 사용자 수나 100퍼센트로 해석하지 않고, 증강 시 어떤 검색 조건과 행동을 생성할지 결정하는 데 사용합니다.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분류는 검색 결과 행동 세그먼트입니다. 여기서는 실제 검색 사용자 68명을 중복 없이 한 집단에만 배정하므로 합계가 100퍼센트가 됩니다. 직접 성공 12명, 결과 노출 후 미선택 18명, 재검색 후 회복 26명, 지속 실패 6명, 결과 0건 후 즉시 종료 6명입니다. 이 분류는 증강 사용자 수의 목표 비율과 결과 행동의 분포를 정하는 데 사용합니다.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분류는 재검색 수정 전략입니다. 이 분류의 분모는 전체 검색 사용자 68명이 아니라, 첫 실패 검색과 바로 다음 검색을 조건 단위로 비교할 수 있는 27명입니다. 동일 반복형은 12명으로 즉시 성공률 0퍼센트, 이후 최종 성공률 75퍼센트였습니다. 필터 완화형은 8명으로 즉시 성공률 37.5퍼센트, 최종 성공률 100퍼센트였습니다. 필터 강화형은 4명으로 즉시 성공률 0퍼센트, 최종 성공률 50퍼센트였고, 복합 수정형은 3명으로 즉시 성공률 33.3퍼센트, 최종 성공률 66.7퍼센트였습니다. 이 27명의 비율을 전체 사용자 구성비로 사용하지 않고, 재검색 전환 확률을 보정하는 참고값으로만 사용합니다.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증강 대상은 호텔과 룸을 제외한 여섯 개 테이블입니다. USER의 아이디는 고정하고 성향과 세그먼트를 배정합니다. 그 아래 SEARCH, FILTER, RESULT, EVENT, BOOKING을 시간 순서와 외래키가 깨지지 않게 함께 생성합니다. 이벤트에는 이미지 행동을 제외하고 세션 종료시각을 추가합니다. 호텔과 룸은 기준정보이므로 증강하지 않습니다.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로우 단위로 보면 한 사용자의 첫 검색이 0건이면, 다음 검색에서 가격이나 지역 등 한두 조건만 바꾸고, 결과 노출과 클릭 여부를 확률로 생성합니다. 중요한 점은 실패면 무조건 이탈하도록 만들지 않는 것입니다. 일치도가 낮아도 클릭할 수 있고 높아도 이탈할 수 있게 변동성을 둡니다. 날짜 예약 가능성은 임의 데이터이므로 실제 일치도에서는 제외합니다.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증강 데이터는 네 가지로 검증합니다. 현재 표본의 상대비율과 가중치가 적절한지, 키와 행동 순서가 보존되는지, 특정 결론을 미리 심지 않았는지, 그리고 가설을 다시 검정할 수 있는지를 확인합니다. 저희의 전체 주제는 검색 의도와 조건이 결과 노출, 선택, 재검색, 이탈에 미치는 영향입니다. 증강에서도 직접 성공, 결과 노출 후 미선택, 재검색 회복, 지속 실패와 즉시 종료를 모두 유지합니다. 다만 실제 데이터에서 0건이 많이 관찰됐기 때문에, 0건 발생 조건과 이후 회복 전략을 핵심 가설로 검증합니다. 이를 통해 0건 화면에서 인접 지역 추천 같은 개선안의 이탈 감소 효과를 확인하겠습니다.</a:t>
            </a:r>
          </a:p>
          <a:p xmlns:a="http://schemas.openxmlformats.org/drawingml/2006/main">
            <a:r>
              <a:t/>
            </a:r>
          </a:p>
          <a:p xmlns:a="http://schemas.openxmlformats.org/drawingml/2006/main">
            <a:r>
              <a:t>[Sources]</a:t>
            </a:r>
          </a:p>
          <a:p xmlns:a="http://schemas.openxmlformats.org/drawingml/2006/main">
            <a:r>
              <a:t>- team_i_analysis_20260901 (1).db (프로젝트 내부 DB, 2026-09-01 조회)</a:t>
            </a:r>
          </a:p>
          <a:p xmlns:a="http://schemas.openxmlformats.org/drawingml/2006/main">
            <a:r>
              <a:t>- 호텔검색_31일차실습해답_가설증강통합_20260901_v03.docx</a:t>
            </a:r>
          </a:p>
          <a:p xmlns:a="http://schemas.openxmlformats.org/drawingml/2006/main">
            <a:r>
              <a:t>- 호텔검색_가설문서_핵심가설사용자세그먼트_20260901_v03.docx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0dd923acbe42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ae86f833a04184" /><Relationship Type="http://schemas.openxmlformats.org/officeDocument/2006/relationships/slideLayout" Target="/ppt/slideLayouts/slideLayout1.xml" Id="R0f7600de816243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7600de816243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2fae7c905b45a5" /><Relationship Type="http://schemas.openxmlformats.org/officeDocument/2006/relationships/notesSlide" Target="/ppt/notesSlides/notesSlide1.xml" Id="R5e6ff432665641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4ce7b440d64752" /><Relationship Type="http://schemas.openxmlformats.org/officeDocument/2006/relationships/notesSlide" Target="/ppt/notesSlides/notesSlide2.xml" Id="Rcf5cd126b6e74f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62ed4f7c33408d" /><Relationship Type="http://schemas.openxmlformats.org/officeDocument/2006/relationships/notesSlide" Target="/ppt/notesSlides/notesSlide3.xml" Id="R7fdec064445f49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0a6fa7a849489f" /><Relationship Type="http://schemas.openxmlformats.org/officeDocument/2006/relationships/notesSlide" Target="/ppt/notesSlides/notesSlide4.xml" Id="R9a94671b95bd48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77389183374b7a" /><Relationship Type="http://schemas.openxmlformats.org/officeDocument/2006/relationships/notesSlide" Target="/ppt/notesSlides/notesSlide5.xml" Id="Rca55def50fd845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5b573d3b9142e3" /><Relationship Type="http://schemas.openxmlformats.org/officeDocument/2006/relationships/notesSlide" Target="/ppt/notesSlides/notesSlide6.xml" Id="R3915933a96ab43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6be977bd5340a3" /><Relationship Type="http://schemas.openxmlformats.org/officeDocument/2006/relationships/notesSlide" Target="/ppt/notesSlides/notesSlide7.xml" Id="Ra469e90566494b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c33408b09b4fd4" /><Relationship Type="http://schemas.openxmlformats.org/officeDocument/2006/relationships/notesSlide" Target="/ppt/notesSlides/notesSlide8.xml" Id="Rc98d0468f7164e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0d959e675b4a49" /><Relationship Type="http://schemas.openxmlformats.org/officeDocument/2006/relationships/notesSlide" Target="/ppt/notesSlides/notesSlide9.xml" Id="Rc9f8070119364a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8fa78a3ace40e8" /><Relationship Type="http://schemas.openxmlformats.org/officeDocument/2006/relationships/notesSlide" Target="/ppt/notesSlides/notesSlide10.xml" Id="R9ab476bccb0f44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a4331b5dd094790" /><Relationship Type="http://schemas.openxmlformats.org/officeDocument/2006/relationships/notesSlide" Target="/ppt/notesSlides/notesSlide11.xml" Id="R8f78e1e9c96c48e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EBE928-88C6-42AD-8ABD-5C9B968ECA97}"/>
              </a:ext>
            </a:extLst>
          </p:cNvPr>
          <p:cNvSpPr>
            <a:spLocks xmlns:a="http://schemas.openxmlformats.org/drawingml/2006/main" noGrp="1"/>
          </p:cNvSpPr>
          <p:nvPr/>
        </p:nvSpPr>
        <p:spPr>
          <a:xfrm xmlns:a="http://schemas.openxmlformats.org/drawingml/2006/main">
            <a:off x="685800" y="514350"/>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F80ED"/>
                </a:solidFill>
              </a:defRPr>
            </a:pPr>
            <a:r>
              <a:rPr sz="1200" b="1">
                <a:solidFill>
                  <a:srgbClr val="2F80ED"/>
                </a:solidFill>
              </a:rPr>
              <a:t>2팀 · 호텔 검색 이탈 대시보드</a:t>
            </a:r>
          </a:p>
        </p:txBody>
      </p:sp>
      <p:sp>
        <p:nvSpPr>
          <p:cNvPr id="2" name="">
            <a:extLst xmlns:a="http://schemas.openxmlformats.org/drawingml/2006/main">
              <a:ext uri="{FF2B5EF4-FFF2-40B4-BE49-F238E27FC236}">
                <a16:creationId xmlns:a16="http://schemas.microsoft.com/office/drawing/2014/main" id="{3DEED52A-2AA2-43B5-A86D-6CB742681130}"/>
              </a:ext>
            </a:extLst>
          </p:cNvPr>
          <p:cNvSpPr>
            <a:spLocks xmlns:a="http://schemas.openxmlformats.org/drawingml/2006/main" noGrp="1"/>
          </p:cNvSpPr>
          <p:nvPr/>
        </p:nvSpPr>
        <p:spPr>
          <a:xfrm xmlns:a="http://schemas.openxmlformats.org/drawingml/2006/main">
            <a:off x="685800" y="1476375"/>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200" b="1">
                <a:solidFill>
                  <a:srgbClr val="111827"/>
                </a:solidFill>
              </a:defRPr>
            </a:pPr>
            <a:r>
              <a:rPr sz="4200" b="1">
                <a:solidFill>
                  <a:srgbClr val="111827"/>
                </a:solidFill>
              </a:rPr>
              <a:t>검색 의도와 행동의 관계를</a:t>
            </a:r>
          </a:p>
          <a:p xmlns:a="http://schemas.openxmlformats.org/drawingml/2006/main">
            <a:pPr algn="l">
              <a:defRPr sz="4200" b="1">
                <a:solidFill>
                  <a:srgbClr val="111827"/>
                </a:solidFill>
              </a:defRPr>
            </a:pPr>
            <a:r>
              <a:rPr sz="4200" b="1">
                <a:solidFill>
                  <a:srgbClr val="111827"/>
                </a:solidFill>
              </a:rPr>
              <a:t>가설로 검증한다</a:t>
            </a:r>
          </a:p>
        </p:txBody>
      </p:sp>
      <p:sp>
        <p:nvSpPr>
          <p:cNvPr id="3" name="">
            <a:extLst xmlns:a="http://schemas.openxmlformats.org/drawingml/2006/main">
              <a:ext uri="{FF2B5EF4-FFF2-40B4-BE49-F238E27FC236}">
                <a16:creationId xmlns:a16="http://schemas.microsoft.com/office/drawing/2014/main" id="{DC5EF48A-108D-4638-8D90-A38ABBFE2AAC}"/>
              </a:ext>
            </a:extLst>
          </p:cNvPr>
          <p:cNvSpPr>
            <a:spLocks xmlns:a="http://schemas.openxmlformats.org/drawingml/2006/main" noGrp="1"/>
          </p:cNvSpPr>
          <p:nvPr/>
        </p:nvSpPr>
        <p:spPr>
          <a:xfrm xmlns:a="http://schemas.openxmlformats.org/drawingml/2006/main">
            <a:off x="704850" y="32956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5B6472"/>
                </a:solidFill>
              </a:defRPr>
            </a:pPr>
            <a:r>
              <a:rPr sz="2025" b="0">
                <a:solidFill>
                  <a:srgbClr val="5B6472"/>
                </a:solidFill>
              </a:rPr>
              <a:t>가설 중심 데이터 증강 계획</a:t>
            </a:r>
          </a:p>
        </p:txBody>
      </p:sp>
      <p:sp>
        <p:nvSpPr>
          <p:cNvPr id="4" name="">
            <a:extLst xmlns:a="http://schemas.openxmlformats.org/drawingml/2006/main">
              <a:ext uri="{FF2B5EF4-FFF2-40B4-BE49-F238E27FC236}">
                <a16:creationId xmlns:a16="http://schemas.microsoft.com/office/drawing/2014/main" id="{E4EC7BDE-D576-4D21-A9DA-7114A2E7E43E}"/>
              </a:ext>
            </a:extLst>
          </p:cNvPr>
          <p:cNvSpPr>
            <a:spLocks xmlns:a="http://schemas.openxmlformats.org/drawingml/2006/main" noGrp="1"/>
          </p:cNvSpPr>
          <p:nvPr/>
        </p:nvSpPr>
        <p:spPr>
          <a:xfrm xmlns:a="http://schemas.openxmlformats.org/drawingml/2006/main">
            <a:off x="8143875" y="1143000"/>
            <a:ext cx="2762250" cy="37147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BE265D7-1937-4468-B8B2-A31E74707C2C}"/>
              </a:ext>
            </a:extLst>
          </p:cNvPr>
          <p:cNvSpPr>
            <a:spLocks xmlns:a="http://schemas.openxmlformats.org/drawingml/2006/main" noGrp="1"/>
          </p:cNvSpPr>
          <p:nvPr/>
        </p:nvSpPr>
        <p:spPr>
          <a:xfrm xmlns:a="http://schemas.openxmlformats.org/drawingml/2006/main">
            <a:off x="8572500" y="1619250"/>
            <a:ext cx="190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800" b="1">
                <a:solidFill>
                  <a:srgbClr val="FFFFFF"/>
                </a:solidFill>
              </a:defRPr>
            </a:pPr>
            <a:r>
              <a:rPr sz="4800" b="1">
                <a:solidFill>
                  <a:srgbClr val="FFFFFF"/>
                </a:solidFill>
              </a:rPr>
              <a:t>0건</a:t>
            </a:r>
          </a:p>
        </p:txBody>
      </p:sp>
      <p:sp>
        <p:nvSpPr>
          <p:cNvPr id="6" name="">
            <a:extLst xmlns:a="http://schemas.openxmlformats.org/drawingml/2006/main">
              <a:ext uri="{FF2B5EF4-FFF2-40B4-BE49-F238E27FC236}">
                <a16:creationId xmlns:a16="http://schemas.microsoft.com/office/drawing/2014/main" id="{8AE76032-A4A4-4432-A873-19EDDFA9573F}"/>
              </a:ext>
            </a:extLst>
          </p:cNvPr>
          <p:cNvSpPr>
            <a:spLocks xmlns:a="http://schemas.openxmlformats.org/drawingml/2006/main" noGrp="1"/>
          </p:cNvSpPr>
          <p:nvPr/>
        </p:nvSpPr>
        <p:spPr>
          <a:xfrm xmlns:a="http://schemas.openxmlformats.org/drawingml/2006/main">
            <a:off x="8953500" y="2619375"/>
            <a:ext cx="114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600" b="1">
                <a:solidFill>
                  <a:srgbClr val="2F80ED"/>
                </a:solidFill>
              </a:defRPr>
            </a:pPr>
            <a:r>
              <a:rPr sz="3600" b="1">
                <a:solidFill>
                  <a:srgbClr val="2F80ED"/>
                </a:solidFill>
              </a:rPr>
              <a:t>→</a:t>
            </a:r>
          </a:p>
        </p:txBody>
      </p:sp>
      <p:sp>
        <p:nvSpPr>
          <p:cNvPr id="7" name="">
            <a:extLst xmlns:a="http://schemas.openxmlformats.org/drawingml/2006/main">
              <a:ext uri="{FF2B5EF4-FFF2-40B4-BE49-F238E27FC236}">
                <a16:creationId xmlns:a16="http://schemas.microsoft.com/office/drawing/2014/main" id="{B3578F59-507D-442B-ABF6-A0692E5888A5}"/>
              </a:ext>
            </a:extLst>
          </p:cNvPr>
          <p:cNvSpPr>
            <a:spLocks xmlns:a="http://schemas.openxmlformats.org/drawingml/2006/main" noGrp="1"/>
          </p:cNvSpPr>
          <p:nvPr/>
        </p:nvSpPr>
        <p:spPr>
          <a:xfrm xmlns:a="http://schemas.openxmlformats.org/drawingml/2006/main">
            <a:off x="8572500" y="333375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000" b="1">
                <a:solidFill>
                  <a:srgbClr val="FFFFFF"/>
                </a:solidFill>
              </a:defRPr>
            </a:pPr>
            <a:r>
              <a:rPr sz="3000" b="1">
                <a:solidFill>
                  <a:srgbClr val="FFFFFF"/>
                </a:solidFill>
              </a:rPr>
              <a:t>재검색</a:t>
            </a:r>
          </a:p>
        </p:txBody>
      </p:sp>
      <p:sp>
        <p:nvSpPr>
          <p:cNvPr id="8" name="">
            <a:extLst xmlns:a="http://schemas.openxmlformats.org/drawingml/2006/main">
              <a:ext uri="{FF2B5EF4-FFF2-40B4-BE49-F238E27FC236}">
                <a16:creationId xmlns:a16="http://schemas.microsoft.com/office/drawing/2014/main" id="{0BCF5D7F-D070-4058-9E67-08116364457D}"/>
              </a:ext>
            </a:extLst>
          </p:cNvPr>
          <p:cNvSpPr>
            <a:spLocks xmlns:a="http://schemas.openxmlformats.org/drawingml/2006/main" noGrp="1"/>
          </p:cNvSpPr>
          <p:nvPr/>
        </p:nvSpPr>
        <p:spPr>
          <a:xfrm xmlns:a="http://schemas.openxmlformats.org/drawingml/2006/main">
            <a:off x="685800" y="59245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5B6472"/>
                </a:solidFill>
              </a:defRPr>
            </a:pPr>
            <a:r>
              <a:rPr sz="1200" b="1">
                <a:solidFill>
                  <a:srgbClr val="5B6472"/>
                </a:solidFill>
              </a:rPr>
              <a:t>5분 발표</a:t>
            </a:r>
          </a:p>
        </p:txBody>
      </p:sp>
    </p:spTree>
    <p:extLst>
      <p:ext uri="{BB962C8B-B14F-4D97-AF65-F5344CB8AC3E}">
        <p14:creationId xmlns:p14="http://schemas.microsoft.com/office/powerpoint/2010/main" val="12788815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FE63D8B-DDA0-4579-805C-5C736BDC6191}"/>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OVERVIEW</a:t>
            </a:r>
          </a:p>
        </p:txBody>
      </p:sp>
      <p:sp>
        <p:nvSpPr>
          <p:cNvPr id="2" name="">
            <a:extLst xmlns:a="http://schemas.openxmlformats.org/drawingml/2006/main">
              <a:ext uri="{FF2B5EF4-FFF2-40B4-BE49-F238E27FC236}">
                <a16:creationId xmlns:a16="http://schemas.microsoft.com/office/drawing/2014/main" id="{40414F86-1877-4A68-8319-ED19BF7D9828}"/>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전체 검색 행동 중 0건을 핵심 사례로 좁혀 검증한다</a:t>
            </a:r>
          </a:p>
        </p:txBody>
      </p:sp>
      <p:sp>
        <p:nvSpPr>
          <p:cNvPr id="3" name="">
            <a:extLst xmlns:a="http://schemas.openxmlformats.org/drawingml/2006/main">
              <a:ext uri="{FF2B5EF4-FFF2-40B4-BE49-F238E27FC236}">
                <a16:creationId xmlns:a16="http://schemas.microsoft.com/office/drawing/2014/main" id="{81F5F4D8-578A-45C4-A3B4-AC4465E54E56}"/>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AC63006A-34C3-44EE-A6B0-E86C10294C6A}"/>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02</a:t>
            </a:r>
          </a:p>
        </p:txBody>
      </p:sp>
      <p:sp>
        <p:nvSpPr>
          <p:cNvPr id="5" name="">
            <a:extLst xmlns:a="http://schemas.openxmlformats.org/drawingml/2006/main">
              <a:ext uri="{FF2B5EF4-FFF2-40B4-BE49-F238E27FC236}">
                <a16:creationId xmlns:a16="http://schemas.microsoft.com/office/drawing/2014/main" id="{74AB03B1-DB12-4DDD-A357-3E35195F45BC}"/>
              </a:ext>
            </a:extLst>
          </p:cNvPr>
          <p:cNvSpPr>
            <a:spLocks xmlns:a="http://schemas.openxmlformats.org/drawingml/2006/main" noGrp="1"/>
          </p:cNvSpPr>
          <p:nvPr/>
        </p:nvSpPr>
        <p:spPr>
          <a:xfrm xmlns:a="http://schemas.openxmlformats.org/drawingml/2006/main">
            <a:off x="742950" y="18669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F80ED"/>
                </a:solidFill>
              </a:defRPr>
            </a:pPr>
            <a:r>
              <a:rPr sz="1500" b="1">
                <a:solidFill>
                  <a:srgbClr val="2F80ED"/>
                </a:solidFill>
              </a:rPr>
              <a:t>주제</a:t>
            </a:r>
          </a:p>
        </p:txBody>
      </p:sp>
      <p:sp>
        <p:nvSpPr>
          <p:cNvPr id="6" name="">
            <a:extLst xmlns:a="http://schemas.openxmlformats.org/drawingml/2006/main">
              <a:ext uri="{FF2B5EF4-FFF2-40B4-BE49-F238E27FC236}">
                <a16:creationId xmlns:a16="http://schemas.microsoft.com/office/drawing/2014/main" id="{69E7D4AB-329F-4523-9949-619A035EF790}"/>
              </a:ext>
            </a:extLst>
          </p:cNvPr>
          <p:cNvSpPr>
            <a:spLocks xmlns:a="http://schemas.openxmlformats.org/drawingml/2006/main" noGrp="1"/>
          </p:cNvSpPr>
          <p:nvPr/>
        </p:nvSpPr>
        <p:spPr>
          <a:xfrm xmlns:a="http://schemas.openxmlformats.org/drawingml/2006/main">
            <a:off x="2381250" y="17907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111827"/>
                </a:solidFill>
              </a:defRPr>
            </a:pPr>
            <a:r>
              <a:rPr sz="2025" b="1">
                <a:solidFill>
                  <a:srgbClr val="111827"/>
                </a:solidFill>
              </a:rPr>
              <a:t>검색 의도·조건 → 결과 노출 → 호텔 선택·재검색·이탈의 관계</a:t>
            </a:r>
          </a:p>
        </p:txBody>
      </p:sp>
      <p:sp>
        <p:nvSpPr>
          <p:cNvPr id="7" name="">
            <a:extLst xmlns:a="http://schemas.openxmlformats.org/drawingml/2006/main">
              <a:ext uri="{FF2B5EF4-FFF2-40B4-BE49-F238E27FC236}">
                <a16:creationId xmlns:a16="http://schemas.microsoft.com/office/drawing/2014/main" id="{627C258C-AFB1-4EA3-8F3E-709D2704798F}"/>
              </a:ext>
            </a:extLst>
          </p:cNvPr>
          <p:cNvSpPr>
            <a:spLocks xmlns:a="http://schemas.openxmlformats.org/drawingml/2006/main" noGrp="1"/>
          </p:cNvSpPr>
          <p:nvPr/>
        </p:nvSpPr>
        <p:spPr>
          <a:xfrm xmlns:a="http://schemas.openxmlformats.org/drawingml/2006/main">
            <a:off x="1104900" y="2771775"/>
            <a:ext cx="9667875" cy="0"/>
          </a:xfrm>
          <a:prstGeom xmlns:a="http://schemas.openxmlformats.org/drawingml/2006/main" prst="line">
            <a:avLst/>
          </a:prstGeom>
          <a:noFill xmlns:a="http://schemas.openxmlformats.org/drawingml/2006/main"/>
          <a:ln xmlns:a="http://schemas.openxmlformats.org/drawingml/2006/main" w="19050">
            <a:solidFill>
              <a:srgbClr val="CBD0D8"/>
            </a:solidFill>
            <a:prstDash val="solid"/>
          </a:ln>
        </p:spPr>
      </p:sp>
      <p:sp>
        <p:nvSpPr>
          <p:cNvPr id="8" name="">
            <a:extLst xmlns:a="http://schemas.openxmlformats.org/drawingml/2006/main">
              <a:ext uri="{FF2B5EF4-FFF2-40B4-BE49-F238E27FC236}">
                <a16:creationId xmlns:a16="http://schemas.microsoft.com/office/drawing/2014/main" id="{58C62CC2-5856-4CF6-98C6-5B28314267E8}"/>
              </a:ext>
            </a:extLst>
          </p:cNvPr>
          <p:cNvSpPr>
            <a:spLocks xmlns:a="http://schemas.openxmlformats.org/drawingml/2006/main" noGrp="1"/>
          </p:cNvSpPr>
          <p:nvPr/>
        </p:nvSpPr>
        <p:spPr>
          <a:xfrm xmlns:a="http://schemas.openxmlformats.org/drawingml/2006/main">
            <a:off x="10506075" y="2581275"/>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2F80ED"/>
                </a:solidFill>
              </a:defRPr>
            </a:pPr>
            <a:r>
              <a:rPr sz="1800" b="1">
                <a:solidFill>
                  <a:srgbClr val="2F80ED"/>
                </a:solidFill>
              </a:rPr>
              <a:t>→</a:t>
            </a:r>
          </a:p>
        </p:txBody>
      </p:sp>
      <p:sp>
        <p:nvSpPr>
          <p:cNvPr id="9" name="">
            <a:extLst xmlns:a="http://schemas.openxmlformats.org/drawingml/2006/main">
              <a:ext uri="{FF2B5EF4-FFF2-40B4-BE49-F238E27FC236}">
                <a16:creationId xmlns:a16="http://schemas.microsoft.com/office/drawing/2014/main" id="{551F8C52-45E5-48EF-A3BA-39CD677DFDBC}"/>
              </a:ext>
            </a:extLst>
          </p:cNvPr>
          <p:cNvSpPr>
            <a:spLocks xmlns:a="http://schemas.openxmlformats.org/drawingml/2006/main" noGrp="1"/>
          </p:cNvSpPr>
          <p:nvPr/>
        </p:nvSpPr>
        <p:spPr>
          <a:xfrm xmlns:a="http://schemas.openxmlformats.org/drawingml/2006/main">
            <a:off x="742950" y="30480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01</a:t>
            </a:r>
          </a:p>
        </p:txBody>
      </p:sp>
      <p:sp>
        <p:nvSpPr>
          <p:cNvPr id="10" name="">
            <a:extLst xmlns:a="http://schemas.openxmlformats.org/drawingml/2006/main">
              <a:ext uri="{FF2B5EF4-FFF2-40B4-BE49-F238E27FC236}">
                <a16:creationId xmlns:a16="http://schemas.microsoft.com/office/drawing/2014/main" id="{1BD332D8-1E8F-4856-B6E2-419BE17CEF00}"/>
              </a:ext>
            </a:extLst>
          </p:cNvPr>
          <p:cNvSpPr>
            <a:spLocks xmlns:a="http://schemas.openxmlformats.org/drawingml/2006/main" noGrp="1"/>
          </p:cNvSpPr>
          <p:nvPr/>
        </p:nvSpPr>
        <p:spPr>
          <a:xfrm xmlns:a="http://schemas.openxmlformats.org/drawingml/2006/main">
            <a:off x="742950" y="347662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왜 증강하나</a:t>
            </a:r>
          </a:p>
        </p:txBody>
      </p:sp>
      <p:sp>
        <p:nvSpPr>
          <p:cNvPr id="11" name="">
            <a:extLst xmlns:a="http://schemas.openxmlformats.org/drawingml/2006/main">
              <a:ext uri="{FF2B5EF4-FFF2-40B4-BE49-F238E27FC236}">
                <a16:creationId xmlns:a16="http://schemas.microsoft.com/office/drawing/2014/main" id="{FCA1AAB5-28F1-49E4-9BFC-D0849B65B0E8}"/>
              </a:ext>
            </a:extLst>
          </p:cNvPr>
          <p:cNvSpPr>
            <a:spLocks xmlns:a="http://schemas.openxmlformats.org/drawingml/2006/main" noGrp="1"/>
          </p:cNvSpPr>
          <p:nvPr/>
        </p:nvSpPr>
        <p:spPr>
          <a:xfrm xmlns:a="http://schemas.openxmlformats.org/drawingml/2006/main">
            <a:off x="742950" y="3952875"/>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B6472"/>
                </a:solidFill>
              </a:defRPr>
            </a:pPr>
            <a:r>
              <a:rPr sz="1425" b="0">
                <a:solidFill>
                  <a:srgbClr val="5B6472"/>
                </a:solidFill>
              </a:rPr>
              <a:t>실제 로그는 표본이 작고</a:t>
            </a:r>
          </a:p>
          <a:p xmlns:a="http://schemas.openxmlformats.org/drawingml/2006/main">
            <a:pPr algn="l">
              <a:defRPr sz="1425" b="0">
                <a:solidFill>
                  <a:srgbClr val="5B6472"/>
                </a:solidFill>
              </a:defRPr>
            </a:pPr>
            <a:r>
              <a:rPr sz="1425" b="0">
                <a:solidFill>
                  <a:srgbClr val="5B6472"/>
                </a:solidFill>
              </a:rPr>
              <a:t>사용자별 검색량 편차가 큼</a:t>
            </a:r>
          </a:p>
        </p:txBody>
      </p:sp>
      <p:sp>
        <p:nvSpPr>
          <p:cNvPr id="12" name="">
            <a:extLst xmlns:a="http://schemas.openxmlformats.org/drawingml/2006/main">
              <a:ext uri="{FF2B5EF4-FFF2-40B4-BE49-F238E27FC236}">
                <a16:creationId xmlns:a16="http://schemas.microsoft.com/office/drawing/2014/main" id="{71D0E13B-6C7A-4A07-A5D8-1C0CBD52355F}"/>
              </a:ext>
            </a:extLst>
          </p:cNvPr>
          <p:cNvSpPr>
            <a:spLocks xmlns:a="http://schemas.openxmlformats.org/drawingml/2006/main" noGrp="1"/>
          </p:cNvSpPr>
          <p:nvPr/>
        </p:nvSpPr>
        <p:spPr>
          <a:xfrm xmlns:a="http://schemas.openxmlformats.org/drawingml/2006/main">
            <a:off x="4314825" y="30480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02</a:t>
            </a:r>
          </a:p>
        </p:txBody>
      </p:sp>
      <p:sp>
        <p:nvSpPr>
          <p:cNvPr id="13" name="">
            <a:extLst xmlns:a="http://schemas.openxmlformats.org/drawingml/2006/main">
              <a:ext uri="{FF2B5EF4-FFF2-40B4-BE49-F238E27FC236}">
                <a16:creationId xmlns:a16="http://schemas.microsoft.com/office/drawing/2014/main" id="{246FFED7-33E4-4929-854F-5792D141CC63}"/>
              </a:ext>
            </a:extLst>
          </p:cNvPr>
          <p:cNvSpPr>
            <a:spLocks xmlns:a="http://schemas.openxmlformats.org/drawingml/2006/main" noGrp="1"/>
          </p:cNvSpPr>
          <p:nvPr/>
        </p:nvSpPr>
        <p:spPr>
          <a:xfrm xmlns:a="http://schemas.openxmlformats.org/drawingml/2006/main">
            <a:off x="4314825" y="347662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어떻게 진행하나</a:t>
            </a:r>
          </a:p>
        </p:txBody>
      </p:sp>
      <p:sp>
        <p:nvSpPr>
          <p:cNvPr id="14" name="">
            <a:extLst xmlns:a="http://schemas.openxmlformats.org/drawingml/2006/main">
              <a:ext uri="{FF2B5EF4-FFF2-40B4-BE49-F238E27FC236}">
                <a16:creationId xmlns:a16="http://schemas.microsoft.com/office/drawing/2014/main" id="{40C17C24-38C5-4AD8-AE48-EDBE01B428EE}"/>
              </a:ext>
            </a:extLst>
          </p:cNvPr>
          <p:cNvSpPr>
            <a:spLocks xmlns:a="http://schemas.openxmlformats.org/drawingml/2006/main" noGrp="1"/>
          </p:cNvSpPr>
          <p:nvPr/>
        </p:nvSpPr>
        <p:spPr>
          <a:xfrm xmlns:a="http://schemas.openxmlformats.org/drawingml/2006/main">
            <a:off x="4314825" y="3952875"/>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B6472"/>
                </a:solidFill>
              </a:defRPr>
            </a:pPr>
            <a:r>
              <a:rPr sz="1425" b="0">
                <a:solidFill>
                  <a:srgbClr val="5B6472"/>
                </a:solidFill>
              </a:rPr>
              <a:t>실제 상대비율 → 가설 →</a:t>
            </a:r>
          </a:p>
          <a:p xmlns:a="http://schemas.openxmlformats.org/drawingml/2006/main">
            <a:pPr algn="l">
              <a:defRPr sz="1425" b="0">
                <a:solidFill>
                  <a:srgbClr val="5B6472"/>
                </a:solidFill>
              </a:defRPr>
            </a:pPr>
            <a:r>
              <a:rPr sz="1425" b="0">
                <a:solidFill>
                  <a:srgbClr val="5B6472"/>
                </a:solidFill>
              </a:rPr>
              <a:t>의도별 집단 확장 → 재검증</a:t>
            </a:r>
          </a:p>
        </p:txBody>
      </p:sp>
      <p:sp>
        <p:nvSpPr>
          <p:cNvPr id="15" name="">
            <a:extLst xmlns:a="http://schemas.openxmlformats.org/drawingml/2006/main">
              <a:ext uri="{FF2B5EF4-FFF2-40B4-BE49-F238E27FC236}">
                <a16:creationId xmlns:a16="http://schemas.microsoft.com/office/drawing/2014/main" id="{6DA0157A-D233-4D18-9382-719EC1C1F39B}"/>
              </a:ext>
            </a:extLst>
          </p:cNvPr>
          <p:cNvSpPr>
            <a:spLocks xmlns:a="http://schemas.openxmlformats.org/drawingml/2006/main" noGrp="1"/>
          </p:cNvSpPr>
          <p:nvPr/>
        </p:nvSpPr>
        <p:spPr>
          <a:xfrm xmlns:a="http://schemas.openxmlformats.org/drawingml/2006/main">
            <a:off x="7886700" y="304800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03</a:t>
            </a:r>
          </a:p>
        </p:txBody>
      </p:sp>
      <p:sp>
        <p:nvSpPr>
          <p:cNvPr id="16" name="">
            <a:extLst xmlns:a="http://schemas.openxmlformats.org/drawingml/2006/main">
              <a:ext uri="{FF2B5EF4-FFF2-40B4-BE49-F238E27FC236}">
                <a16:creationId xmlns:a16="http://schemas.microsoft.com/office/drawing/2014/main" id="{CF05F657-3CE3-4A30-8B0E-E5AB6D8A64E6}"/>
              </a:ext>
            </a:extLst>
          </p:cNvPr>
          <p:cNvSpPr>
            <a:spLocks xmlns:a="http://schemas.openxmlformats.org/drawingml/2006/main" noGrp="1"/>
          </p:cNvSpPr>
          <p:nvPr/>
        </p:nvSpPr>
        <p:spPr>
          <a:xfrm xmlns:a="http://schemas.openxmlformats.org/drawingml/2006/main">
            <a:off x="7886700" y="347662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무엇을 보나</a:t>
            </a:r>
          </a:p>
        </p:txBody>
      </p:sp>
      <p:sp>
        <p:nvSpPr>
          <p:cNvPr id="17" name="">
            <a:extLst xmlns:a="http://schemas.openxmlformats.org/drawingml/2006/main">
              <a:ext uri="{FF2B5EF4-FFF2-40B4-BE49-F238E27FC236}">
                <a16:creationId xmlns:a16="http://schemas.microsoft.com/office/drawing/2014/main" id="{8E594820-D4BA-4E48-8C22-1BEA069F55D5}"/>
              </a:ext>
            </a:extLst>
          </p:cNvPr>
          <p:cNvSpPr>
            <a:spLocks xmlns:a="http://schemas.openxmlformats.org/drawingml/2006/main" noGrp="1"/>
          </p:cNvSpPr>
          <p:nvPr/>
        </p:nvSpPr>
        <p:spPr>
          <a:xfrm xmlns:a="http://schemas.openxmlformats.org/drawingml/2006/main">
            <a:off x="7886700" y="3952875"/>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B6472"/>
                </a:solidFill>
              </a:defRPr>
            </a:pPr>
            <a:r>
              <a:rPr sz="1425" b="0">
                <a:solidFill>
                  <a:srgbClr val="5B6472"/>
                </a:solidFill>
              </a:rPr>
              <a:t>검색 횟수보다 조건 변경과</a:t>
            </a:r>
          </a:p>
          <a:p xmlns:a="http://schemas.openxmlformats.org/drawingml/2006/main">
            <a:pPr algn="l">
              <a:defRPr sz="1425" b="0">
                <a:solidFill>
                  <a:srgbClr val="5B6472"/>
                </a:solidFill>
              </a:defRPr>
            </a:pPr>
            <a:r>
              <a:rPr sz="1425" b="0">
                <a:solidFill>
                  <a:srgbClr val="5B6472"/>
                </a:solidFill>
              </a:rPr>
              <a:t>회복·클릭·이탈의 관계</a:t>
            </a:r>
          </a:p>
        </p:txBody>
      </p:sp>
      <p:sp>
        <p:nvSpPr>
          <p:cNvPr id="18" name="">
            <a:extLst xmlns:a="http://schemas.openxmlformats.org/drawingml/2006/main">
              <a:ext uri="{FF2B5EF4-FFF2-40B4-BE49-F238E27FC236}">
                <a16:creationId xmlns:a16="http://schemas.microsoft.com/office/drawing/2014/main" id="{290C07AB-1F9F-4296-B5D6-57AD98D583E9}"/>
              </a:ext>
            </a:extLst>
          </p:cNvPr>
          <p:cNvSpPr>
            <a:spLocks xmlns:a="http://schemas.openxmlformats.org/drawingml/2006/main" noGrp="1"/>
          </p:cNvSpPr>
          <p:nvPr/>
        </p:nvSpPr>
        <p:spPr>
          <a:xfrm xmlns:a="http://schemas.openxmlformats.org/drawingml/2006/main">
            <a:off x="685800" y="5286375"/>
            <a:ext cx="10820400" cy="78105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0182DAC-BF82-4C2D-97FC-C76F2E5922BA}"/>
              </a:ext>
            </a:extLst>
          </p:cNvPr>
          <p:cNvSpPr>
            <a:spLocks xmlns:a="http://schemas.openxmlformats.org/drawingml/2006/main" noGrp="1"/>
          </p:cNvSpPr>
          <p:nvPr/>
        </p:nvSpPr>
        <p:spPr>
          <a:xfrm xmlns:a="http://schemas.openxmlformats.org/drawingml/2006/main">
            <a:off x="933450" y="55054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2F80ED"/>
                </a:solidFill>
              </a:defRPr>
            </a:pPr>
            <a:r>
              <a:rPr sz="1425" b="1">
                <a:solidFill>
                  <a:srgbClr val="2F80ED"/>
                </a:solidFill>
              </a:rPr>
              <a:t>이번 분석 초점</a:t>
            </a:r>
          </a:p>
        </p:txBody>
      </p:sp>
      <p:sp>
        <p:nvSpPr>
          <p:cNvPr id="20" name="">
            <a:extLst xmlns:a="http://schemas.openxmlformats.org/drawingml/2006/main">
              <a:ext uri="{FF2B5EF4-FFF2-40B4-BE49-F238E27FC236}">
                <a16:creationId xmlns:a16="http://schemas.microsoft.com/office/drawing/2014/main" id="{08C495EC-14B9-495C-8936-6E1CEFF17032}"/>
              </a:ext>
            </a:extLst>
          </p:cNvPr>
          <p:cNvSpPr>
            <a:spLocks xmlns:a="http://schemas.openxmlformats.org/drawingml/2006/main" noGrp="1"/>
          </p:cNvSpPr>
          <p:nvPr/>
        </p:nvSpPr>
        <p:spPr>
          <a:xfrm xmlns:a="http://schemas.openxmlformats.org/drawingml/2006/main">
            <a:off x="2857500" y="5410200"/>
            <a:ext cx="800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전체 흐름은 유지하되, 많이 관찰된 0건 검색을 중심으로 가설을 검증</a:t>
            </a:r>
          </a:p>
        </p:txBody>
      </p:sp>
    </p:spTree>
    <p:extLst>
      <p:ext uri="{BB962C8B-B14F-4D97-AF65-F5344CB8AC3E}">
        <p14:creationId xmlns:p14="http://schemas.microsoft.com/office/powerpoint/2010/main" val="16332569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75644D7-0C00-4AEF-9EC9-36E45D684722}"/>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OBSERVATION</a:t>
            </a:r>
          </a:p>
        </p:txBody>
      </p:sp>
      <p:sp>
        <p:nvSpPr>
          <p:cNvPr id="2" name="">
            <a:extLst xmlns:a="http://schemas.openxmlformats.org/drawingml/2006/main">
              <a:ext uri="{FF2B5EF4-FFF2-40B4-BE49-F238E27FC236}">
                <a16:creationId xmlns:a16="http://schemas.microsoft.com/office/drawing/2014/main" id="{B4370E9A-7258-44BC-8382-FFAD0AD0A455}"/>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분모를 바꿔가며 검색 실패에서 즉시 회복까지 추적했다</a:t>
            </a:r>
          </a:p>
        </p:txBody>
      </p:sp>
      <p:sp>
        <p:nvSpPr>
          <p:cNvPr id="3" name="">
            <a:extLst xmlns:a="http://schemas.openxmlformats.org/drawingml/2006/main">
              <a:ext uri="{FF2B5EF4-FFF2-40B4-BE49-F238E27FC236}">
                <a16:creationId xmlns:a16="http://schemas.microsoft.com/office/drawing/2014/main" id="{503E2FD4-B2AB-49F6-BC5F-7CE63B15D517}"/>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5D6D2493-D540-4A23-9E46-449D3207AF49}"/>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03</a:t>
            </a:r>
          </a:p>
        </p:txBody>
      </p:sp>
      <p:sp>
        <p:nvSpPr>
          <p:cNvPr id="5" name="">
            <a:extLst xmlns:a="http://schemas.openxmlformats.org/drawingml/2006/main">
              <a:ext uri="{FF2B5EF4-FFF2-40B4-BE49-F238E27FC236}">
                <a16:creationId xmlns:a16="http://schemas.microsoft.com/office/drawing/2014/main" id="{E232AA7D-8BB3-4596-B78E-9B19BF16E14D}"/>
              </a:ext>
            </a:extLst>
          </p:cNvPr>
          <p:cNvSpPr>
            <a:spLocks xmlns:a="http://schemas.openxmlformats.org/drawingml/2006/main" noGrp="1"/>
          </p:cNvSpPr>
          <p:nvPr/>
        </p:nvSpPr>
        <p:spPr>
          <a:xfrm xmlns:a="http://schemas.openxmlformats.org/drawingml/2006/main">
            <a:off x="685800" y="1924050"/>
            <a:ext cx="2333625" cy="1476375"/>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6366DE9-D420-4748-99AF-2A47D3BBAAF4}"/>
              </a:ext>
            </a:extLst>
          </p:cNvPr>
          <p:cNvSpPr>
            <a:spLocks xmlns:a="http://schemas.openxmlformats.org/drawingml/2006/main" noGrp="1"/>
          </p:cNvSpPr>
          <p:nvPr/>
        </p:nvSpPr>
        <p:spPr>
          <a:xfrm xmlns:a="http://schemas.openxmlformats.org/drawingml/2006/main">
            <a:off x="857250" y="20955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5B6472"/>
                </a:solidFill>
              </a:defRPr>
            </a:pPr>
            <a:r>
              <a:rPr sz="1425" b="1">
                <a:solidFill>
                  <a:srgbClr val="5B6472"/>
                </a:solidFill>
              </a:rPr>
              <a:t>전체 검색</a:t>
            </a:r>
          </a:p>
        </p:txBody>
      </p:sp>
      <p:sp>
        <p:nvSpPr>
          <p:cNvPr id="7" name="">
            <a:extLst xmlns:a="http://schemas.openxmlformats.org/drawingml/2006/main">
              <a:ext uri="{FF2B5EF4-FFF2-40B4-BE49-F238E27FC236}">
                <a16:creationId xmlns:a16="http://schemas.microsoft.com/office/drawing/2014/main" id="{D1519104-8D4E-4628-80F2-AFB5D2FE1EE4}"/>
              </a:ext>
            </a:extLst>
          </p:cNvPr>
          <p:cNvSpPr>
            <a:spLocks xmlns:a="http://schemas.openxmlformats.org/drawingml/2006/main" noGrp="1"/>
          </p:cNvSpPr>
          <p:nvPr/>
        </p:nvSpPr>
        <p:spPr>
          <a:xfrm xmlns:a="http://schemas.openxmlformats.org/drawingml/2006/main">
            <a:off x="857250" y="24765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2F80ED"/>
                </a:solidFill>
              </a:defRPr>
            </a:pPr>
            <a:r>
              <a:rPr sz="2175" b="1">
                <a:solidFill>
                  <a:srgbClr val="2F80ED"/>
                </a:solidFill>
              </a:rPr>
              <a:t>608건</a:t>
            </a:r>
          </a:p>
        </p:txBody>
      </p:sp>
      <p:sp>
        <p:nvSpPr>
          <p:cNvPr id="8" name="">
            <a:extLst xmlns:a="http://schemas.openxmlformats.org/drawingml/2006/main">
              <a:ext uri="{FF2B5EF4-FFF2-40B4-BE49-F238E27FC236}">
                <a16:creationId xmlns:a16="http://schemas.microsoft.com/office/drawing/2014/main" id="{4EA84FCF-41A9-425B-8E52-F76C776E8A14}"/>
              </a:ext>
            </a:extLst>
          </p:cNvPr>
          <p:cNvSpPr>
            <a:spLocks xmlns:a="http://schemas.openxmlformats.org/drawingml/2006/main" noGrp="1"/>
          </p:cNvSpPr>
          <p:nvPr/>
        </p:nvSpPr>
        <p:spPr>
          <a:xfrm xmlns:a="http://schemas.openxmlformats.org/drawingml/2006/main">
            <a:off x="857250" y="299085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분모: 전체 검색</a:t>
            </a:r>
          </a:p>
        </p:txBody>
      </p:sp>
      <p:sp>
        <p:nvSpPr>
          <p:cNvPr id="9" name="">
            <a:extLst xmlns:a="http://schemas.openxmlformats.org/drawingml/2006/main">
              <a:ext uri="{FF2B5EF4-FFF2-40B4-BE49-F238E27FC236}">
                <a16:creationId xmlns:a16="http://schemas.microsoft.com/office/drawing/2014/main" id="{FFAA96C3-4212-4AC6-8740-E4DA9C4A2483}"/>
              </a:ext>
            </a:extLst>
          </p:cNvPr>
          <p:cNvSpPr>
            <a:spLocks xmlns:a="http://schemas.openxmlformats.org/drawingml/2006/main" noGrp="1"/>
          </p:cNvSpPr>
          <p:nvPr/>
        </p:nvSpPr>
        <p:spPr>
          <a:xfrm xmlns:a="http://schemas.openxmlformats.org/drawingml/2006/main">
            <a:off x="3048000" y="2381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F80ED"/>
                </a:solidFill>
              </a:defRPr>
            </a:pPr>
            <a:r>
              <a:rPr sz="1875" b="1">
                <a:solidFill>
                  <a:srgbClr val="2F80ED"/>
                </a:solidFill>
              </a:rPr>
              <a:t>→</a:t>
            </a:r>
          </a:p>
        </p:txBody>
      </p:sp>
      <p:sp>
        <p:nvSpPr>
          <p:cNvPr id="10" name="">
            <a:extLst xmlns:a="http://schemas.openxmlformats.org/drawingml/2006/main">
              <a:ext uri="{FF2B5EF4-FFF2-40B4-BE49-F238E27FC236}">
                <a16:creationId xmlns:a16="http://schemas.microsoft.com/office/drawing/2014/main" id="{F3D3FB7E-9953-400F-A692-BC3984F15D25}"/>
              </a:ext>
            </a:extLst>
          </p:cNvPr>
          <p:cNvSpPr>
            <a:spLocks xmlns:a="http://schemas.openxmlformats.org/drawingml/2006/main" noGrp="1"/>
          </p:cNvSpPr>
          <p:nvPr/>
        </p:nvSpPr>
        <p:spPr>
          <a:xfrm xmlns:a="http://schemas.openxmlformats.org/drawingml/2006/main">
            <a:off x="3400425" y="1924050"/>
            <a:ext cx="2333625" cy="1476375"/>
          </a:xfrm>
          <a:prstGeom xmlns:a="http://schemas.openxmlformats.org/drawingml/2006/main" prst="rect">
            <a:avLst/>
          </a:prstGeom>
          <a:solidFill xmlns:a="http://schemas.openxmlformats.org/drawingml/2006/main">
            <a:srgbClr val="FFF0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8785D23-0F2F-402E-BA1B-8447B64A3020}"/>
              </a:ext>
            </a:extLst>
          </p:cNvPr>
          <p:cNvSpPr>
            <a:spLocks xmlns:a="http://schemas.openxmlformats.org/drawingml/2006/main" noGrp="1"/>
          </p:cNvSpPr>
          <p:nvPr/>
        </p:nvSpPr>
        <p:spPr>
          <a:xfrm xmlns:a="http://schemas.openxmlformats.org/drawingml/2006/main">
            <a:off x="3571875" y="20955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5B6472"/>
                </a:solidFill>
              </a:defRPr>
            </a:pPr>
            <a:r>
              <a:rPr sz="1425" b="1">
                <a:solidFill>
                  <a:srgbClr val="5B6472"/>
                </a:solidFill>
              </a:rPr>
              <a:t>결과 0건</a:t>
            </a:r>
          </a:p>
        </p:txBody>
      </p:sp>
      <p:sp>
        <p:nvSpPr>
          <p:cNvPr id="12" name="">
            <a:extLst xmlns:a="http://schemas.openxmlformats.org/drawingml/2006/main">
              <a:ext uri="{FF2B5EF4-FFF2-40B4-BE49-F238E27FC236}">
                <a16:creationId xmlns:a16="http://schemas.microsoft.com/office/drawing/2014/main" id="{2F3E961F-6AD0-4CD2-859B-B7B196460456}"/>
              </a:ext>
            </a:extLst>
          </p:cNvPr>
          <p:cNvSpPr>
            <a:spLocks xmlns:a="http://schemas.openxmlformats.org/drawingml/2006/main" noGrp="1"/>
          </p:cNvSpPr>
          <p:nvPr/>
        </p:nvSpPr>
        <p:spPr>
          <a:xfrm xmlns:a="http://schemas.openxmlformats.org/drawingml/2006/main">
            <a:off x="3571875" y="24765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D64545"/>
                </a:solidFill>
              </a:defRPr>
            </a:pPr>
            <a:r>
              <a:rPr sz="2175" b="1">
                <a:solidFill>
                  <a:srgbClr val="D64545"/>
                </a:solidFill>
              </a:rPr>
              <a:t>310건 · 51.0%</a:t>
            </a:r>
          </a:p>
        </p:txBody>
      </p:sp>
      <p:sp>
        <p:nvSpPr>
          <p:cNvPr id="13" name="">
            <a:extLst xmlns:a="http://schemas.openxmlformats.org/drawingml/2006/main">
              <a:ext uri="{FF2B5EF4-FFF2-40B4-BE49-F238E27FC236}">
                <a16:creationId xmlns:a16="http://schemas.microsoft.com/office/drawing/2014/main" id="{F6305B9C-7CE5-4D08-A7D6-CCFB384483BA}"/>
              </a:ext>
            </a:extLst>
          </p:cNvPr>
          <p:cNvSpPr>
            <a:spLocks xmlns:a="http://schemas.openxmlformats.org/drawingml/2006/main" noGrp="1"/>
          </p:cNvSpPr>
          <p:nvPr/>
        </p:nvSpPr>
        <p:spPr>
          <a:xfrm xmlns:a="http://schemas.openxmlformats.org/drawingml/2006/main">
            <a:off x="3571875" y="299085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310 ÷ 608</a:t>
            </a:r>
          </a:p>
        </p:txBody>
      </p:sp>
      <p:sp>
        <p:nvSpPr>
          <p:cNvPr id="14" name="">
            <a:extLst xmlns:a="http://schemas.openxmlformats.org/drawingml/2006/main">
              <a:ext uri="{FF2B5EF4-FFF2-40B4-BE49-F238E27FC236}">
                <a16:creationId xmlns:a16="http://schemas.microsoft.com/office/drawing/2014/main" id="{8A138742-0CE4-4175-9BE2-DC6DB228059C}"/>
              </a:ext>
            </a:extLst>
          </p:cNvPr>
          <p:cNvSpPr>
            <a:spLocks xmlns:a="http://schemas.openxmlformats.org/drawingml/2006/main" noGrp="1"/>
          </p:cNvSpPr>
          <p:nvPr/>
        </p:nvSpPr>
        <p:spPr>
          <a:xfrm xmlns:a="http://schemas.openxmlformats.org/drawingml/2006/main">
            <a:off x="5762625" y="2381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F80ED"/>
                </a:solidFill>
              </a:defRPr>
            </a:pPr>
            <a:r>
              <a:rPr sz="1875" b="1">
                <a:solidFill>
                  <a:srgbClr val="2F80ED"/>
                </a:solidFill>
              </a:rPr>
              <a:t>→</a:t>
            </a:r>
          </a:p>
        </p:txBody>
      </p:sp>
      <p:sp>
        <p:nvSpPr>
          <p:cNvPr id="15" name="">
            <a:extLst xmlns:a="http://schemas.openxmlformats.org/drawingml/2006/main">
              <a:ext uri="{FF2B5EF4-FFF2-40B4-BE49-F238E27FC236}">
                <a16:creationId xmlns:a16="http://schemas.microsoft.com/office/drawing/2014/main" id="{046D4540-815D-48D1-A9E9-B5C9A4881B6D}"/>
              </a:ext>
            </a:extLst>
          </p:cNvPr>
          <p:cNvSpPr>
            <a:spLocks xmlns:a="http://schemas.openxmlformats.org/drawingml/2006/main" noGrp="1"/>
          </p:cNvSpPr>
          <p:nvPr/>
        </p:nvSpPr>
        <p:spPr>
          <a:xfrm xmlns:a="http://schemas.openxmlformats.org/drawingml/2006/main">
            <a:off x="6115050" y="1924050"/>
            <a:ext cx="2333625" cy="1476375"/>
          </a:xfrm>
          <a:prstGeom xmlns:a="http://schemas.openxmlformats.org/drawingml/2006/main" prst="rect">
            <a:avLst/>
          </a:prstGeom>
          <a:solidFill xmlns:a="http://schemas.openxmlformats.org/drawingml/2006/main">
            <a:srgbClr val="FFF6E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8C11D95-FA4A-4133-BBA6-CD5D54435F8F}"/>
              </a:ext>
            </a:extLst>
          </p:cNvPr>
          <p:cNvSpPr>
            <a:spLocks xmlns:a="http://schemas.openxmlformats.org/drawingml/2006/main" noGrp="1"/>
          </p:cNvSpPr>
          <p:nvPr/>
        </p:nvSpPr>
        <p:spPr>
          <a:xfrm xmlns:a="http://schemas.openxmlformats.org/drawingml/2006/main">
            <a:off x="6286500" y="20955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5B6472"/>
                </a:solidFill>
              </a:defRPr>
            </a:pPr>
            <a:r>
              <a:rPr sz="1425" b="1">
                <a:solidFill>
                  <a:srgbClr val="5B6472"/>
                </a:solidFill>
              </a:rPr>
              <a:t>후속 재검색</a:t>
            </a:r>
          </a:p>
        </p:txBody>
      </p:sp>
      <p:sp>
        <p:nvSpPr>
          <p:cNvPr id="17" name="">
            <a:extLst xmlns:a="http://schemas.openxmlformats.org/drawingml/2006/main">
              <a:ext uri="{FF2B5EF4-FFF2-40B4-BE49-F238E27FC236}">
                <a16:creationId xmlns:a16="http://schemas.microsoft.com/office/drawing/2014/main" id="{15F59100-CA34-4578-84BB-1A06AEC9B762}"/>
              </a:ext>
            </a:extLst>
          </p:cNvPr>
          <p:cNvSpPr>
            <a:spLocks xmlns:a="http://schemas.openxmlformats.org/drawingml/2006/main" noGrp="1"/>
          </p:cNvSpPr>
          <p:nvPr/>
        </p:nvSpPr>
        <p:spPr>
          <a:xfrm xmlns:a="http://schemas.openxmlformats.org/drawingml/2006/main">
            <a:off x="6286500" y="24765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E49A2D"/>
                </a:solidFill>
              </a:defRPr>
            </a:pPr>
            <a:r>
              <a:rPr sz="2175" b="1">
                <a:solidFill>
                  <a:srgbClr val="E49A2D"/>
                </a:solidFill>
              </a:rPr>
              <a:t>298건 · 96.1%</a:t>
            </a:r>
          </a:p>
        </p:txBody>
      </p:sp>
      <p:sp>
        <p:nvSpPr>
          <p:cNvPr id="18" name="">
            <a:extLst xmlns:a="http://schemas.openxmlformats.org/drawingml/2006/main">
              <a:ext uri="{FF2B5EF4-FFF2-40B4-BE49-F238E27FC236}">
                <a16:creationId xmlns:a16="http://schemas.microsoft.com/office/drawing/2014/main" id="{B66445F6-6885-4CAC-B65E-BF40510EAB27}"/>
              </a:ext>
            </a:extLst>
          </p:cNvPr>
          <p:cNvSpPr>
            <a:spLocks xmlns:a="http://schemas.openxmlformats.org/drawingml/2006/main" noGrp="1"/>
          </p:cNvSpPr>
          <p:nvPr/>
        </p:nvSpPr>
        <p:spPr>
          <a:xfrm xmlns:a="http://schemas.openxmlformats.org/drawingml/2006/main">
            <a:off x="6286500" y="299085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298 ÷ 310</a:t>
            </a:r>
          </a:p>
        </p:txBody>
      </p:sp>
      <p:sp>
        <p:nvSpPr>
          <p:cNvPr id="19" name="">
            <a:extLst xmlns:a="http://schemas.openxmlformats.org/drawingml/2006/main">
              <a:ext uri="{FF2B5EF4-FFF2-40B4-BE49-F238E27FC236}">
                <a16:creationId xmlns:a16="http://schemas.microsoft.com/office/drawing/2014/main" id="{C027C0CC-76E4-4FC6-A27E-F943BCF0D264}"/>
              </a:ext>
            </a:extLst>
          </p:cNvPr>
          <p:cNvSpPr>
            <a:spLocks xmlns:a="http://schemas.openxmlformats.org/drawingml/2006/main" noGrp="1"/>
          </p:cNvSpPr>
          <p:nvPr/>
        </p:nvSpPr>
        <p:spPr>
          <a:xfrm xmlns:a="http://schemas.openxmlformats.org/drawingml/2006/main">
            <a:off x="8477250" y="2381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F80ED"/>
                </a:solidFill>
              </a:defRPr>
            </a:pPr>
            <a:r>
              <a:rPr sz="1875" b="1">
                <a:solidFill>
                  <a:srgbClr val="2F80ED"/>
                </a:solidFill>
              </a:rPr>
              <a:t>→</a:t>
            </a:r>
          </a:p>
        </p:txBody>
      </p:sp>
      <p:sp>
        <p:nvSpPr>
          <p:cNvPr id="20" name="">
            <a:extLst xmlns:a="http://schemas.openxmlformats.org/drawingml/2006/main">
              <a:ext uri="{FF2B5EF4-FFF2-40B4-BE49-F238E27FC236}">
                <a16:creationId xmlns:a16="http://schemas.microsoft.com/office/drawing/2014/main" id="{2E49BBA3-7B87-4ED2-9E8C-5678F41F8084}"/>
              </a:ext>
            </a:extLst>
          </p:cNvPr>
          <p:cNvSpPr>
            <a:spLocks xmlns:a="http://schemas.openxmlformats.org/drawingml/2006/main" noGrp="1"/>
          </p:cNvSpPr>
          <p:nvPr/>
        </p:nvSpPr>
        <p:spPr>
          <a:xfrm xmlns:a="http://schemas.openxmlformats.org/drawingml/2006/main">
            <a:off x="8829675" y="1924050"/>
            <a:ext cx="2333625" cy="1476375"/>
          </a:xfrm>
          <a:prstGeom xmlns:a="http://schemas.openxmlformats.org/drawingml/2006/main" prst="rect">
            <a:avLst/>
          </a:prstGeom>
          <a:solidFill xmlns:a="http://schemas.openxmlformats.org/drawingml/2006/main">
            <a:srgbClr val="EAF7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92218AF-3528-4459-A8A2-5AACAB80462B}"/>
              </a:ext>
            </a:extLst>
          </p:cNvPr>
          <p:cNvSpPr>
            <a:spLocks xmlns:a="http://schemas.openxmlformats.org/drawingml/2006/main" noGrp="1"/>
          </p:cNvSpPr>
          <p:nvPr/>
        </p:nvSpPr>
        <p:spPr>
          <a:xfrm xmlns:a="http://schemas.openxmlformats.org/drawingml/2006/main">
            <a:off x="9001125" y="2095500"/>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5B6472"/>
                </a:solidFill>
              </a:defRPr>
            </a:pPr>
            <a:r>
              <a:rPr sz="1425" b="1">
                <a:solidFill>
                  <a:srgbClr val="5B6472"/>
                </a:solidFill>
              </a:rPr>
              <a:t>즉시 회복</a:t>
            </a:r>
          </a:p>
        </p:txBody>
      </p:sp>
      <p:sp>
        <p:nvSpPr>
          <p:cNvPr id="22" name="">
            <a:extLst xmlns:a="http://schemas.openxmlformats.org/drawingml/2006/main">
              <a:ext uri="{FF2B5EF4-FFF2-40B4-BE49-F238E27FC236}">
                <a16:creationId xmlns:a16="http://schemas.microsoft.com/office/drawing/2014/main" id="{7AE2E3C3-24D9-4D14-9D25-971E471B3BCE}"/>
              </a:ext>
            </a:extLst>
          </p:cNvPr>
          <p:cNvSpPr>
            <a:spLocks xmlns:a="http://schemas.openxmlformats.org/drawingml/2006/main" noGrp="1"/>
          </p:cNvSpPr>
          <p:nvPr/>
        </p:nvSpPr>
        <p:spPr>
          <a:xfrm xmlns:a="http://schemas.openxmlformats.org/drawingml/2006/main">
            <a:off x="9001125" y="24765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168A68"/>
                </a:solidFill>
              </a:defRPr>
            </a:pPr>
            <a:r>
              <a:rPr sz="2175" b="1">
                <a:solidFill>
                  <a:srgbClr val="168A68"/>
                </a:solidFill>
              </a:rPr>
              <a:t>67건 · 22.5%</a:t>
            </a:r>
          </a:p>
        </p:txBody>
      </p:sp>
      <p:sp>
        <p:nvSpPr>
          <p:cNvPr id="23" name="">
            <a:extLst xmlns:a="http://schemas.openxmlformats.org/drawingml/2006/main">
              <a:ext uri="{FF2B5EF4-FFF2-40B4-BE49-F238E27FC236}">
                <a16:creationId xmlns:a16="http://schemas.microsoft.com/office/drawing/2014/main" id="{9EB949AD-351E-4A9F-BD86-E4BA02330593}"/>
              </a:ext>
            </a:extLst>
          </p:cNvPr>
          <p:cNvSpPr>
            <a:spLocks xmlns:a="http://schemas.openxmlformats.org/drawingml/2006/main" noGrp="1"/>
          </p:cNvSpPr>
          <p:nvPr/>
        </p:nvSpPr>
        <p:spPr>
          <a:xfrm xmlns:a="http://schemas.openxmlformats.org/drawingml/2006/main">
            <a:off x="9001125" y="2990850"/>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defRPr>
            </a:pPr>
            <a:r>
              <a:rPr sz="1200" b="0">
                <a:solidFill>
                  <a:srgbClr val="5B6472"/>
                </a:solidFill>
              </a:rPr>
              <a:t>67 ÷ 298</a:t>
            </a:r>
          </a:p>
        </p:txBody>
      </p:sp>
      <p:sp>
        <p:nvSpPr>
          <p:cNvPr id="24" name="">
            <a:extLst xmlns:a="http://schemas.openxmlformats.org/drawingml/2006/main">
              <a:ext uri="{FF2B5EF4-FFF2-40B4-BE49-F238E27FC236}">
                <a16:creationId xmlns:a16="http://schemas.microsoft.com/office/drawing/2014/main" id="{8A7111C5-1567-4224-9865-551BD7464647}"/>
              </a:ext>
            </a:extLst>
          </p:cNvPr>
          <p:cNvSpPr>
            <a:spLocks xmlns:a="http://schemas.openxmlformats.org/drawingml/2006/main" noGrp="1"/>
          </p:cNvSpPr>
          <p:nvPr/>
        </p:nvSpPr>
        <p:spPr>
          <a:xfrm xmlns:a="http://schemas.openxmlformats.org/drawingml/2006/main">
            <a:off x="685800" y="3762375"/>
            <a:ext cx="10820400" cy="16192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38A006B-8A1E-44AC-8476-C12C548F0EAD}"/>
              </a:ext>
            </a:extLst>
          </p:cNvPr>
          <p:cNvSpPr>
            <a:spLocks xmlns:a="http://schemas.openxmlformats.org/drawingml/2006/main" noGrp="1"/>
          </p:cNvSpPr>
          <p:nvPr/>
        </p:nvSpPr>
        <p:spPr>
          <a:xfrm xmlns:a="http://schemas.openxmlformats.org/drawingml/2006/main">
            <a:off x="933450" y="39624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F80ED"/>
                </a:solidFill>
              </a:defRPr>
            </a:pPr>
            <a:r>
              <a:rPr sz="1500" b="1">
                <a:solidFill>
                  <a:srgbClr val="2F80ED"/>
                </a:solidFill>
              </a:rPr>
              <a:t>집계 단위와 출처</a:t>
            </a:r>
          </a:p>
        </p:txBody>
      </p:sp>
      <p:sp>
        <p:nvSpPr>
          <p:cNvPr id="26" name="">
            <a:extLst xmlns:a="http://schemas.openxmlformats.org/drawingml/2006/main">
              <a:ext uri="{FF2B5EF4-FFF2-40B4-BE49-F238E27FC236}">
                <a16:creationId xmlns:a16="http://schemas.microsoft.com/office/drawing/2014/main" id="{1BDC342F-542F-4A47-BB42-487881E74226}"/>
              </a:ext>
            </a:extLst>
          </p:cNvPr>
          <p:cNvSpPr>
            <a:spLocks xmlns:a="http://schemas.openxmlformats.org/drawingml/2006/main" noGrp="1"/>
          </p:cNvSpPr>
          <p:nvPr/>
        </p:nvSpPr>
        <p:spPr>
          <a:xfrm xmlns:a="http://schemas.openxmlformats.org/drawingml/2006/main">
            <a:off x="933450" y="4343400"/>
            <a:ext cx="933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827"/>
                </a:solidFill>
              </a:defRPr>
            </a:pPr>
            <a:r>
              <a:rPr sz="1350" b="0">
                <a:solidFill>
                  <a:srgbClr val="111827"/>
                </a:solidFill>
              </a:rPr>
              <a:t>0건률: 검색 1건 기준 · SEARCH.total_result_count / SEARCH_RESULT</a:t>
            </a:r>
          </a:p>
        </p:txBody>
      </p:sp>
      <p:sp>
        <p:nvSpPr>
          <p:cNvPr id="27" name="">
            <a:extLst xmlns:a="http://schemas.openxmlformats.org/drawingml/2006/main">
              <a:ext uri="{FF2B5EF4-FFF2-40B4-BE49-F238E27FC236}">
                <a16:creationId xmlns:a16="http://schemas.microsoft.com/office/drawing/2014/main" id="{979AD2F3-F182-4167-94AC-2D42235BD545}"/>
              </a:ext>
            </a:extLst>
          </p:cNvPr>
          <p:cNvSpPr>
            <a:spLocks xmlns:a="http://schemas.openxmlformats.org/drawingml/2006/main" noGrp="1"/>
          </p:cNvSpPr>
          <p:nvPr/>
        </p:nvSpPr>
        <p:spPr>
          <a:xfrm xmlns:a="http://schemas.openxmlformats.org/drawingml/2006/main">
            <a:off x="933450" y="4657725"/>
            <a:ext cx="933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827"/>
                </a:solidFill>
              </a:defRPr>
            </a:pPr>
            <a:r>
              <a:rPr sz="1350" b="0">
                <a:solidFill>
                  <a:srgbClr val="111827"/>
                </a:solidFill>
              </a:rPr>
              <a:t>재검색·회복률: 같은 session_id의 다음 search_time 기준 · SEARCH</a:t>
            </a:r>
          </a:p>
        </p:txBody>
      </p:sp>
      <p:sp>
        <p:nvSpPr>
          <p:cNvPr id="28" name="">
            <a:extLst xmlns:a="http://schemas.openxmlformats.org/drawingml/2006/main">
              <a:ext uri="{FF2B5EF4-FFF2-40B4-BE49-F238E27FC236}">
                <a16:creationId xmlns:a16="http://schemas.microsoft.com/office/drawing/2014/main" id="{518CA039-9C8A-4555-A0E3-67218E791152}"/>
              </a:ext>
            </a:extLst>
          </p:cNvPr>
          <p:cNvSpPr>
            <a:spLocks xmlns:a="http://schemas.openxmlformats.org/drawingml/2006/main" noGrp="1"/>
          </p:cNvSpPr>
          <p:nvPr/>
        </p:nvSpPr>
        <p:spPr>
          <a:xfrm xmlns:a="http://schemas.openxmlformats.org/drawingml/2006/main">
            <a:off x="933450" y="4972050"/>
            <a:ext cx="933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827"/>
                </a:solidFill>
              </a:defRPr>
            </a:pPr>
            <a:r>
              <a:rPr sz="1350" b="0">
                <a:solidFill>
                  <a:srgbClr val="111827"/>
                </a:solidFill>
              </a:rPr>
              <a:t>행동·사용자 연결: EVENT.user_id, search_id · 상위 5명 검색 비중 48.5%</a:t>
            </a:r>
          </a:p>
        </p:txBody>
      </p:sp>
      <p:sp>
        <p:nvSpPr>
          <p:cNvPr id="29" name="">
            <a:extLst xmlns:a="http://schemas.openxmlformats.org/drawingml/2006/main">
              <a:ext uri="{FF2B5EF4-FFF2-40B4-BE49-F238E27FC236}">
                <a16:creationId xmlns:a16="http://schemas.microsoft.com/office/drawing/2014/main" id="{0714FC8C-8717-4512-8841-1B06A167F7AA}"/>
              </a:ext>
            </a:extLst>
          </p:cNvPr>
          <p:cNvSpPr>
            <a:spLocks xmlns:a="http://schemas.openxmlformats.org/drawingml/2006/main" noGrp="1"/>
          </p:cNvSpPr>
          <p:nvPr/>
        </p:nvSpPr>
        <p:spPr>
          <a:xfrm xmlns:a="http://schemas.openxmlformats.org/drawingml/2006/main">
            <a:off x="685800" y="569595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각 비율의 분모가 다르므로 22.5%는 전체 성공률이 아니라 “재검색 즉시 회복률”이다.</a:t>
            </a:r>
          </a:p>
        </p:txBody>
      </p:sp>
    </p:spTree>
    <p:extLst>
      <p:ext uri="{BB962C8B-B14F-4D97-AF65-F5344CB8AC3E}">
        <p14:creationId xmlns:p14="http://schemas.microsoft.com/office/powerpoint/2010/main" val="10693701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B47D69A-0D4C-4534-B19C-76BEDFDEA10F}"/>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LIMITATION</a:t>
            </a:r>
          </a:p>
        </p:txBody>
      </p:sp>
      <p:sp>
        <p:nvSpPr>
          <p:cNvPr id="2" name="">
            <a:extLst xmlns:a="http://schemas.openxmlformats.org/drawingml/2006/main">
              <a:ext uri="{FF2B5EF4-FFF2-40B4-BE49-F238E27FC236}">
                <a16:creationId xmlns:a16="http://schemas.microsoft.com/office/drawing/2014/main" id="{3F534670-601C-4F14-92D6-58AA8336C5C1}"/>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표본의 한계를 먼저 통제해야 가설 검증이 왜곡되지 않는다</a:t>
            </a:r>
          </a:p>
        </p:txBody>
      </p:sp>
      <p:sp>
        <p:nvSpPr>
          <p:cNvPr id="3" name="">
            <a:extLst xmlns:a="http://schemas.openxmlformats.org/drawingml/2006/main">
              <a:ext uri="{FF2B5EF4-FFF2-40B4-BE49-F238E27FC236}">
                <a16:creationId xmlns:a16="http://schemas.microsoft.com/office/drawing/2014/main" id="{080C434D-A06B-45F9-B149-7D005A667B3A}"/>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FDAFC194-8719-4F00-BE05-C2ACE9A09383}"/>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04</a:t>
            </a:r>
          </a:p>
        </p:txBody>
      </p:sp>
      <p:sp>
        <p:nvSpPr>
          <p:cNvPr id="5" name="">
            <a:extLst xmlns:a="http://schemas.openxmlformats.org/drawingml/2006/main">
              <a:ext uri="{FF2B5EF4-FFF2-40B4-BE49-F238E27FC236}">
                <a16:creationId xmlns:a16="http://schemas.microsoft.com/office/drawing/2014/main" id="{99609821-9106-4CEA-B01E-68F2447CA9AA}"/>
              </a:ext>
            </a:extLst>
          </p:cNvPr>
          <p:cNvSpPr>
            <a:spLocks xmlns:a="http://schemas.openxmlformats.org/drawingml/2006/main" noGrp="1"/>
          </p:cNvSpPr>
          <p:nvPr/>
        </p:nvSpPr>
        <p:spPr>
          <a:xfrm xmlns:a="http://schemas.openxmlformats.org/drawingml/2006/main">
            <a:off x="685800" y="1885950"/>
            <a:ext cx="2476500" cy="20002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797CFF5-165A-44A0-AB2F-F990FBE360BE}"/>
              </a:ext>
            </a:extLst>
          </p:cNvPr>
          <p:cNvSpPr>
            <a:spLocks xmlns:a="http://schemas.openxmlformats.org/drawingml/2006/main" noGrp="1"/>
          </p:cNvSpPr>
          <p:nvPr/>
        </p:nvSpPr>
        <p:spPr>
          <a:xfrm xmlns:a="http://schemas.openxmlformats.org/drawingml/2006/main">
            <a:off x="876300" y="20574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F80ED"/>
                </a:solidFill>
              </a:defRPr>
            </a:pPr>
            <a:r>
              <a:rPr sz="1275" b="1">
                <a:solidFill>
                  <a:srgbClr val="2F80ED"/>
                </a:solidFill>
              </a:rPr>
              <a:t>01</a:t>
            </a:r>
          </a:p>
        </p:txBody>
      </p:sp>
      <p:sp>
        <p:nvSpPr>
          <p:cNvPr id="7" name="">
            <a:extLst xmlns:a="http://schemas.openxmlformats.org/drawingml/2006/main">
              <a:ext uri="{FF2B5EF4-FFF2-40B4-BE49-F238E27FC236}">
                <a16:creationId xmlns:a16="http://schemas.microsoft.com/office/drawing/2014/main" id="{087229BB-DED1-40F9-A7DD-27B66C56A2EE}"/>
              </a:ext>
            </a:extLst>
          </p:cNvPr>
          <p:cNvSpPr>
            <a:spLocks xmlns:a="http://schemas.openxmlformats.org/drawingml/2006/main" noGrp="1"/>
          </p:cNvSpPr>
          <p:nvPr/>
        </p:nvSpPr>
        <p:spPr>
          <a:xfrm xmlns:a="http://schemas.openxmlformats.org/drawingml/2006/main">
            <a:off x="876300" y="24765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분모가 다름</a:t>
            </a:r>
          </a:p>
        </p:txBody>
      </p:sp>
      <p:sp>
        <p:nvSpPr>
          <p:cNvPr id="8" name="">
            <a:extLst xmlns:a="http://schemas.openxmlformats.org/drawingml/2006/main">
              <a:ext uri="{FF2B5EF4-FFF2-40B4-BE49-F238E27FC236}">
                <a16:creationId xmlns:a16="http://schemas.microsoft.com/office/drawing/2014/main" id="{F78786C7-1AC8-4DBD-8839-9B4990C5991B}"/>
              </a:ext>
            </a:extLst>
          </p:cNvPr>
          <p:cNvSpPr>
            <a:spLocks xmlns:a="http://schemas.openxmlformats.org/drawingml/2006/main" noGrp="1"/>
          </p:cNvSpPr>
          <p:nvPr/>
        </p:nvSpPr>
        <p:spPr>
          <a:xfrm xmlns:a="http://schemas.openxmlformats.org/drawingml/2006/main">
            <a:off x="876300" y="29527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defRPr>
            </a:pPr>
            <a:r>
              <a:rPr sz="1350" b="0">
                <a:solidFill>
                  <a:srgbClr val="5B6472"/>
                </a:solidFill>
              </a:rPr>
              <a:t>전체 등록 169명 중</a:t>
            </a:r>
          </a:p>
          <a:p xmlns:a="http://schemas.openxmlformats.org/drawingml/2006/main">
            <a:pPr algn="l">
              <a:defRPr sz="1350" b="0">
                <a:solidFill>
                  <a:srgbClr val="5B6472"/>
                </a:solidFill>
              </a:defRPr>
            </a:pPr>
            <a:r>
              <a:rPr sz="1350" b="0">
                <a:solidFill>
                  <a:srgbClr val="5B6472"/>
                </a:solidFill>
              </a:rPr>
              <a:t>검색 품질 분석은 68명</a:t>
            </a:r>
          </a:p>
        </p:txBody>
      </p:sp>
      <p:sp>
        <p:nvSpPr>
          <p:cNvPr id="9" name="">
            <a:extLst xmlns:a="http://schemas.openxmlformats.org/drawingml/2006/main">
              <a:ext uri="{FF2B5EF4-FFF2-40B4-BE49-F238E27FC236}">
                <a16:creationId xmlns:a16="http://schemas.microsoft.com/office/drawing/2014/main" id="{48720483-CC54-4128-BFF0-C9AC9393E988}"/>
              </a:ext>
            </a:extLst>
          </p:cNvPr>
          <p:cNvSpPr>
            <a:spLocks xmlns:a="http://schemas.openxmlformats.org/drawingml/2006/main" noGrp="1"/>
          </p:cNvSpPr>
          <p:nvPr/>
        </p:nvSpPr>
        <p:spPr>
          <a:xfrm xmlns:a="http://schemas.openxmlformats.org/drawingml/2006/main">
            <a:off x="3390900" y="1885950"/>
            <a:ext cx="2476500" cy="2000250"/>
          </a:xfrm>
          <a:prstGeom xmlns:a="http://schemas.openxmlformats.org/drawingml/2006/main" prst="rect">
            <a:avLst/>
          </a:prstGeom>
          <a:solidFill xmlns:a="http://schemas.openxmlformats.org/drawingml/2006/main">
            <a:srgbClr val="FFF0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59DC7A4-B9C4-4EA6-B04F-E08D3A023C6E}"/>
              </a:ext>
            </a:extLst>
          </p:cNvPr>
          <p:cNvSpPr>
            <a:spLocks xmlns:a="http://schemas.openxmlformats.org/drawingml/2006/main" noGrp="1"/>
          </p:cNvSpPr>
          <p:nvPr/>
        </p:nvSpPr>
        <p:spPr>
          <a:xfrm xmlns:a="http://schemas.openxmlformats.org/drawingml/2006/main">
            <a:off x="3581400" y="20574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F80ED"/>
                </a:solidFill>
              </a:defRPr>
            </a:pPr>
            <a:r>
              <a:rPr sz="1275" b="1">
                <a:solidFill>
                  <a:srgbClr val="2F80ED"/>
                </a:solidFill>
              </a:rPr>
              <a:t>02</a:t>
            </a:r>
          </a:p>
        </p:txBody>
      </p:sp>
      <p:sp>
        <p:nvSpPr>
          <p:cNvPr id="11" name="">
            <a:extLst xmlns:a="http://schemas.openxmlformats.org/drawingml/2006/main">
              <a:ext uri="{FF2B5EF4-FFF2-40B4-BE49-F238E27FC236}">
                <a16:creationId xmlns:a16="http://schemas.microsoft.com/office/drawing/2014/main" id="{417412BB-CCFD-4116-87C5-F193C3E4D3AC}"/>
              </a:ext>
            </a:extLst>
          </p:cNvPr>
          <p:cNvSpPr>
            <a:spLocks xmlns:a="http://schemas.openxmlformats.org/drawingml/2006/main" noGrp="1"/>
          </p:cNvSpPr>
          <p:nvPr/>
        </p:nvSpPr>
        <p:spPr>
          <a:xfrm xmlns:a="http://schemas.openxmlformats.org/drawingml/2006/main">
            <a:off x="3581400" y="24765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행동 집중</a:t>
            </a:r>
          </a:p>
        </p:txBody>
      </p:sp>
      <p:sp>
        <p:nvSpPr>
          <p:cNvPr id="12" name="">
            <a:extLst xmlns:a="http://schemas.openxmlformats.org/drawingml/2006/main">
              <a:ext uri="{FF2B5EF4-FFF2-40B4-BE49-F238E27FC236}">
                <a16:creationId xmlns:a16="http://schemas.microsoft.com/office/drawing/2014/main" id="{CFDBCF2B-DFEC-41F0-885B-35F45FA99308}"/>
              </a:ext>
            </a:extLst>
          </p:cNvPr>
          <p:cNvSpPr>
            <a:spLocks xmlns:a="http://schemas.openxmlformats.org/drawingml/2006/main" noGrp="1"/>
          </p:cNvSpPr>
          <p:nvPr/>
        </p:nvSpPr>
        <p:spPr>
          <a:xfrm xmlns:a="http://schemas.openxmlformats.org/drawingml/2006/main">
            <a:off x="3581400" y="29527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defRPr>
            </a:pPr>
            <a:r>
              <a:rPr sz="1350" b="0">
                <a:solidFill>
                  <a:srgbClr val="5B6472"/>
                </a:solidFill>
              </a:rPr>
              <a:t>상위 5명이 전체 검색의</a:t>
            </a:r>
          </a:p>
          <a:p xmlns:a="http://schemas.openxmlformats.org/drawingml/2006/main">
            <a:pPr algn="l">
              <a:defRPr sz="1350" b="0">
                <a:solidFill>
                  <a:srgbClr val="5B6472"/>
                </a:solidFill>
              </a:defRPr>
            </a:pPr>
            <a:r>
              <a:rPr sz="1350" b="0">
                <a:solidFill>
                  <a:srgbClr val="5B6472"/>
                </a:solidFill>
              </a:rPr>
              <a:t>48.5%를 발생</a:t>
            </a:r>
          </a:p>
        </p:txBody>
      </p:sp>
      <p:sp>
        <p:nvSpPr>
          <p:cNvPr id="13" name="">
            <a:extLst xmlns:a="http://schemas.openxmlformats.org/drawingml/2006/main">
              <a:ext uri="{FF2B5EF4-FFF2-40B4-BE49-F238E27FC236}">
                <a16:creationId xmlns:a16="http://schemas.microsoft.com/office/drawing/2014/main" id="{37BF886C-DBD7-4BB2-B11B-3036009953F9}"/>
              </a:ext>
            </a:extLst>
          </p:cNvPr>
          <p:cNvSpPr>
            <a:spLocks xmlns:a="http://schemas.openxmlformats.org/drawingml/2006/main" noGrp="1"/>
          </p:cNvSpPr>
          <p:nvPr/>
        </p:nvSpPr>
        <p:spPr>
          <a:xfrm xmlns:a="http://schemas.openxmlformats.org/drawingml/2006/main">
            <a:off x="6096000" y="1885950"/>
            <a:ext cx="2476500" cy="20002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89496BF-0AD3-4F70-8B45-FDCBBBAB711A}"/>
              </a:ext>
            </a:extLst>
          </p:cNvPr>
          <p:cNvSpPr>
            <a:spLocks xmlns:a="http://schemas.openxmlformats.org/drawingml/2006/main" noGrp="1"/>
          </p:cNvSpPr>
          <p:nvPr/>
        </p:nvSpPr>
        <p:spPr>
          <a:xfrm xmlns:a="http://schemas.openxmlformats.org/drawingml/2006/main">
            <a:off x="6286500" y="20574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F80ED"/>
                </a:solidFill>
              </a:defRPr>
            </a:pPr>
            <a:r>
              <a:rPr sz="1275" b="1">
                <a:solidFill>
                  <a:srgbClr val="2F80ED"/>
                </a:solidFill>
              </a:rPr>
              <a:t>03</a:t>
            </a:r>
          </a:p>
        </p:txBody>
      </p:sp>
      <p:sp>
        <p:nvSpPr>
          <p:cNvPr id="15" name="">
            <a:extLst xmlns:a="http://schemas.openxmlformats.org/drawingml/2006/main">
              <a:ext uri="{FF2B5EF4-FFF2-40B4-BE49-F238E27FC236}">
                <a16:creationId xmlns:a16="http://schemas.microsoft.com/office/drawing/2014/main" id="{57B50F86-8792-4C79-9334-CF845BB67B76}"/>
              </a:ext>
            </a:extLst>
          </p:cNvPr>
          <p:cNvSpPr>
            <a:spLocks xmlns:a="http://schemas.openxmlformats.org/drawingml/2006/main" noGrp="1"/>
          </p:cNvSpPr>
          <p:nvPr/>
        </p:nvSpPr>
        <p:spPr>
          <a:xfrm xmlns:a="http://schemas.openxmlformats.org/drawingml/2006/main">
            <a:off x="6286500" y="24765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세부 표본이 작음</a:t>
            </a:r>
          </a:p>
        </p:txBody>
      </p:sp>
      <p:sp>
        <p:nvSpPr>
          <p:cNvPr id="16" name="">
            <a:extLst xmlns:a="http://schemas.openxmlformats.org/drawingml/2006/main">
              <a:ext uri="{FF2B5EF4-FFF2-40B4-BE49-F238E27FC236}">
                <a16:creationId xmlns:a16="http://schemas.microsoft.com/office/drawing/2014/main" id="{FA5D0A6E-667A-4DF5-AF38-82533D7DAC05}"/>
              </a:ext>
            </a:extLst>
          </p:cNvPr>
          <p:cNvSpPr>
            <a:spLocks xmlns:a="http://schemas.openxmlformats.org/drawingml/2006/main" noGrp="1"/>
          </p:cNvSpPr>
          <p:nvPr/>
        </p:nvSpPr>
        <p:spPr>
          <a:xfrm xmlns:a="http://schemas.openxmlformats.org/drawingml/2006/main">
            <a:off x="6286500" y="29527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defRPr>
            </a:pPr>
            <a:r>
              <a:rPr sz="1350" b="0">
                <a:solidFill>
                  <a:srgbClr val="5B6472"/>
                </a:solidFill>
              </a:rPr>
              <a:t>첫 실패–다음 검색 비교가</a:t>
            </a:r>
          </a:p>
          <a:p xmlns:a="http://schemas.openxmlformats.org/drawingml/2006/main">
            <a:pPr algn="l">
              <a:defRPr sz="1350" b="0">
                <a:solidFill>
                  <a:srgbClr val="5B6472"/>
                </a:solidFill>
              </a:defRPr>
            </a:pPr>
            <a:r>
              <a:rPr sz="1350" b="0">
                <a:solidFill>
                  <a:srgbClr val="5B6472"/>
                </a:solidFill>
              </a:rPr>
              <a:t>가능한 사용자는 27명</a:t>
            </a:r>
          </a:p>
        </p:txBody>
      </p:sp>
      <p:sp>
        <p:nvSpPr>
          <p:cNvPr id="17" name="">
            <a:extLst xmlns:a="http://schemas.openxmlformats.org/drawingml/2006/main">
              <a:ext uri="{FF2B5EF4-FFF2-40B4-BE49-F238E27FC236}">
                <a16:creationId xmlns:a16="http://schemas.microsoft.com/office/drawing/2014/main" id="{47FC8C13-7784-4AC5-8E08-79E3BE710926}"/>
              </a:ext>
            </a:extLst>
          </p:cNvPr>
          <p:cNvSpPr>
            <a:spLocks xmlns:a="http://schemas.openxmlformats.org/drawingml/2006/main" noGrp="1"/>
          </p:cNvSpPr>
          <p:nvPr/>
        </p:nvSpPr>
        <p:spPr>
          <a:xfrm xmlns:a="http://schemas.openxmlformats.org/drawingml/2006/main">
            <a:off x="8801100" y="1885950"/>
            <a:ext cx="2476500" cy="20002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8203DC6-99A5-4FA4-9EA8-68C1C2B36D08}"/>
              </a:ext>
            </a:extLst>
          </p:cNvPr>
          <p:cNvSpPr>
            <a:spLocks xmlns:a="http://schemas.openxmlformats.org/drawingml/2006/main" noGrp="1"/>
          </p:cNvSpPr>
          <p:nvPr/>
        </p:nvSpPr>
        <p:spPr>
          <a:xfrm xmlns:a="http://schemas.openxmlformats.org/drawingml/2006/main">
            <a:off x="8991600" y="20574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F80ED"/>
                </a:solidFill>
              </a:defRPr>
            </a:pPr>
            <a:r>
              <a:rPr sz="1275" b="1">
                <a:solidFill>
                  <a:srgbClr val="2F80ED"/>
                </a:solidFill>
              </a:rPr>
              <a:t>04</a:t>
            </a:r>
          </a:p>
        </p:txBody>
      </p:sp>
      <p:sp>
        <p:nvSpPr>
          <p:cNvPr id="19" name="">
            <a:extLst xmlns:a="http://schemas.openxmlformats.org/drawingml/2006/main">
              <a:ext uri="{FF2B5EF4-FFF2-40B4-BE49-F238E27FC236}">
                <a16:creationId xmlns:a16="http://schemas.microsoft.com/office/drawing/2014/main" id="{0B87A521-A6AB-47B2-BF12-611E49E57EB4}"/>
              </a:ext>
            </a:extLst>
          </p:cNvPr>
          <p:cNvSpPr>
            <a:spLocks xmlns:a="http://schemas.openxmlformats.org/drawingml/2006/main" noGrp="1"/>
          </p:cNvSpPr>
          <p:nvPr/>
        </p:nvSpPr>
        <p:spPr>
          <a:xfrm xmlns:a="http://schemas.openxmlformats.org/drawingml/2006/main">
            <a:off x="8991600" y="24765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외적 타당성 제한</a:t>
            </a:r>
          </a:p>
        </p:txBody>
      </p:sp>
      <p:sp>
        <p:nvSpPr>
          <p:cNvPr id="20" name="">
            <a:extLst xmlns:a="http://schemas.openxmlformats.org/drawingml/2006/main">
              <a:ext uri="{FF2B5EF4-FFF2-40B4-BE49-F238E27FC236}">
                <a16:creationId xmlns:a16="http://schemas.microsoft.com/office/drawing/2014/main" id="{ABCF1F43-54AA-4435-BC42-0074C6EB6136}"/>
              </a:ext>
            </a:extLst>
          </p:cNvPr>
          <p:cNvSpPr>
            <a:spLocks xmlns:a="http://schemas.openxmlformats.org/drawingml/2006/main" noGrp="1"/>
          </p:cNvSpPr>
          <p:nvPr/>
        </p:nvSpPr>
        <p:spPr>
          <a:xfrm xmlns:a="http://schemas.openxmlformats.org/drawingml/2006/main">
            <a:off x="8991600" y="295275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defRPr>
            </a:pPr>
            <a:r>
              <a:rPr sz="1350" b="0">
                <a:solidFill>
                  <a:srgbClr val="5B6472"/>
                </a:solidFill>
              </a:rPr>
              <a:t>5개 지역 안에서 자유검색</a:t>
            </a:r>
          </a:p>
          <a:p xmlns:a="http://schemas.openxmlformats.org/drawingml/2006/main">
            <a:pPr algn="l">
              <a:defRPr sz="1350" b="0">
                <a:solidFill>
                  <a:srgbClr val="5B6472"/>
                </a:solidFill>
              </a:defRPr>
            </a:pPr>
            <a:r>
              <a:rPr sz="1350" b="0">
                <a:solidFill>
                  <a:srgbClr val="5B6472"/>
                </a:solidFill>
              </a:rPr>
              <a:t>전체 시장으로 일반화 불가</a:t>
            </a:r>
          </a:p>
        </p:txBody>
      </p:sp>
      <p:sp>
        <p:nvSpPr>
          <p:cNvPr id="21" name="">
            <a:extLst xmlns:a="http://schemas.openxmlformats.org/drawingml/2006/main">
              <a:ext uri="{FF2B5EF4-FFF2-40B4-BE49-F238E27FC236}">
                <a16:creationId xmlns:a16="http://schemas.microsoft.com/office/drawing/2014/main" id="{0F1F0216-8CCC-4D43-8FA2-384FF3969AC7}"/>
              </a:ext>
            </a:extLst>
          </p:cNvPr>
          <p:cNvSpPr>
            <a:spLocks xmlns:a="http://schemas.openxmlformats.org/drawingml/2006/main" noGrp="1"/>
          </p:cNvSpPr>
          <p:nvPr/>
        </p:nvSpPr>
        <p:spPr>
          <a:xfrm xmlns:a="http://schemas.openxmlformats.org/drawingml/2006/main">
            <a:off x="704850" y="43624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F80ED"/>
                </a:solidFill>
              </a:defRPr>
            </a:pPr>
            <a:r>
              <a:rPr sz="1650" b="1">
                <a:solidFill>
                  <a:srgbClr val="2F80ED"/>
                </a:solidFill>
              </a:rPr>
              <a:t>증강 원칙</a:t>
            </a:r>
          </a:p>
        </p:txBody>
      </p:sp>
      <p:sp>
        <p:nvSpPr>
          <p:cNvPr id="22" name="">
            <a:extLst xmlns:a="http://schemas.openxmlformats.org/drawingml/2006/main">
              <a:ext uri="{FF2B5EF4-FFF2-40B4-BE49-F238E27FC236}">
                <a16:creationId xmlns:a16="http://schemas.microsoft.com/office/drawing/2014/main" id="{8907021E-D5E9-40A5-BD4F-EE4DAC39B6C4}"/>
              </a:ext>
            </a:extLst>
          </p:cNvPr>
          <p:cNvSpPr>
            <a:spLocks xmlns:a="http://schemas.openxmlformats.org/drawingml/2006/main" noGrp="1"/>
          </p:cNvSpPr>
          <p:nvPr/>
        </p:nvSpPr>
        <p:spPr>
          <a:xfrm xmlns:a="http://schemas.openxmlformats.org/drawingml/2006/main">
            <a:off x="704850"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상대비율 유지</a:t>
            </a:r>
          </a:p>
        </p:txBody>
      </p:sp>
      <p:sp>
        <p:nvSpPr>
          <p:cNvPr id="23" name="">
            <a:extLst xmlns:a="http://schemas.openxmlformats.org/drawingml/2006/main">
              <a:ext uri="{FF2B5EF4-FFF2-40B4-BE49-F238E27FC236}">
                <a16:creationId xmlns:a16="http://schemas.microsoft.com/office/drawing/2014/main" id="{468911F9-52E7-4AD2-AD58-602D90503900}"/>
              </a:ext>
            </a:extLst>
          </p:cNvPr>
          <p:cNvSpPr>
            <a:spLocks xmlns:a="http://schemas.openxmlformats.org/drawingml/2006/main" noGrp="1"/>
          </p:cNvSpPr>
          <p:nvPr/>
        </p:nvSpPr>
        <p:spPr>
          <a:xfrm xmlns:a="http://schemas.openxmlformats.org/drawingml/2006/main">
            <a:off x="3143250" y="48577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개인별 영향 상한</a:t>
            </a:r>
          </a:p>
        </p:txBody>
      </p:sp>
      <p:sp>
        <p:nvSpPr>
          <p:cNvPr id="24" name="">
            <a:extLst xmlns:a="http://schemas.openxmlformats.org/drawingml/2006/main">
              <a:ext uri="{FF2B5EF4-FFF2-40B4-BE49-F238E27FC236}">
                <a16:creationId xmlns:a16="http://schemas.microsoft.com/office/drawing/2014/main" id="{42392E8B-63C0-4387-91CA-EDA8E326618A}"/>
              </a:ext>
            </a:extLst>
          </p:cNvPr>
          <p:cNvSpPr>
            <a:spLocks xmlns:a="http://schemas.openxmlformats.org/drawingml/2006/main" noGrp="1"/>
          </p:cNvSpPr>
          <p:nvPr/>
        </p:nvSpPr>
        <p:spPr>
          <a:xfrm xmlns:a="http://schemas.openxmlformats.org/drawingml/2006/main">
            <a:off x="5905500" y="48577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의도별 층화 확장</a:t>
            </a:r>
          </a:p>
        </p:txBody>
      </p:sp>
      <p:sp>
        <p:nvSpPr>
          <p:cNvPr id="25" name="">
            <a:extLst xmlns:a="http://schemas.openxmlformats.org/drawingml/2006/main">
              <a:ext uri="{FF2B5EF4-FFF2-40B4-BE49-F238E27FC236}">
                <a16:creationId xmlns:a16="http://schemas.microsoft.com/office/drawing/2014/main" id="{244A1E9E-2B29-4EC1-A8EC-719EF66E0028}"/>
              </a:ext>
            </a:extLst>
          </p:cNvPr>
          <p:cNvSpPr>
            <a:spLocks xmlns:a="http://schemas.openxmlformats.org/drawingml/2006/main" noGrp="1"/>
          </p:cNvSpPr>
          <p:nvPr/>
        </p:nvSpPr>
        <p:spPr>
          <a:xfrm xmlns:a="http://schemas.openxmlformats.org/drawingml/2006/main">
            <a:off x="8572500" y="48577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가중치 전·후 비교</a:t>
            </a:r>
          </a:p>
        </p:txBody>
      </p:sp>
      <p:sp>
        <p:nvSpPr>
          <p:cNvPr id="26" name="">
            <a:extLst xmlns:a="http://schemas.openxmlformats.org/drawingml/2006/main">
              <a:ext uri="{FF2B5EF4-FFF2-40B4-BE49-F238E27FC236}">
                <a16:creationId xmlns:a16="http://schemas.microsoft.com/office/drawing/2014/main" id="{D1149A54-9B2D-4324-B84A-5EFD06E493B4}"/>
              </a:ext>
            </a:extLst>
          </p:cNvPr>
          <p:cNvSpPr>
            <a:spLocks xmlns:a="http://schemas.openxmlformats.org/drawingml/2006/main" noGrp="1"/>
          </p:cNvSpPr>
          <p:nvPr/>
        </p:nvSpPr>
        <p:spPr>
          <a:xfrm xmlns:a="http://schemas.openxmlformats.org/drawingml/2006/main">
            <a:off x="704850" y="563880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BOOKING·ROOM은 가상 데이터 → 실제 전환 근거와 분리하고 날짜 일치도에서 제외</a:t>
            </a:r>
          </a:p>
        </p:txBody>
      </p:sp>
    </p:spTree>
    <p:extLst>
      <p:ext uri="{BB962C8B-B14F-4D97-AF65-F5344CB8AC3E}">
        <p14:creationId xmlns:p14="http://schemas.microsoft.com/office/powerpoint/2010/main" val="3544441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F238ED1-D463-4D87-B99F-20510248BD91}"/>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HYPOTHESIS</a:t>
            </a:r>
          </a:p>
        </p:txBody>
      </p:sp>
      <p:sp>
        <p:nvSpPr>
          <p:cNvPr id="2" name="">
            <a:extLst xmlns:a="http://schemas.openxmlformats.org/drawingml/2006/main">
              <a:ext uri="{FF2B5EF4-FFF2-40B4-BE49-F238E27FC236}">
                <a16:creationId xmlns:a16="http://schemas.microsoft.com/office/drawing/2014/main" id="{17A91062-CB06-4620-A0F8-15CE6C0E9A55}"/>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현재 결과에서 출발해 두 가지 가설만 다시 검증한다</a:t>
            </a:r>
          </a:p>
        </p:txBody>
      </p:sp>
      <p:sp>
        <p:nvSpPr>
          <p:cNvPr id="3" name="">
            <a:extLst xmlns:a="http://schemas.openxmlformats.org/drawingml/2006/main">
              <a:ext uri="{FF2B5EF4-FFF2-40B4-BE49-F238E27FC236}">
                <a16:creationId xmlns:a16="http://schemas.microsoft.com/office/drawing/2014/main" id="{869484FB-6443-44C5-BD31-3DC634B52A28}"/>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9762A8CF-C14C-4F6B-AB9A-E09128EC7B94}"/>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05</a:t>
            </a:r>
          </a:p>
        </p:txBody>
      </p:sp>
      <p:sp>
        <p:nvSpPr>
          <p:cNvPr id="5" name="">
            <a:extLst xmlns:a="http://schemas.openxmlformats.org/drawingml/2006/main">
              <a:ext uri="{FF2B5EF4-FFF2-40B4-BE49-F238E27FC236}">
                <a16:creationId xmlns:a16="http://schemas.microsoft.com/office/drawing/2014/main" id="{9B3EC341-9B87-49CD-A4E4-8CE67063791A}"/>
              </a:ext>
            </a:extLst>
          </p:cNvPr>
          <p:cNvSpPr>
            <a:spLocks xmlns:a="http://schemas.openxmlformats.org/drawingml/2006/main" noGrp="1"/>
          </p:cNvSpPr>
          <p:nvPr/>
        </p:nvSpPr>
        <p:spPr>
          <a:xfrm xmlns:a="http://schemas.openxmlformats.org/drawingml/2006/main">
            <a:off x="704850" y="17526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현재 관찰 결과</a:t>
            </a:r>
          </a:p>
        </p:txBody>
      </p:sp>
      <p:sp>
        <p:nvSpPr>
          <p:cNvPr id="6" name="">
            <a:extLst xmlns:a="http://schemas.openxmlformats.org/drawingml/2006/main">
              <a:ext uri="{FF2B5EF4-FFF2-40B4-BE49-F238E27FC236}">
                <a16:creationId xmlns:a16="http://schemas.microsoft.com/office/drawing/2014/main" id="{C58EA497-F30B-4C82-827E-6F8F6B7E7169}"/>
              </a:ext>
            </a:extLst>
          </p:cNvPr>
          <p:cNvSpPr>
            <a:spLocks xmlns:a="http://schemas.openxmlformats.org/drawingml/2006/main" noGrp="1"/>
          </p:cNvSpPr>
          <p:nvPr/>
        </p:nvSpPr>
        <p:spPr>
          <a:xfrm xmlns:a="http://schemas.openxmlformats.org/drawingml/2006/main">
            <a:off x="6572250" y="17526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증강 후 검증할 가설</a:t>
            </a:r>
          </a:p>
        </p:txBody>
      </p:sp>
      <p:sp>
        <p:nvSpPr>
          <p:cNvPr id="7" name="">
            <a:extLst xmlns:a="http://schemas.openxmlformats.org/drawingml/2006/main">
              <a:ext uri="{FF2B5EF4-FFF2-40B4-BE49-F238E27FC236}">
                <a16:creationId xmlns:a16="http://schemas.microsoft.com/office/drawing/2014/main" id="{45A9AF0F-BE18-491B-96AF-0228AFE53A4D}"/>
              </a:ext>
            </a:extLst>
          </p:cNvPr>
          <p:cNvSpPr>
            <a:spLocks xmlns:a="http://schemas.openxmlformats.org/drawingml/2006/main" noGrp="1"/>
          </p:cNvSpPr>
          <p:nvPr/>
        </p:nvSpPr>
        <p:spPr>
          <a:xfrm xmlns:a="http://schemas.openxmlformats.org/drawingml/2006/main">
            <a:off x="685800" y="2143125"/>
            <a:ext cx="5219700" cy="1428750"/>
          </a:xfrm>
          <a:prstGeom xmlns:a="http://schemas.openxmlformats.org/drawingml/2006/main" prst="rect">
            <a:avLst/>
          </a:prstGeom>
          <a:solidFill xmlns:a="http://schemas.openxmlformats.org/drawingml/2006/main">
            <a:srgbClr val="FFF0F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190220A-017E-4888-ACB8-9462AF49B435}"/>
              </a:ext>
            </a:extLst>
          </p:cNvPr>
          <p:cNvSpPr>
            <a:spLocks xmlns:a="http://schemas.openxmlformats.org/drawingml/2006/main" noGrp="1"/>
          </p:cNvSpPr>
          <p:nvPr/>
        </p:nvSpPr>
        <p:spPr>
          <a:xfrm xmlns:a="http://schemas.openxmlformats.org/drawingml/2006/main">
            <a:off x="914400" y="232410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D64545"/>
                </a:solidFill>
              </a:defRPr>
            </a:pPr>
            <a:r>
              <a:rPr sz="1650" b="1">
                <a:solidFill>
                  <a:srgbClr val="D64545"/>
                </a:solidFill>
              </a:rPr>
              <a:t>편의시설 3개 이상 0건률 85.9%</a:t>
            </a:r>
          </a:p>
        </p:txBody>
      </p:sp>
      <p:sp>
        <p:nvSpPr>
          <p:cNvPr id="9" name="">
            <a:extLst xmlns:a="http://schemas.openxmlformats.org/drawingml/2006/main">
              <a:ext uri="{FF2B5EF4-FFF2-40B4-BE49-F238E27FC236}">
                <a16:creationId xmlns:a16="http://schemas.microsoft.com/office/drawing/2014/main" id="{6470E51E-0F23-41BB-A82E-5825E9F65D00}"/>
              </a:ext>
            </a:extLst>
          </p:cNvPr>
          <p:cNvSpPr>
            <a:spLocks xmlns:a="http://schemas.openxmlformats.org/drawingml/2006/main" noGrp="1"/>
          </p:cNvSpPr>
          <p:nvPr/>
        </p:nvSpPr>
        <p:spPr>
          <a:xfrm xmlns:a="http://schemas.openxmlformats.org/drawingml/2006/main">
            <a:off x="914400" y="26860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11827"/>
                </a:solidFill>
              </a:defRPr>
            </a:pPr>
            <a:r>
              <a:rPr sz="1425" b="0">
                <a:solidFill>
                  <a:srgbClr val="111827"/>
                </a:solidFill>
              </a:rPr>
              <a:t>평점 필터 70.6% · 가격 필터 66.8%</a:t>
            </a:r>
          </a:p>
        </p:txBody>
      </p:sp>
      <p:sp>
        <p:nvSpPr>
          <p:cNvPr id="10" name="">
            <a:extLst xmlns:a="http://schemas.openxmlformats.org/drawingml/2006/main">
              <a:ext uri="{FF2B5EF4-FFF2-40B4-BE49-F238E27FC236}">
                <a16:creationId xmlns:a16="http://schemas.microsoft.com/office/drawing/2014/main" id="{113D0459-CFAD-442F-95B1-DD76F3177273}"/>
              </a:ext>
            </a:extLst>
          </p:cNvPr>
          <p:cNvSpPr>
            <a:spLocks xmlns:a="http://schemas.openxmlformats.org/drawingml/2006/main" noGrp="1"/>
          </p:cNvSpPr>
          <p:nvPr/>
        </p:nvSpPr>
        <p:spPr>
          <a:xfrm xmlns:a="http://schemas.openxmlformats.org/drawingml/2006/main">
            <a:off x="914400" y="30670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 제한 조건이 설정된 검색에서 0건률이 높게 관찰됨</a:t>
            </a:r>
          </a:p>
        </p:txBody>
      </p:sp>
      <p:sp>
        <p:nvSpPr>
          <p:cNvPr id="11" name="">
            <a:extLst xmlns:a="http://schemas.openxmlformats.org/drawingml/2006/main">
              <a:ext uri="{FF2B5EF4-FFF2-40B4-BE49-F238E27FC236}">
                <a16:creationId xmlns:a16="http://schemas.microsoft.com/office/drawing/2014/main" id="{65F76CFC-438D-46F3-AA67-EBF96ED75A15}"/>
              </a:ext>
            </a:extLst>
          </p:cNvPr>
          <p:cNvSpPr>
            <a:spLocks xmlns:a="http://schemas.openxmlformats.org/drawingml/2006/main" noGrp="1"/>
          </p:cNvSpPr>
          <p:nvPr/>
        </p:nvSpPr>
        <p:spPr>
          <a:xfrm xmlns:a="http://schemas.openxmlformats.org/drawingml/2006/main">
            <a:off x="6286500" y="244792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2F80ED"/>
                </a:solidFill>
              </a:defRPr>
            </a:pPr>
            <a:r>
              <a:rPr sz="2025" b="1">
                <a:solidFill>
                  <a:srgbClr val="2F80ED"/>
                </a:solidFill>
              </a:rPr>
              <a:t>H1</a:t>
            </a:r>
          </a:p>
        </p:txBody>
      </p:sp>
      <p:sp>
        <p:nvSpPr>
          <p:cNvPr id="12" name="">
            <a:extLst xmlns:a="http://schemas.openxmlformats.org/drawingml/2006/main">
              <a:ext uri="{FF2B5EF4-FFF2-40B4-BE49-F238E27FC236}">
                <a16:creationId xmlns:a16="http://schemas.microsoft.com/office/drawing/2014/main" id="{FDF4DE6A-10F8-4D49-AD4D-A34A12B7E873}"/>
              </a:ext>
            </a:extLst>
          </p:cNvPr>
          <p:cNvSpPr>
            <a:spLocks xmlns:a="http://schemas.openxmlformats.org/drawingml/2006/main" noGrp="1"/>
          </p:cNvSpPr>
          <p:nvPr/>
        </p:nvSpPr>
        <p:spPr>
          <a:xfrm xmlns:a="http://schemas.openxmlformats.org/drawingml/2006/main">
            <a:off x="7067550" y="2295525"/>
            <a:ext cx="428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11827"/>
                </a:solidFill>
              </a:defRPr>
            </a:pPr>
            <a:r>
              <a:rPr sz="1800" b="1">
                <a:solidFill>
                  <a:srgbClr val="111827"/>
                </a:solidFill>
              </a:rPr>
              <a:t>편의시설·평점·가격 조건의 조합에 따라</a:t>
            </a:r>
          </a:p>
          <a:p xmlns:a="http://schemas.openxmlformats.org/drawingml/2006/main">
            <a:pPr algn="l">
              <a:defRPr sz="1800" b="1">
                <a:solidFill>
                  <a:srgbClr val="111827"/>
                </a:solidFill>
              </a:defRPr>
            </a:pPr>
            <a:r>
              <a:rPr sz="1800" b="1">
                <a:solidFill>
                  <a:srgbClr val="111827"/>
                </a:solidFill>
              </a:rPr>
              <a:t>결과 0건률에 차이가 있을 것이다.</a:t>
            </a:r>
          </a:p>
        </p:txBody>
      </p:sp>
      <p:sp>
        <p:nvSpPr>
          <p:cNvPr id="13" name="">
            <a:extLst xmlns:a="http://schemas.openxmlformats.org/drawingml/2006/main">
              <a:ext uri="{FF2B5EF4-FFF2-40B4-BE49-F238E27FC236}">
                <a16:creationId xmlns:a16="http://schemas.microsoft.com/office/drawing/2014/main" id="{B685854A-075F-44B2-892D-289220906A09}"/>
              </a:ext>
            </a:extLst>
          </p:cNvPr>
          <p:cNvSpPr>
            <a:spLocks xmlns:a="http://schemas.openxmlformats.org/drawingml/2006/main" noGrp="1"/>
          </p:cNvSpPr>
          <p:nvPr/>
        </p:nvSpPr>
        <p:spPr>
          <a:xfrm xmlns:a="http://schemas.openxmlformats.org/drawingml/2006/main">
            <a:off x="685800" y="3857625"/>
            <a:ext cx="5219700" cy="1476375"/>
          </a:xfrm>
          <a:prstGeom xmlns:a="http://schemas.openxmlformats.org/drawingml/2006/main" prst="rect">
            <a:avLst/>
          </a:prstGeom>
          <a:solidFill xmlns:a="http://schemas.openxmlformats.org/drawingml/2006/main">
            <a:srgbClr val="EAF7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B27C43-A599-46DC-9345-0A96FBA35034}"/>
              </a:ext>
            </a:extLst>
          </p:cNvPr>
          <p:cNvSpPr>
            <a:spLocks xmlns:a="http://schemas.openxmlformats.org/drawingml/2006/main" noGrp="1"/>
          </p:cNvSpPr>
          <p:nvPr/>
        </p:nvSpPr>
        <p:spPr>
          <a:xfrm xmlns:a="http://schemas.openxmlformats.org/drawingml/2006/main">
            <a:off x="914400" y="40386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68A68"/>
                </a:solidFill>
              </a:defRPr>
            </a:pPr>
            <a:r>
              <a:rPr sz="1575" b="1">
                <a:solidFill>
                  <a:srgbClr val="168A68"/>
                </a:solidFill>
              </a:rPr>
              <a:t>지역 변경: 회복 46.4% · 클릭 14.3%</a:t>
            </a:r>
          </a:p>
        </p:txBody>
      </p:sp>
      <p:sp>
        <p:nvSpPr>
          <p:cNvPr id="15" name="">
            <a:extLst xmlns:a="http://schemas.openxmlformats.org/drawingml/2006/main">
              <a:ext uri="{FF2B5EF4-FFF2-40B4-BE49-F238E27FC236}">
                <a16:creationId xmlns:a16="http://schemas.microsoft.com/office/drawing/2014/main" id="{37B43A93-0B7A-4ABB-A5E4-0B47398EE0C9}"/>
              </a:ext>
            </a:extLst>
          </p:cNvPr>
          <p:cNvSpPr>
            <a:spLocks xmlns:a="http://schemas.openxmlformats.org/drawingml/2006/main" noGrp="1"/>
          </p:cNvSpPr>
          <p:nvPr/>
        </p:nvSpPr>
        <p:spPr>
          <a:xfrm xmlns:a="http://schemas.openxmlformats.org/drawingml/2006/main">
            <a:off x="914400" y="44005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11827"/>
                </a:solidFill>
              </a:defRPr>
            </a:pPr>
            <a:r>
              <a:rPr sz="1425" b="0">
                <a:solidFill>
                  <a:srgbClr val="111827"/>
                </a:solidFill>
              </a:rPr>
              <a:t>검색어 수정: 회복 34.7% · 클릭 5.0%</a:t>
            </a:r>
          </a:p>
        </p:txBody>
      </p:sp>
      <p:sp>
        <p:nvSpPr>
          <p:cNvPr id="16" name="">
            <a:extLst xmlns:a="http://schemas.openxmlformats.org/drawingml/2006/main">
              <a:ext uri="{FF2B5EF4-FFF2-40B4-BE49-F238E27FC236}">
                <a16:creationId xmlns:a16="http://schemas.microsoft.com/office/drawing/2014/main" id="{1B002C4B-5919-47AE-B36D-E64A1CDF923B}"/>
              </a:ext>
            </a:extLst>
          </p:cNvPr>
          <p:cNvSpPr>
            <a:spLocks xmlns:a="http://schemas.openxmlformats.org/drawingml/2006/main" noGrp="1"/>
          </p:cNvSpPr>
          <p:nvPr/>
        </p:nvSpPr>
        <p:spPr>
          <a:xfrm xmlns:a="http://schemas.openxmlformats.org/drawingml/2006/main">
            <a:off x="914400" y="47625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조건 완화: 회복 22.7% · 클릭 13.3% / 동일 반복: 회복 0%</a:t>
            </a:r>
          </a:p>
        </p:txBody>
      </p:sp>
      <p:sp>
        <p:nvSpPr>
          <p:cNvPr id="17" name="">
            <a:extLst xmlns:a="http://schemas.openxmlformats.org/drawingml/2006/main">
              <a:ext uri="{FF2B5EF4-FFF2-40B4-BE49-F238E27FC236}">
                <a16:creationId xmlns:a16="http://schemas.microsoft.com/office/drawing/2014/main" id="{7A220E6D-A3B1-4ABA-BE63-D1B5CADD86B2}"/>
              </a:ext>
            </a:extLst>
          </p:cNvPr>
          <p:cNvSpPr>
            <a:spLocks xmlns:a="http://schemas.openxmlformats.org/drawingml/2006/main" noGrp="1"/>
          </p:cNvSpPr>
          <p:nvPr/>
        </p:nvSpPr>
        <p:spPr>
          <a:xfrm xmlns:a="http://schemas.openxmlformats.org/drawingml/2006/main">
            <a:off x="6286500" y="423862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2F80ED"/>
                </a:solidFill>
              </a:defRPr>
            </a:pPr>
            <a:r>
              <a:rPr sz="2025" b="1">
                <a:solidFill>
                  <a:srgbClr val="2F80ED"/>
                </a:solidFill>
              </a:rPr>
              <a:t>H2</a:t>
            </a:r>
          </a:p>
        </p:txBody>
      </p:sp>
      <p:sp>
        <p:nvSpPr>
          <p:cNvPr id="18" name="">
            <a:extLst xmlns:a="http://schemas.openxmlformats.org/drawingml/2006/main">
              <a:ext uri="{FF2B5EF4-FFF2-40B4-BE49-F238E27FC236}">
                <a16:creationId xmlns:a16="http://schemas.microsoft.com/office/drawing/2014/main" id="{32FADE76-6F2C-4C55-BC7E-030A24883110}"/>
              </a:ext>
            </a:extLst>
          </p:cNvPr>
          <p:cNvSpPr>
            <a:spLocks xmlns:a="http://schemas.openxmlformats.org/drawingml/2006/main" noGrp="1"/>
          </p:cNvSpPr>
          <p:nvPr/>
        </p:nvSpPr>
        <p:spPr>
          <a:xfrm xmlns:a="http://schemas.openxmlformats.org/drawingml/2006/main">
            <a:off x="7067550" y="4048125"/>
            <a:ext cx="4333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defRPr>
            </a:pPr>
            <a:r>
              <a:rPr sz="1725" b="1">
                <a:solidFill>
                  <a:srgbClr val="111827"/>
                </a:solidFill>
              </a:rPr>
              <a:t>재검색에서 변경한 조건의 유형에 따라</a:t>
            </a:r>
          </a:p>
          <a:p xmlns:a="http://schemas.openxmlformats.org/drawingml/2006/main">
            <a:pPr algn="l">
              <a:defRPr sz="1725" b="1">
                <a:solidFill>
                  <a:srgbClr val="111827"/>
                </a:solidFill>
              </a:defRPr>
            </a:pPr>
            <a:r>
              <a:rPr sz="1725" b="1">
                <a:solidFill>
                  <a:srgbClr val="111827"/>
                </a:solidFill>
              </a:rPr>
              <a:t>즉시 회복률과 호텔 클릭률에 차이가 있을 것이다.</a:t>
            </a:r>
          </a:p>
        </p:txBody>
      </p:sp>
      <p:sp>
        <p:nvSpPr>
          <p:cNvPr id="19" name="">
            <a:extLst xmlns:a="http://schemas.openxmlformats.org/drawingml/2006/main">
              <a:ext uri="{FF2B5EF4-FFF2-40B4-BE49-F238E27FC236}">
                <a16:creationId xmlns:a16="http://schemas.microsoft.com/office/drawing/2014/main" id="{259344F0-EF65-4A4B-95AF-55D470623F48}"/>
              </a:ext>
            </a:extLst>
          </p:cNvPr>
          <p:cNvSpPr>
            <a:spLocks xmlns:a="http://schemas.openxmlformats.org/drawingml/2006/main" noGrp="1"/>
          </p:cNvSpPr>
          <p:nvPr/>
        </p:nvSpPr>
        <p:spPr>
          <a:xfrm xmlns:a="http://schemas.openxmlformats.org/drawingml/2006/main">
            <a:off x="704850" y="576262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D64545"/>
                </a:solidFill>
              </a:defRPr>
            </a:pPr>
            <a:r>
              <a:rPr sz="1275" b="1">
                <a:solidFill>
                  <a:srgbClr val="D64545"/>
                </a:solidFill>
              </a:rPr>
              <a:t>제외한 가설: 첫 검색 0건 여부에 따른 세션 검색횟수 7.43회 vs 7.88회, p=.953 → 차이 없음</a:t>
            </a:r>
          </a:p>
        </p:txBody>
      </p:sp>
    </p:spTree>
    <p:extLst>
      <p:ext uri="{BB962C8B-B14F-4D97-AF65-F5344CB8AC3E}">
        <p14:creationId xmlns:p14="http://schemas.microsoft.com/office/powerpoint/2010/main" val="17851500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5B1CD54-F0C0-4A72-A777-D91BD8FEBE29}"/>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SEGMENT A</a:t>
            </a:r>
          </a:p>
        </p:txBody>
      </p:sp>
      <p:sp>
        <p:nvSpPr>
          <p:cNvPr id="2" name="">
            <a:extLst xmlns:a="http://schemas.openxmlformats.org/drawingml/2006/main">
              <a:ext uri="{FF2B5EF4-FFF2-40B4-BE49-F238E27FC236}">
                <a16:creationId xmlns:a16="http://schemas.microsoft.com/office/drawing/2014/main" id="{21291206-79CC-46E9-B4F6-CD296F5E4624}"/>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검색 성향은 한 사용자에게 여러 개가 동시에 붙는 다중 라벨이다</a:t>
            </a:r>
          </a:p>
        </p:txBody>
      </p:sp>
      <p:sp>
        <p:nvSpPr>
          <p:cNvPr id="3" name="">
            <a:extLst xmlns:a="http://schemas.openxmlformats.org/drawingml/2006/main">
              <a:ext uri="{FF2B5EF4-FFF2-40B4-BE49-F238E27FC236}">
                <a16:creationId xmlns:a16="http://schemas.microsoft.com/office/drawing/2014/main" id="{B733B8CC-8611-44EF-A0BD-807AC579F284}"/>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8CD91B2E-991B-4CAD-8CB2-45635DF503D8}"/>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06</a:t>
            </a:r>
          </a:p>
        </p:txBody>
      </p:sp>
      <p:sp>
        <p:nvSpPr>
          <p:cNvPr id="5" name="">
            <a:extLst xmlns:a="http://schemas.openxmlformats.org/drawingml/2006/main">
              <a:ext uri="{FF2B5EF4-FFF2-40B4-BE49-F238E27FC236}">
                <a16:creationId xmlns:a16="http://schemas.microsoft.com/office/drawing/2014/main" id="{CC11CBD3-657C-4B4A-8C48-A055824CCDB9}"/>
              </a:ext>
            </a:extLst>
          </p:cNvPr>
          <p:cNvSpPr>
            <a:spLocks xmlns:a="http://schemas.openxmlformats.org/drawingml/2006/main" noGrp="1"/>
          </p:cNvSpPr>
          <p:nvPr/>
        </p:nvSpPr>
        <p:spPr>
          <a:xfrm xmlns:a="http://schemas.openxmlformats.org/drawingml/2006/main">
            <a:off x="723900" y="17907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2F80ED"/>
                </a:solidFill>
              </a:defRPr>
            </a:pPr>
            <a:r>
              <a:rPr sz="1425" b="1">
                <a:solidFill>
                  <a:srgbClr val="2F80ED"/>
                </a:solidFill>
              </a:rPr>
              <a:t>검색 조건에서 파악</a:t>
            </a:r>
          </a:p>
        </p:txBody>
      </p:sp>
      <p:sp>
        <p:nvSpPr>
          <p:cNvPr id="6" name="">
            <a:extLst xmlns:a="http://schemas.openxmlformats.org/drawingml/2006/main">
              <a:ext uri="{FF2B5EF4-FFF2-40B4-BE49-F238E27FC236}">
                <a16:creationId xmlns:a16="http://schemas.microsoft.com/office/drawing/2014/main" id="{05923C59-65EA-4F0E-AE25-5BFF449B403F}"/>
              </a:ext>
            </a:extLst>
          </p:cNvPr>
          <p:cNvSpPr>
            <a:spLocks xmlns:a="http://schemas.openxmlformats.org/drawingml/2006/main" noGrp="1"/>
          </p:cNvSpPr>
          <p:nvPr/>
        </p:nvSpPr>
        <p:spPr>
          <a:xfrm xmlns:a="http://schemas.openxmlformats.org/drawingml/2006/main">
            <a:off x="6286500" y="17907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2F80ED"/>
                </a:solidFill>
              </a:defRPr>
            </a:pPr>
            <a:r>
              <a:rPr sz="1425" b="1">
                <a:solidFill>
                  <a:srgbClr val="2F80ED"/>
                </a:solidFill>
              </a:rPr>
              <a:t>세션 행동에서 파악</a:t>
            </a:r>
          </a:p>
        </p:txBody>
      </p:sp>
      <p:sp>
        <p:nvSpPr>
          <p:cNvPr id="7" name="">
            <a:extLst xmlns:a="http://schemas.openxmlformats.org/drawingml/2006/main">
              <a:ext uri="{FF2B5EF4-FFF2-40B4-BE49-F238E27FC236}">
                <a16:creationId xmlns:a16="http://schemas.microsoft.com/office/drawing/2014/main" id="{66E509BF-6709-4C3A-93F5-7F9BB04E1B2B}"/>
              </a:ext>
            </a:extLst>
          </p:cNvPr>
          <p:cNvSpPr>
            <a:spLocks xmlns:a="http://schemas.openxmlformats.org/drawingml/2006/main" noGrp="1"/>
          </p:cNvSpPr>
          <p:nvPr/>
        </p:nvSpPr>
        <p:spPr>
          <a:xfrm xmlns:a="http://schemas.openxmlformats.org/drawingml/2006/main">
            <a:off x="742950" y="22669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지역 고정형</a:t>
            </a:r>
          </a:p>
        </p:txBody>
      </p:sp>
      <p:sp>
        <p:nvSpPr>
          <p:cNvPr id="8" name="">
            <a:extLst xmlns:a="http://schemas.openxmlformats.org/drawingml/2006/main">
              <a:ext uri="{FF2B5EF4-FFF2-40B4-BE49-F238E27FC236}">
                <a16:creationId xmlns:a16="http://schemas.microsoft.com/office/drawing/2014/main" id="{8C0D11B9-DCB2-4D8F-B3A5-4849E396CBE5}"/>
              </a:ext>
            </a:extLst>
          </p:cNvPr>
          <p:cNvSpPr>
            <a:spLocks xmlns:a="http://schemas.openxmlformats.org/drawingml/2006/main" noGrp="1"/>
          </p:cNvSpPr>
          <p:nvPr/>
        </p:nvSpPr>
        <p:spPr>
          <a:xfrm xmlns:a="http://schemas.openxmlformats.org/drawingml/2006/main">
            <a:off x="2609850" y="2266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도시·지역을 유지하며 세부지역을 변경</a:t>
            </a:r>
          </a:p>
        </p:txBody>
      </p:sp>
      <p:sp>
        <p:nvSpPr>
          <p:cNvPr id="9" name="">
            <a:extLst xmlns:a="http://schemas.openxmlformats.org/drawingml/2006/main">
              <a:ext uri="{FF2B5EF4-FFF2-40B4-BE49-F238E27FC236}">
                <a16:creationId xmlns:a16="http://schemas.microsoft.com/office/drawing/2014/main" id="{F888CA4E-25AB-452D-A104-0A7F13C8EC55}"/>
              </a:ext>
            </a:extLst>
          </p:cNvPr>
          <p:cNvSpPr>
            <a:spLocks xmlns:a="http://schemas.openxmlformats.org/drawingml/2006/main" noGrp="1"/>
          </p:cNvSpPr>
          <p:nvPr/>
        </p:nvSpPr>
        <p:spPr>
          <a:xfrm xmlns:a="http://schemas.openxmlformats.org/drawingml/2006/main">
            <a:off x="742950" y="30480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가격 민감형</a:t>
            </a:r>
          </a:p>
        </p:txBody>
      </p:sp>
      <p:sp>
        <p:nvSpPr>
          <p:cNvPr id="10" name="">
            <a:extLst xmlns:a="http://schemas.openxmlformats.org/drawingml/2006/main">
              <a:ext uri="{FF2B5EF4-FFF2-40B4-BE49-F238E27FC236}">
                <a16:creationId xmlns:a16="http://schemas.microsoft.com/office/drawing/2014/main" id="{93800868-187F-462D-90C0-CA7BCDDBC6D8}"/>
              </a:ext>
            </a:extLst>
          </p:cNvPr>
          <p:cNvSpPr>
            <a:spLocks xmlns:a="http://schemas.openxmlformats.org/drawingml/2006/main" noGrp="1"/>
          </p:cNvSpPr>
          <p:nvPr/>
        </p:nvSpPr>
        <p:spPr>
          <a:xfrm xmlns:a="http://schemas.openxmlformats.org/drawingml/2006/main">
            <a:off x="2609850" y="30480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최대가격을 설정하거나 상한을 조정</a:t>
            </a:r>
          </a:p>
        </p:txBody>
      </p:sp>
      <p:sp>
        <p:nvSpPr>
          <p:cNvPr id="11" name="">
            <a:extLst xmlns:a="http://schemas.openxmlformats.org/drawingml/2006/main">
              <a:ext uri="{FF2B5EF4-FFF2-40B4-BE49-F238E27FC236}">
                <a16:creationId xmlns:a16="http://schemas.microsoft.com/office/drawing/2014/main" id="{6FC9717A-53CC-4755-946A-64AA40F724D8}"/>
              </a:ext>
            </a:extLst>
          </p:cNvPr>
          <p:cNvSpPr>
            <a:spLocks xmlns:a="http://schemas.openxmlformats.org/drawingml/2006/main" noGrp="1"/>
          </p:cNvSpPr>
          <p:nvPr/>
        </p:nvSpPr>
        <p:spPr>
          <a:xfrm xmlns:a="http://schemas.openxmlformats.org/drawingml/2006/main">
            <a:off x="742950" y="38290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품질 우선형</a:t>
            </a:r>
          </a:p>
        </p:txBody>
      </p:sp>
      <p:sp>
        <p:nvSpPr>
          <p:cNvPr id="12" name="">
            <a:extLst xmlns:a="http://schemas.openxmlformats.org/drawingml/2006/main">
              <a:ext uri="{FF2B5EF4-FFF2-40B4-BE49-F238E27FC236}">
                <a16:creationId xmlns:a16="http://schemas.microsoft.com/office/drawing/2014/main" id="{F4A8BE2B-E78F-4E1B-A7DF-E7447452FA24}"/>
              </a:ext>
            </a:extLst>
          </p:cNvPr>
          <p:cNvSpPr>
            <a:spLocks xmlns:a="http://schemas.openxmlformats.org/drawingml/2006/main" noGrp="1"/>
          </p:cNvSpPr>
          <p:nvPr/>
        </p:nvSpPr>
        <p:spPr>
          <a:xfrm xmlns:a="http://schemas.openxmlformats.org/drawingml/2006/main">
            <a:off x="2609850" y="3829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평점·등급·편의시설 조건을 중시</a:t>
            </a:r>
          </a:p>
        </p:txBody>
      </p:sp>
      <p:sp>
        <p:nvSpPr>
          <p:cNvPr id="13" name="">
            <a:extLst xmlns:a="http://schemas.openxmlformats.org/drawingml/2006/main">
              <a:ext uri="{FF2B5EF4-FFF2-40B4-BE49-F238E27FC236}">
                <a16:creationId xmlns:a16="http://schemas.microsoft.com/office/drawing/2014/main" id="{8C35323F-450F-45FB-B371-E22B7BF26589}"/>
              </a:ext>
            </a:extLst>
          </p:cNvPr>
          <p:cNvSpPr>
            <a:spLocks xmlns:a="http://schemas.openxmlformats.org/drawingml/2006/main" noGrp="1"/>
          </p:cNvSpPr>
          <p:nvPr/>
        </p:nvSpPr>
        <p:spPr>
          <a:xfrm xmlns:a="http://schemas.openxmlformats.org/drawingml/2006/main">
            <a:off x="742950" y="4610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테마·지명형</a:t>
            </a:r>
          </a:p>
        </p:txBody>
      </p:sp>
      <p:sp>
        <p:nvSpPr>
          <p:cNvPr id="14" name="">
            <a:extLst xmlns:a="http://schemas.openxmlformats.org/drawingml/2006/main">
              <a:ext uri="{FF2B5EF4-FFF2-40B4-BE49-F238E27FC236}">
                <a16:creationId xmlns:a16="http://schemas.microsoft.com/office/drawing/2014/main" id="{1BD618B0-F564-41B1-B357-954E2CC084F5}"/>
              </a:ext>
            </a:extLst>
          </p:cNvPr>
          <p:cNvSpPr>
            <a:spLocks xmlns:a="http://schemas.openxmlformats.org/drawingml/2006/main" noGrp="1"/>
          </p:cNvSpPr>
          <p:nvPr/>
        </p:nvSpPr>
        <p:spPr>
          <a:xfrm xmlns:a="http://schemas.openxmlformats.org/drawingml/2006/main">
            <a:off x="2609850" y="46101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온천·료칸·특정 호텔명을 직접 검색</a:t>
            </a:r>
          </a:p>
        </p:txBody>
      </p:sp>
      <p:sp>
        <p:nvSpPr>
          <p:cNvPr id="15" name="">
            <a:extLst xmlns:a="http://schemas.openxmlformats.org/drawingml/2006/main">
              <a:ext uri="{FF2B5EF4-FFF2-40B4-BE49-F238E27FC236}">
                <a16:creationId xmlns:a16="http://schemas.microsoft.com/office/drawing/2014/main" id="{D80894A2-5D32-4538-BC05-E03F55E2A9B5}"/>
              </a:ext>
            </a:extLst>
          </p:cNvPr>
          <p:cNvSpPr>
            <a:spLocks xmlns:a="http://schemas.openxmlformats.org/drawingml/2006/main" noGrp="1"/>
          </p:cNvSpPr>
          <p:nvPr/>
        </p:nvSpPr>
        <p:spPr>
          <a:xfrm xmlns:a="http://schemas.openxmlformats.org/drawingml/2006/main">
            <a:off x="6305550" y="22669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비교 탐색형</a:t>
            </a:r>
          </a:p>
        </p:txBody>
      </p:sp>
      <p:sp>
        <p:nvSpPr>
          <p:cNvPr id="16" name="">
            <a:extLst xmlns:a="http://schemas.openxmlformats.org/drawingml/2006/main">
              <a:ext uri="{FF2B5EF4-FFF2-40B4-BE49-F238E27FC236}">
                <a16:creationId xmlns:a16="http://schemas.microsoft.com/office/drawing/2014/main" id="{5D7756B6-AFB0-4443-80DC-19A0B11722AA}"/>
              </a:ext>
            </a:extLst>
          </p:cNvPr>
          <p:cNvSpPr>
            <a:spLocks xmlns:a="http://schemas.openxmlformats.org/drawingml/2006/main" noGrp="1"/>
          </p:cNvSpPr>
          <p:nvPr/>
        </p:nvSpPr>
        <p:spPr>
          <a:xfrm xmlns:a="http://schemas.openxmlformats.org/drawingml/2006/main">
            <a:off x="8172450" y="2266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결과가 있어도 검색·클릭을 반복</a:t>
            </a:r>
          </a:p>
        </p:txBody>
      </p:sp>
      <p:sp>
        <p:nvSpPr>
          <p:cNvPr id="17" name="">
            <a:extLst xmlns:a="http://schemas.openxmlformats.org/drawingml/2006/main">
              <a:ext uri="{FF2B5EF4-FFF2-40B4-BE49-F238E27FC236}">
                <a16:creationId xmlns:a16="http://schemas.microsoft.com/office/drawing/2014/main" id="{8EE17000-FB70-48E6-96AE-99D809E334C5}"/>
              </a:ext>
            </a:extLst>
          </p:cNvPr>
          <p:cNvSpPr>
            <a:spLocks xmlns:a="http://schemas.openxmlformats.org/drawingml/2006/main" noGrp="1"/>
          </p:cNvSpPr>
          <p:nvPr/>
        </p:nvSpPr>
        <p:spPr>
          <a:xfrm xmlns:a="http://schemas.openxmlformats.org/drawingml/2006/main">
            <a:off x="6305550" y="30480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빠른 결정형</a:t>
            </a:r>
          </a:p>
        </p:txBody>
      </p:sp>
      <p:sp>
        <p:nvSpPr>
          <p:cNvPr id="18" name="">
            <a:extLst xmlns:a="http://schemas.openxmlformats.org/drawingml/2006/main">
              <a:ext uri="{FF2B5EF4-FFF2-40B4-BE49-F238E27FC236}">
                <a16:creationId xmlns:a16="http://schemas.microsoft.com/office/drawing/2014/main" id="{CD53F385-889C-4E5B-878C-C8A37318EC64}"/>
              </a:ext>
            </a:extLst>
          </p:cNvPr>
          <p:cNvSpPr>
            <a:spLocks xmlns:a="http://schemas.openxmlformats.org/drawingml/2006/main" noGrp="1"/>
          </p:cNvSpPr>
          <p:nvPr/>
        </p:nvSpPr>
        <p:spPr>
          <a:xfrm xmlns:a="http://schemas.openxmlformats.org/drawingml/2006/main">
            <a:off x="8172450" y="30480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적은 검색 안에 호텔을 선택</a:t>
            </a:r>
          </a:p>
        </p:txBody>
      </p:sp>
      <p:sp>
        <p:nvSpPr>
          <p:cNvPr id="19" name="">
            <a:extLst xmlns:a="http://schemas.openxmlformats.org/drawingml/2006/main">
              <a:ext uri="{FF2B5EF4-FFF2-40B4-BE49-F238E27FC236}">
                <a16:creationId xmlns:a16="http://schemas.microsoft.com/office/drawing/2014/main" id="{71D165E4-FB91-431D-B5DE-13E09EF22C01}"/>
              </a:ext>
            </a:extLst>
          </p:cNvPr>
          <p:cNvSpPr>
            <a:spLocks xmlns:a="http://schemas.openxmlformats.org/drawingml/2006/main" noGrp="1"/>
          </p:cNvSpPr>
          <p:nvPr/>
        </p:nvSpPr>
        <p:spPr>
          <a:xfrm xmlns:a="http://schemas.openxmlformats.org/drawingml/2006/main">
            <a:off x="6305550" y="38290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입력 탐색형</a:t>
            </a:r>
          </a:p>
        </p:txBody>
      </p:sp>
      <p:sp>
        <p:nvSpPr>
          <p:cNvPr id="20" name="">
            <a:extLst xmlns:a="http://schemas.openxmlformats.org/drawingml/2006/main">
              <a:ext uri="{FF2B5EF4-FFF2-40B4-BE49-F238E27FC236}">
                <a16:creationId xmlns:a16="http://schemas.microsoft.com/office/drawing/2014/main" id="{C1F08A6F-A377-442C-B43D-1D06D843815F}"/>
              </a:ext>
            </a:extLst>
          </p:cNvPr>
          <p:cNvSpPr>
            <a:spLocks xmlns:a="http://schemas.openxmlformats.org/drawingml/2006/main" noGrp="1"/>
          </p:cNvSpPr>
          <p:nvPr/>
        </p:nvSpPr>
        <p:spPr>
          <a:xfrm xmlns:a="http://schemas.openxmlformats.org/drawingml/2006/main">
            <a:off x="8172450" y="3829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짧은 검색어·오타·자동완성 입력 반복</a:t>
            </a:r>
          </a:p>
        </p:txBody>
      </p:sp>
      <p:sp>
        <p:nvSpPr>
          <p:cNvPr id="21" name="">
            <a:extLst xmlns:a="http://schemas.openxmlformats.org/drawingml/2006/main">
              <a:ext uri="{FF2B5EF4-FFF2-40B4-BE49-F238E27FC236}">
                <a16:creationId xmlns:a16="http://schemas.microsoft.com/office/drawing/2014/main" id="{D248AAAC-0E09-4645-B391-FE2987D605A9}"/>
              </a:ext>
            </a:extLst>
          </p:cNvPr>
          <p:cNvSpPr>
            <a:spLocks xmlns:a="http://schemas.openxmlformats.org/drawingml/2006/main" noGrp="1"/>
          </p:cNvSpPr>
          <p:nvPr/>
        </p:nvSpPr>
        <p:spPr>
          <a:xfrm xmlns:a="http://schemas.openxmlformats.org/drawingml/2006/main">
            <a:off x="6305550" y="4610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지역 전환형</a:t>
            </a:r>
          </a:p>
        </p:txBody>
      </p:sp>
      <p:sp>
        <p:nvSpPr>
          <p:cNvPr id="22" name="">
            <a:extLst xmlns:a="http://schemas.openxmlformats.org/drawingml/2006/main">
              <a:ext uri="{FF2B5EF4-FFF2-40B4-BE49-F238E27FC236}">
                <a16:creationId xmlns:a16="http://schemas.microsoft.com/office/drawing/2014/main" id="{A80E291F-CAF5-46B0-826B-71C575DE2D80}"/>
              </a:ext>
            </a:extLst>
          </p:cNvPr>
          <p:cNvSpPr>
            <a:spLocks xmlns:a="http://schemas.openxmlformats.org/drawingml/2006/main" noGrp="1"/>
          </p:cNvSpPr>
          <p:nvPr/>
        </p:nvSpPr>
        <p:spPr>
          <a:xfrm xmlns:a="http://schemas.openxmlformats.org/drawingml/2006/main">
            <a:off x="8172450" y="46101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0건 후 다른 지역으로 목적지를 변경</a:t>
            </a:r>
          </a:p>
        </p:txBody>
      </p:sp>
      <p:sp>
        <p:nvSpPr>
          <p:cNvPr id="23" name="">
            <a:extLst xmlns:a="http://schemas.openxmlformats.org/drawingml/2006/main">
              <a:ext uri="{FF2B5EF4-FFF2-40B4-BE49-F238E27FC236}">
                <a16:creationId xmlns:a16="http://schemas.microsoft.com/office/drawing/2014/main" id="{26B254A0-CA4E-4CCE-B079-1E4ED0B2DD5B}"/>
              </a:ext>
            </a:extLst>
          </p:cNvPr>
          <p:cNvSpPr>
            <a:spLocks xmlns:a="http://schemas.openxmlformats.org/drawingml/2006/main" noGrp="1"/>
          </p:cNvSpPr>
          <p:nvPr/>
        </p:nvSpPr>
        <p:spPr>
          <a:xfrm xmlns:a="http://schemas.openxmlformats.org/drawingml/2006/main">
            <a:off x="685800" y="5524500"/>
            <a:ext cx="10820400" cy="619125"/>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37F2EE8-C43C-44EA-9F17-D41490278702}"/>
              </a:ext>
            </a:extLst>
          </p:cNvPr>
          <p:cNvSpPr>
            <a:spLocks xmlns:a="http://schemas.openxmlformats.org/drawingml/2006/main" noGrp="1"/>
          </p:cNvSpPr>
          <p:nvPr/>
        </p:nvSpPr>
        <p:spPr>
          <a:xfrm xmlns:a="http://schemas.openxmlformats.org/drawingml/2006/main">
            <a:off x="914400" y="56769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64545"/>
                </a:solidFill>
              </a:defRPr>
            </a:pPr>
            <a:r>
              <a:rPr sz="1350" b="1">
                <a:solidFill>
                  <a:srgbClr val="D64545"/>
                </a:solidFill>
              </a:rPr>
              <a:t>주의</a:t>
            </a:r>
          </a:p>
        </p:txBody>
      </p:sp>
      <p:sp>
        <p:nvSpPr>
          <p:cNvPr id="25" name="">
            <a:extLst xmlns:a="http://schemas.openxmlformats.org/drawingml/2006/main">
              <a:ext uri="{FF2B5EF4-FFF2-40B4-BE49-F238E27FC236}">
                <a16:creationId xmlns:a16="http://schemas.microsoft.com/office/drawing/2014/main" id="{6EF18DFE-5F23-4994-B36C-FA1D5B85A6EF}"/>
              </a:ext>
            </a:extLst>
          </p:cNvPr>
          <p:cNvSpPr>
            <a:spLocks xmlns:a="http://schemas.openxmlformats.org/drawingml/2006/main" noGrp="1"/>
          </p:cNvSpPr>
          <p:nvPr/>
        </p:nvSpPr>
        <p:spPr>
          <a:xfrm xmlns:a="http://schemas.openxmlformats.org/drawingml/2006/main">
            <a:off x="1714500" y="5610225"/>
            <a:ext cx="923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다중 라벨이므로 인원 비율을 합쳐 100%로 해석하지 않으며, 행동 생성 확률을 정하는 데 사용한다.</a:t>
            </a:r>
          </a:p>
        </p:txBody>
      </p:sp>
    </p:spTree>
    <p:extLst>
      <p:ext uri="{BB962C8B-B14F-4D97-AF65-F5344CB8AC3E}">
        <p14:creationId xmlns:p14="http://schemas.microsoft.com/office/powerpoint/2010/main" val="9068166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306E15D-AA93-42B8-A876-5CED05973209}"/>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SEGMENT B</a:t>
            </a:r>
          </a:p>
        </p:txBody>
      </p:sp>
      <p:sp>
        <p:nvSpPr>
          <p:cNvPr id="2" name="">
            <a:extLst xmlns:a="http://schemas.openxmlformats.org/drawingml/2006/main">
              <a:ext uri="{FF2B5EF4-FFF2-40B4-BE49-F238E27FC236}">
                <a16:creationId xmlns:a16="http://schemas.microsoft.com/office/drawing/2014/main" id="{20F7D8B5-CFA5-4651-9066-F96CF63D4D78}"/>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검색 결과 행동은 전체 검색 사용자 68명을 중복 없이 나눈다</a:t>
            </a:r>
          </a:p>
        </p:txBody>
      </p:sp>
      <p:sp>
        <p:nvSpPr>
          <p:cNvPr id="3" name="">
            <a:extLst xmlns:a="http://schemas.openxmlformats.org/drawingml/2006/main">
              <a:ext uri="{FF2B5EF4-FFF2-40B4-BE49-F238E27FC236}">
                <a16:creationId xmlns:a16="http://schemas.microsoft.com/office/drawing/2014/main" id="{9D4427FF-C3DF-4C0B-BB42-1FBA4EC06E83}"/>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47ED98E9-E63E-4804-BA0F-C7A883A9320B}"/>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07</a:t>
            </a:r>
          </a:p>
        </p:txBody>
      </p:sp>
      <p:sp>
        <p:nvSpPr>
          <p:cNvPr id="5" name="">
            <a:extLst xmlns:a="http://schemas.openxmlformats.org/drawingml/2006/main">
              <a:ext uri="{FF2B5EF4-FFF2-40B4-BE49-F238E27FC236}">
                <a16:creationId xmlns:a16="http://schemas.microsoft.com/office/drawing/2014/main" id="{66897881-B9FF-4A46-BFFB-0527013316CD}"/>
              </a:ext>
            </a:extLst>
          </p:cNvPr>
          <p:cNvSpPr>
            <a:spLocks xmlns:a="http://schemas.openxmlformats.org/drawingml/2006/main" noGrp="1"/>
          </p:cNvSpPr>
          <p:nvPr/>
        </p:nvSpPr>
        <p:spPr>
          <a:xfrm xmlns:a="http://schemas.openxmlformats.org/drawingml/2006/main">
            <a:off x="704850" y="2047875"/>
            <a:ext cx="1827276" cy="704850"/>
          </a:xfrm>
          <a:prstGeom xmlns:a="http://schemas.openxmlformats.org/drawingml/2006/main" prst="rect">
            <a:avLst/>
          </a:prstGeom>
          <a:solidFill xmlns:a="http://schemas.openxmlformats.org/drawingml/2006/main">
            <a:srgbClr val="168A6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A96B95A-72A7-49EC-8F5C-7670894A07DC}"/>
              </a:ext>
            </a:extLst>
          </p:cNvPr>
          <p:cNvSpPr>
            <a:spLocks xmlns:a="http://schemas.openxmlformats.org/drawingml/2006/main" noGrp="1"/>
          </p:cNvSpPr>
          <p:nvPr/>
        </p:nvSpPr>
        <p:spPr>
          <a:xfrm xmlns:a="http://schemas.openxmlformats.org/drawingml/2006/main">
            <a:off x="752475" y="2152650"/>
            <a:ext cx="1732026"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17.6%</a:t>
            </a:r>
          </a:p>
        </p:txBody>
      </p:sp>
      <p:sp>
        <p:nvSpPr>
          <p:cNvPr id="7" name="">
            <a:extLst xmlns:a="http://schemas.openxmlformats.org/drawingml/2006/main">
              <a:ext uri="{FF2B5EF4-FFF2-40B4-BE49-F238E27FC236}">
                <a16:creationId xmlns:a16="http://schemas.microsoft.com/office/drawing/2014/main" id="{33E2F29E-300C-43F0-852E-8B440BD59440}"/>
              </a:ext>
            </a:extLst>
          </p:cNvPr>
          <p:cNvSpPr>
            <a:spLocks xmlns:a="http://schemas.openxmlformats.org/drawingml/2006/main" noGrp="1"/>
          </p:cNvSpPr>
          <p:nvPr/>
        </p:nvSpPr>
        <p:spPr>
          <a:xfrm xmlns:a="http://schemas.openxmlformats.org/drawingml/2006/main">
            <a:off x="2532126" y="2047875"/>
            <a:ext cx="2751296" cy="704850"/>
          </a:xfrm>
          <a:prstGeom xmlns:a="http://schemas.openxmlformats.org/drawingml/2006/main" prst="rect">
            <a:avLst/>
          </a:prstGeom>
          <a:solidFill xmlns:a="http://schemas.openxmlformats.org/drawingml/2006/main">
            <a:srgbClr val="5B64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60F9C1-6283-4426-8F75-700A49B8F84B}"/>
              </a:ext>
            </a:extLst>
          </p:cNvPr>
          <p:cNvSpPr>
            <a:spLocks xmlns:a="http://schemas.openxmlformats.org/drawingml/2006/main" noGrp="1"/>
          </p:cNvSpPr>
          <p:nvPr/>
        </p:nvSpPr>
        <p:spPr>
          <a:xfrm xmlns:a="http://schemas.openxmlformats.org/drawingml/2006/main">
            <a:off x="2579751" y="2152650"/>
            <a:ext cx="2656046"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26.5%</a:t>
            </a:r>
          </a:p>
        </p:txBody>
      </p:sp>
      <p:sp>
        <p:nvSpPr>
          <p:cNvPr id="9" name="">
            <a:extLst xmlns:a="http://schemas.openxmlformats.org/drawingml/2006/main">
              <a:ext uri="{FF2B5EF4-FFF2-40B4-BE49-F238E27FC236}">
                <a16:creationId xmlns:a16="http://schemas.microsoft.com/office/drawing/2014/main" id="{DB1A883D-E5B9-43A5-85C0-59C2BE8138AF}"/>
              </a:ext>
            </a:extLst>
          </p:cNvPr>
          <p:cNvSpPr>
            <a:spLocks xmlns:a="http://schemas.openxmlformats.org/drawingml/2006/main" noGrp="1"/>
          </p:cNvSpPr>
          <p:nvPr/>
        </p:nvSpPr>
        <p:spPr>
          <a:xfrm xmlns:a="http://schemas.openxmlformats.org/drawingml/2006/main">
            <a:off x="5283422" y="2047875"/>
            <a:ext cx="3966020" cy="7048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3E2E23B-680C-417D-B977-10089E9F9771}"/>
              </a:ext>
            </a:extLst>
          </p:cNvPr>
          <p:cNvSpPr>
            <a:spLocks xmlns:a="http://schemas.openxmlformats.org/drawingml/2006/main" noGrp="1"/>
          </p:cNvSpPr>
          <p:nvPr/>
        </p:nvSpPr>
        <p:spPr>
          <a:xfrm xmlns:a="http://schemas.openxmlformats.org/drawingml/2006/main">
            <a:off x="5331047" y="2152650"/>
            <a:ext cx="387077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38.2%</a:t>
            </a:r>
          </a:p>
        </p:txBody>
      </p:sp>
      <p:sp>
        <p:nvSpPr>
          <p:cNvPr id="11" name="">
            <a:extLst xmlns:a="http://schemas.openxmlformats.org/drawingml/2006/main">
              <a:ext uri="{FF2B5EF4-FFF2-40B4-BE49-F238E27FC236}">
                <a16:creationId xmlns:a16="http://schemas.microsoft.com/office/drawing/2014/main" id="{4EEE262F-E157-476C-8893-212B95E61542}"/>
              </a:ext>
            </a:extLst>
          </p:cNvPr>
          <p:cNvSpPr>
            <a:spLocks xmlns:a="http://schemas.openxmlformats.org/drawingml/2006/main" noGrp="1"/>
          </p:cNvSpPr>
          <p:nvPr/>
        </p:nvSpPr>
        <p:spPr>
          <a:xfrm xmlns:a="http://schemas.openxmlformats.org/drawingml/2006/main">
            <a:off x="9249442" y="2047875"/>
            <a:ext cx="913638" cy="704850"/>
          </a:xfrm>
          <a:prstGeom xmlns:a="http://schemas.openxmlformats.org/drawingml/2006/main" prst="rect">
            <a:avLst/>
          </a:prstGeom>
          <a:solidFill xmlns:a="http://schemas.openxmlformats.org/drawingml/2006/main">
            <a:srgbClr val="D6454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4866801-5720-4299-A555-9DFE517E93E5}"/>
              </a:ext>
            </a:extLst>
          </p:cNvPr>
          <p:cNvSpPr>
            <a:spLocks xmlns:a="http://schemas.openxmlformats.org/drawingml/2006/main" noGrp="1"/>
          </p:cNvSpPr>
          <p:nvPr/>
        </p:nvSpPr>
        <p:spPr>
          <a:xfrm xmlns:a="http://schemas.openxmlformats.org/drawingml/2006/main">
            <a:off x="9297067" y="2152650"/>
            <a:ext cx="81838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8.8%</a:t>
            </a:r>
          </a:p>
        </p:txBody>
      </p:sp>
      <p:sp>
        <p:nvSpPr>
          <p:cNvPr id="13" name="">
            <a:extLst xmlns:a="http://schemas.openxmlformats.org/drawingml/2006/main">
              <a:ext uri="{FF2B5EF4-FFF2-40B4-BE49-F238E27FC236}">
                <a16:creationId xmlns:a16="http://schemas.microsoft.com/office/drawing/2014/main" id="{98FE2070-294C-4D84-9087-C53F7059B3DF}"/>
              </a:ext>
            </a:extLst>
          </p:cNvPr>
          <p:cNvSpPr>
            <a:spLocks xmlns:a="http://schemas.openxmlformats.org/drawingml/2006/main" noGrp="1"/>
          </p:cNvSpPr>
          <p:nvPr/>
        </p:nvSpPr>
        <p:spPr>
          <a:xfrm xmlns:a="http://schemas.openxmlformats.org/drawingml/2006/main">
            <a:off x="10163080" y="2047875"/>
            <a:ext cx="913638" cy="704850"/>
          </a:xfrm>
          <a:prstGeom xmlns:a="http://schemas.openxmlformats.org/drawingml/2006/main" prst="rect">
            <a:avLst/>
          </a:prstGeom>
          <a:solidFill xmlns:a="http://schemas.openxmlformats.org/drawingml/2006/main">
            <a:srgbClr val="E49A2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EBAE763-F32A-44D2-A08F-AFE8A56ABD16}"/>
              </a:ext>
            </a:extLst>
          </p:cNvPr>
          <p:cNvSpPr>
            <a:spLocks xmlns:a="http://schemas.openxmlformats.org/drawingml/2006/main" noGrp="1"/>
          </p:cNvSpPr>
          <p:nvPr/>
        </p:nvSpPr>
        <p:spPr>
          <a:xfrm xmlns:a="http://schemas.openxmlformats.org/drawingml/2006/main">
            <a:off x="10210705" y="2152650"/>
            <a:ext cx="81838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8.8%</a:t>
            </a:r>
          </a:p>
        </p:txBody>
      </p:sp>
      <p:sp>
        <p:nvSpPr>
          <p:cNvPr id="15" name="">
            <a:extLst xmlns:a="http://schemas.openxmlformats.org/drawingml/2006/main">
              <a:ext uri="{FF2B5EF4-FFF2-40B4-BE49-F238E27FC236}">
                <a16:creationId xmlns:a16="http://schemas.microsoft.com/office/drawing/2014/main" id="{3BDA031B-DA14-4F5D-84C0-F8E44C393CA1}"/>
              </a:ext>
            </a:extLst>
          </p:cNvPr>
          <p:cNvSpPr>
            <a:spLocks xmlns:a="http://schemas.openxmlformats.org/drawingml/2006/main" noGrp="1"/>
          </p:cNvSpPr>
          <p:nvPr/>
        </p:nvSpPr>
        <p:spPr>
          <a:xfrm xmlns:a="http://schemas.openxmlformats.org/drawingml/2006/main">
            <a:off x="781050" y="3181350"/>
            <a:ext cx="171450" cy="171450"/>
          </a:xfrm>
          <a:prstGeom xmlns:a="http://schemas.openxmlformats.org/drawingml/2006/main" prst="rect">
            <a:avLst/>
          </a:prstGeom>
          <a:solidFill xmlns:a="http://schemas.openxmlformats.org/drawingml/2006/main">
            <a:srgbClr val="168A6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0537ACD-4973-477B-B999-FBB2A41C6877}"/>
              </a:ext>
            </a:extLst>
          </p:cNvPr>
          <p:cNvSpPr>
            <a:spLocks xmlns:a="http://schemas.openxmlformats.org/drawingml/2006/main" noGrp="1"/>
          </p:cNvSpPr>
          <p:nvPr/>
        </p:nvSpPr>
        <p:spPr>
          <a:xfrm xmlns:a="http://schemas.openxmlformats.org/drawingml/2006/main">
            <a:off x="1066800" y="31051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직접 성공</a:t>
            </a:r>
          </a:p>
        </p:txBody>
      </p:sp>
      <p:sp>
        <p:nvSpPr>
          <p:cNvPr id="17" name="">
            <a:extLst xmlns:a="http://schemas.openxmlformats.org/drawingml/2006/main">
              <a:ext uri="{FF2B5EF4-FFF2-40B4-BE49-F238E27FC236}">
                <a16:creationId xmlns:a16="http://schemas.microsoft.com/office/drawing/2014/main" id="{F530CFEE-6682-46D7-B49C-1500C4D2B133}"/>
              </a:ext>
            </a:extLst>
          </p:cNvPr>
          <p:cNvSpPr>
            <a:spLocks xmlns:a="http://schemas.openxmlformats.org/drawingml/2006/main" noGrp="1"/>
          </p:cNvSpPr>
          <p:nvPr/>
        </p:nvSpPr>
        <p:spPr>
          <a:xfrm xmlns:a="http://schemas.openxmlformats.org/drawingml/2006/main">
            <a:off x="2762250" y="3105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5B6472"/>
                </a:solidFill>
              </a:defRPr>
            </a:pPr>
            <a:r>
              <a:rPr sz="1350" b="0">
                <a:solidFill>
                  <a:srgbClr val="5B6472"/>
                </a:solidFill>
              </a:rPr>
              <a:t>17.6%</a:t>
            </a:r>
          </a:p>
        </p:txBody>
      </p:sp>
      <p:sp>
        <p:nvSpPr>
          <p:cNvPr id="18" name="">
            <a:extLst xmlns:a="http://schemas.openxmlformats.org/drawingml/2006/main">
              <a:ext uri="{FF2B5EF4-FFF2-40B4-BE49-F238E27FC236}">
                <a16:creationId xmlns:a16="http://schemas.microsoft.com/office/drawing/2014/main" id="{F844EBF0-25E8-4EE6-BCA9-E604388D0153}"/>
              </a:ext>
            </a:extLst>
          </p:cNvPr>
          <p:cNvSpPr>
            <a:spLocks xmlns:a="http://schemas.openxmlformats.org/drawingml/2006/main" noGrp="1"/>
          </p:cNvSpPr>
          <p:nvPr/>
        </p:nvSpPr>
        <p:spPr>
          <a:xfrm xmlns:a="http://schemas.openxmlformats.org/drawingml/2006/main">
            <a:off x="781050" y="3638550"/>
            <a:ext cx="171450" cy="171450"/>
          </a:xfrm>
          <a:prstGeom xmlns:a="http://schemas.openxmlformats.org/drawingml/2006/main" prst="rect">
            <a:avLst/>
          </a:prstGeom>
          <a:solidFill xmlns:a="http://schemas.openxmlformats.org/drawingml/2006/main">
            <a:srgbClr val="5B647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91960DB-4E94-4EF9-B4D8-61B3F5119B20}"/>
              </a:ext>
            </a:extLst>
          </p:cNvPr>
          <p:cNvSpPr>
            <a:spLocks xmlns:a="http://schemas.openxmlformats.org/drawingml/2006/main" noGrp="1"/>
          </p:cNvSpPr>
          <p:nvPr/>
        </p:nvSpPr>
        <p:spPr>
          <a:xfrm xmlns:a="http://schemas.openxmlformats.org/drawingml/2006/main">
            <a:off x="1066800" y="3562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노출·미선택</a:t>
            </a:r>
          </a:p>
        </p:txBody>
      </p:sp>
      <p:sp>
        <p:nvSpPr>
          <p:cNvPr id="20" name="">
            <a:extLst xmlns:a="http://schemas.openxmlformats.org/drawingml/2006/main">
              <a:ext uri="{FF2B5EF4-FFF2-40B4-BE49-F238E27FC236}">
                <a16:creationId xmlns:a16="http://schemas.microsoft.com/office/drawing/2014/main" id="{927350C6-8BD8-4C98-830C-FEB88F95AFB6}"/>
              </a:ext>
            </a:extLst>
          </p:cNvPr>
          <p:cNvSpPr>
            <a:spLocks xmlns:a="http://schemas.openxmlformats.org/drawingml/2006/main" noGrp="1"/>
          </p:cNvSpPr>
          <p:nvPr/>
        </p:nvSpPr>
        <p:spPr>
          <a:xfrm xmlns:a="http://schemas.openxmlformats.org/drawingml/2006/main">
            <a:off x="2762250" y="35623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5B6472"/>
                </a:solidFill>
              </a:defRPr>
            </a:pPr>
            <a:r>
              <a:rPr sz="1350" b="0">
                <a:solidFill>
                  <a:srgbClr val="5B6472"/>
                </a:solidFill>
              </a:rPr>
              <a:t>26.5%</a:t>
            </a:r>
          </a:p>
        </p:txBody>
      </p:sp>
      <p:sp>
        <p:nvSpPr>
          <p:cNvPr id="21" name="">
            <a:extLst xmlns:a="http://schemas.openxmlformats.org/drawingml/2006/main">
              <a:ext uri="{FF2B5EF4-FFF2-40B4-BE49-F238E27FC236}">
                <a16:creationId xmlns:a16="http://schemas.microsoft.com/office/drawing/2014/main" id="{79418974-3B12-49D5-884F-824478D54EE3}"/>
              </a:ext>
            </a:extLst>
          </p:cNvPr>
          <p:cNvSpPr>
            <a:spLocks xmlns:a="http://schemas.openxmlformats.org/drawingml/2006/main" noGrp="1"/>
          </p:cNvSpPr>
          <p:nvPr/>
        </p:nvSpPr>
        <p:spPr>
          <a:xfrm xmlns:a="http://schemas.openxmlformats.org/drawingml/2006/main">
            <a:off x="781050" y="4095750"/>
            <a:ext cx="171450" cy="171450"/>
          </a:xfrm>
          <a:prstGeom xmlns:a="http://schemas.openxmlformats.org/drawingml/2006/main" prst="rect">
            <a:avLst/>
          </a:prstGeom>
          <a:solidFill xmlns:a="http://schemas.openxmlformats.org/drawingml/2006/main">
            <a:srgbClr val="2F80E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708BF09-4DD8-4648-B330-C997155D9441}"/>
              </a:ext>
            </a:extLst>
          </p:cNvPr>
          <p:cNvSpPr>
            <a:spLocks xmlns:a="http://schemas.openxmlformats.org/drawingml/2006/main" noGrp="1"/>
          </p:cNvSpPr>
          <p:nvPr/>
        </p:nvSpPr>
        <p:spPr>
          <a:xfrm xmlns:a="http://schemas.openxmlformats.org/drawingml/2006/main">
            <a:off x="1066800" y="40195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재검색 회복</a:t>
            </a:r>
          </a:p>
        </p:txBody>
      </p:sp>
      <p:sp>
        <p:nvSpPr>
          <p:cNvPr id="23" name="">
            <a:extLst xmlns:a="http://schemas.openxmlformats.org/drawingml/2006/main">
              <a:ext uri="{FF2B5EF4-FFF2-40B4-BE49-F238E27FC236}">
                <a16:creationId xmlns:a16="http://schemas.microsoft.com/office/drawing/2014/main" id="{40418887-3D92-43AC-9AD7-63EED3F37C37}"/>
              </a:ext>
            </a:extLst>
          </p:cNvPr>
          <p:cNvSpPr>
            <a:spLocks xmlns:a="http://schemas.openxmlformats.org/drawingml/2006/main" noGrp="1"/>
          </p:cNvSpPr>
          <p:nvPr/>
        </p:nvSpPr>
        <p:spPr>
          <a:xfrm xmlns:a="http://schemas.openxmlformats.org/drawingml/2006/main">
            <a:off x="2762250" y="40195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5B6472"/>
                </a:solidFill>
              </a:defRPr>
            </a:pPr>
            <a:r>
              <a:rPr sz="1350" b="0">
                <a:solidFill>
                  <a:srgbClr val="5B6472"/>
                </a:solidFill>
              </a:rPr>
              <a:t>38.2%</a:t>
            </a:r>
          </a:p>
        </p:txBody>
      </p:sp>
      <p:sp>
        <p:nvSpPr>
          <p:cNvPr id="24" name="">
            <a:extLst xmlns:a="http://schemas.openxmlformats.org/drawingml/2006/main">
              <a:ext uri="{FF2B5EF4-FFF2-40B4-BE49-F238E27FC236}">
                <a16:creationId xmlns:a16="http://schemas.microsoft.com/office/drawing/2014/main" id="{E0D773A3-D735-41DF-9936-FC4598057CAE}"/>
              </a:ext>
            </a:extLst>
          </p:cNvPr>
          <p:cNvSpPr>
            <a:spLocks xmlns:a="http://schemas.openxmlformats.org/drawingml/2006/main" noGrp="1"/>
          </p:cNvSpPr>
          <p:nvPr/>
        </p:nvSpPr>
        <p:spPr>
          <a:xfrm xmlns:a="http://schemas.openxmlformats.org/drawingml/2006/main">
            <a:off x="781050" y="4552950"/>
            <a:ext cx="171450" cy="171450"/>
          </a:xfrm>
          <a:prstGeom xmlns:a="http://schemas.openxmlformats.org/drawingml/2006/main" prst="rect">
            <a:avLst/>
          </a:prstGeom>
          <a:solidFill xmlns:a="http://schemas.openxmlformats.org/drawingml/2006/main">
            <a:srgbClr val="D6454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5C08EDC-9411-4AAE-B780-9F9D18E57393}"/>
              </a:ext>
            </a:extLst>
          </p:cNvPr>
          <p:cNvSpPr>
            <a:spLocks xmlns:a="http://schemas.openxmlformats.org/drawingml/2006/main" noGrp="1"/>
          </p:cNvSpPr>
          <p:nvPr/>
        </p:nvSpPr>
        <p:spPr>
          <a:xfrm xmlns:a="http://schemas.openxmlformats.org/drawingml/2006/main">
            <a:off x="1066800" y="44767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지속 실패</a:t>
            </a:r>
          </a:p>
        </p:txBody>
      </p:sp>
      <p:sp>
        <p:nvSpPr>
          <p:cNvPr id="26" name="">
            <a:extLst xmlns:a="http://schemas.openxmlformats.org/drawingml/2006/main">
              <a:ext uri="{FF2B5EF4-FFF2-40B4-BE49-F238E27FC236}">
                <a16:creationId xmlns:a16="http://schemas.microsoft.com/office/drawing/2014/main" id="{2130A4DB-F133-4E7D-9B09-B2361CA846AA}"/>
              </a:ext>
            </a:extLst>
          </p:cNvPr>
          <p:cNvSpPr>
            <a:spLocks xmlns:a="http://schemas.openxmlformats.org/drawingml/2006/main" noGrp="1"/>
          </p:cNvSpPr>
          <p:nvPr/>
        </p:nvSpPr>
        <p:spPr>
          <a:xfrm xmlns:a="http://schemas.openxmlformats.org/drawingml/2006/main">
            <a:off x="2762250" y="44767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5B6472"/>
                </a:solidFill>
              </a:defRPr>
            </a:pPr>
            <a:r>
              <a:rPr sz="1350" b="0">
                <a:solidFill>
                  <a:srgbClr val="5B6472"/>
                </a:solidFill>
              </a:rPr>
              <a:t>8.8%</a:t>
            </a:r>
          </a:p>
        </p:txBody>
      </p:sp>
      <p:sp>
        <p:nvSpPr>
          <p:cNvPr id="27" name="">
            <a:extLst xmlns:a="http://schemas.openxmlformats.org/drawingml/2006/main">
              <a:ext uri="{FF2B5EF4-FFF2-40B4-BE49-F238E27FC236}">
                <a16:creationId xmlns:a16="http://schemas.microsoft.com/office/drawing/2014/main" id="{1336137F-CD2E-4B13-A749-1B2D3A6B8136}"/>
              </a:ext>
            </a:extLst>
          </p:cNvPr>
          <p:cNvSpPr>
            <a:spLocks xmlns:a="http://schemas.openxmlformats.org/drawingml/2006/main" noGrp="1"/>
          </p:cNvSpPr>
          <p:nvPr/>
        </p:nvSpPr>
        <p:spPr>
          <a:xfrm xmlns:a="http://schemas.openxmlformats.org/drawingml/2006/main">
            <a:off x="781050" y="5010150"/>
            <a:ext cx="171450" cy="171450"/>
          </a:xfrm>
          <a:prstGeom xmlns:a="http://schemas.openxmlformats.org/drawingml/2006/main" prst="rect">
            <a:avLst/>
          </a:prstGeom>
          <a:solidFill xmlns:a="http://schemas.openxmlformats.org/drawingml/2006/main">
            <a:srgbClr val="E49A2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1609774-2874-47AA-96E5-D09090049E67}"/>
              </a:ext>
            </a:extLst>
          </p:cNvPr>
          <p:cNvSpPr>
            <a:spLocks xmlns:a="http://schemas.openxmlformats.org/drawingml/2006/main" noGrp="1"/>
          </p:cNvSpPr>
          <p:nvPr/>
        </p:nvSpPr>
        <p:spPr>
          <a:xfrm xmlns:a="http://schemas.openxmlformats.org/drawingml/2006/main">
            <a:off x="1066800" y="49339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0건 즉시 종료</a:t>
            </a:r>
          </a:p>
        </p:txBody>
      </p:sp>
      <p:sp>
        <p:nvSpPr>
          <p:cNvPr id="29" name="">
            <a:extLst xmlns:a="http://schemas.openxmlformats.org/drawingml/2006/main">
              <a:ext uri="{FF2B5EF4-FFF2-40B4-BE49-F238E27FC236}">
                <a16:creationId xmlns:a16="http://schemas.microsoft.com/office/drawing/2014/main" id="{665AFC24-EAD7-4F17-BF2B-E92DAA490DA0}"/>
              </a:ext>
            </a:extLst>
          </p:cNvPr>
          <p:cNvSpPr>
            <a:spLocks xmlns:a="http://schemas.openxmlformats.org/drawingml/2006/main" noGrp="1"/>
          </p:cNvSpPr>
          <p:nvPr/>
        </p:nvSpPr>
        <p:spPr>
          <a:xfrm xmlns:a="http://schemas.openxmlformats.org/drawingml/2006/main">
            <a:off x="2762250" y="49339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5B6472"/>
                </a:solidFill>
              </a:defRPr>
            </a:pPr>
            <a:r>
              <a:rPr sz="1350" b="0">
                <a:solidFill>
                  <a:srgbClr val="5B6472"/>
                </a:solidFill>
              </a:rPr>
              <a:t>8.8%</a:t>
            </a:r>
          </a:p>
        </p:txBody>
      </p:sp>
      <p:sp>
        <p:nvSpPr>
          <p:cNvPr id="30" name="">
            <a:extLst xmlns:a="http://schemas.openxmlformats.org/drawingml/2006/main">
              <a:ext uri="{FF2B5EF4-FFF2-40B4-BE49-F238E27FC236}">
                <a16:creationId xmlns:a16="http://schemas.microsoft.com/office/drawing/2014/main" id="{43AF474C-90F2-43B2-9465-2F8BDA973BF3}"/>
              </a:ext>
            </a:extLst>
          </p:cNvPr>
          <p:cNvSpPr>
            <a:spLocks xmlns:a="http://schemas.openxmlformats.org/drawingml/2006/main" noGrp="1"/>
          </p:cNvSpPr>
          <p:nvPr/>
        </p:nvSpPr>
        <p:spPr>
          <a:xfrm xmlns:a="http://schemas.openxmlformats.org/drawingml/2006/main">
            <a:off x="4953000" y="3219450"/>
            <a:ext cx="6191250" cy="19050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D22984F-6333-4ED3-B27A-072BB63343C4}"/>
              </a:ext>
            </a:extLst>
          </p:cNvPr>
          <p:cNvSpPr>
            <a:spLocks xmlns:a="http://schemas.openxmlformats.org/drawingml/2006/main" noGrp="1"/>
          </p:cNvSpPr>
          <p:nvPr/>
        </p:nvSpPr>
        <p:spPr>
          <a:xfrm xmlns:a="http://schemas.openxmlformats.org/drawingml/2006/main">
            <a:off x="5238750" y="3429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F80ED"/>
                </a:solidFill>
              </a:defRPr>
            </a:pPr>
            <a:r>
              <a:rPr sz="1650" b="1">
                <a:solidFill>
                  <a:srgbClr val="2F80ED"/>
                </a:solidFill>
              </a:rPr>
              <a:t>분모: 실제 검색 사용자 68명</a:t>
            </a:r>
          </a:p>
        </p:txBody>
      </p:sp>
      <p:sp>
        <p:nvSpPr>
          <p:cNvPr id="32" name="">
            <a:extLst xmlns:a="http://schemas.openxmlformats.org/drawingml/2006/main">
              <a:ext uri="{FF2B5EF4-FFF2-40B4-BE49-F238E27FC236}">
                <a16:creationId xmlns:a16="http://schemas.microsoft.com/office/drawing/2014/main" id="{7B7DF971-0E6D-45D0-9D3C-FCCDCBAC10DF}"/>
              </a:ext>
            </a:extLst>
          </p:cNvPr>
          <p:cNvSpPr>
            <a:spLocks xmlns:a="http://schemas.openxmlformats.org/drawingml/2006/main" noGrp="1"/>
          </p:cNvSpPr>
          <p:nvPr/>
        </p:nvSpPr>
        <p:spPr>
          <a:xfrm xmlns:a="http://schemas.openxmlformats.org/drawingml/2006/main">
            <a:off x="5238750" y="3952875"/>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직접 성공 12명 · 노출 미선택 18명</a:t>
            </a:r>
          </a:p>
        </p:txBody>
      </p:sp>
      <p:sp>
        <p:nvSpPr>
          <p:cNvPr id="33" name="">
            <a:extLst xmlns:a="http://schemas.openxmlformats.org/drawingml/2006/main">
              <a:ext uri="{FF2B5EF4-FFF2-40B4-BE49-F238E27FC236}">
                <a16:creationId xmlns:a16="http://schemas.microsoft.com/office/drawing/2014/main" id="{4E3407DA-EE75-4A5A-B1E9-076DE978482C}"/>
              </a:ext>
            </a:extLst>
          </p:cNvPr>
          <p:cNvSpPr>
            <a:spLocks xmlns:a="http://schemas.openxmlformats.org/drawingml/2006/main" noGrp="1"/>
          </p:cNvSpPr>
          <p:nvPr/>
        </p:nvSpPr>
        <p:spPr>
          <a:xfrm xmlns:a="http://schemas.openxmlformats.org/drawingml/2006/main">
            <a:off x="5238750" y="4410075"/>
            <a:ext cx="542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재검색 회복 26명 · 지속 실패 6명 · 즉시 종료 6명</a:t>
            </a:r>
          </a:p>
        </p:txBody>
      </p:sp>
    </p:spTree>
    <p:extLst>
      <p:ext uri="{BB962C8B-B14F-4D97-AF65-F5344CB8AC3E}">
        <p14:creationId xmlns:p14="http://schemas.microsoft.com/office/powerpoint/2010/main" val="11010872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6E3A8B5-1CFC-42E8-B22D-B547C554C8C6}"/>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SEGMENT C</a:t>
            </a:r>
          </a:p>
        </p:txBody>
      </p:sp>
      <p:sp>
        <p:nvSpPr>
          <p:cNvPr id="2" name="">
            <a:extLst xmlns:a="http://schemas.openxmlformats.org/drawingml/2006/main">
              <a:ext uri="{FF2B5EF4-FFF2-40B4-BE49-F238E27FC236}">
                <a16:creationId xmlns:a16="http://schemas.microsoft.com/office/drawing/2014/main" id="{C0B46AA7-6CF3-4F00-817A-A083A886F872}"/>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재검색 전략은 첫 실패와 다음 검색을 비교할 수 있는 27명만 분류한다</a:t>
            </a:r>
          </a:p>
        </p:txBody>
      </p:sp>
      <p:sp>
        <p:nvSpPr>
          <p:cNvPr id="3" name="">
            <a:extLst xmlns:a="http://schemas.openxmlformats.org/drawingml/2006/main">
              <a:ext uri="{FF2B5EF4-FFF2-40B4-BE49-F238E27FC236}">
                <a16:creationId xmlns:a16="http://schemas.microsoft.com/office/drawing/2014/main" id="{96A35333-77C0-4F6B-B799-4A0384E89DE2}"/>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357B9A1E-D428-4E60-9274-30EA85E5C53C}"/>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08</a:t>
            </a:r>
          </a:p>
        </p:txBody>
      </p:sp>
      <p:sp>
        <p:nvSpPr>
          <p:cNvPr id="5" name="">
            <a:extLst xmlns:a="http://schemas.openxmlformats.org/drawingml/2006/main">
              <a:ext uri="{FF2B5EF4-FFF2-40B4-BE49-F238E27FC236}">
                <a16:creationId xmlns:a16="http://schemas.microsoft.com/office/drawing/2014/main" id="{4BAC013D-1DE9-46F9-B642-CF221DE10732}"/>
              </a:ext>
            </a:extLst>
          </p:cNvPr>
          <p:cNvSpPr>
            <a:spLocks xmlns:a="http://schemas.openxmlformats.org/drawingml/2006/main" noGrp="1"/>
          </p:cNvSpPr>
          <p:nvPr/>
        </p:nvSpPr>
        <p:spPr>
          <a:xfrm xmlns:a="http://schemas.openxmlformats.org/drawingml/2006/main">
            <a:off x="781050" y="18288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재검색 유형</a:t>
            </a:r>
          </a:p>
        </p:txBody>
      </p:sp>
      <p:sp>
        <p:nvSpPr>
          <p:cNvPr id="6" name="">
            <a:extLst xmlns:a="http://schemas.openxmlformats.org/drawingml/2006/main">
              <a:ext uri="{FF2B5EF4-FFF2-40B4-BE49-F238E27FC236}">
                <a16:creationId xmlns:a16="http://schemas.microsoft.com/office/drawing/2014/main" id="{6BB6D700-C5E5-424F-9177-0BB2F6D42071}"/>
              </a:ext>
            </a:extLst>
          </p:cNvPr>
          <p:cNvSpPr>
            <a:spLocks xmlns:a="http://schemas.openxmlformats.org/drawingml/2006/main" noGrp="1"/>
          </p:cNvSpPr>
          <p:nvPr/>
        </p:nvSpPr>
        <p:spPr>
          <a:xfrm xmlns:a="http://schemas.openxmlformats.org/drawingml/2006/main">
            <a:off x="3905250" y="18288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사용자</a:t>
            </a:r>
          </a:p>
        </p:txBody>
      </p:sp>
      <p:sp>
        <p:nvSpPr>
          <p:cNvPr id="7" name="">
            <a:extLst xmlns:a="http://schemas.openxmlformats.org/drawingml/2006/main">
              <a:ext uri="{FF2B5EF4-FFF2-40B4-BE49-F238E27FC236}">
                <a16:creationId xmlns:a16="http://schemas.microsoft.com/office/drawing/2014/main" id="{A2609C6E-137C-4E90-B7AF-ACFC0EE87BC3}"/>
              </a:ext>
            </a:extLst>
          </p:cNvPr>
          <p:cNvSpPr>
            <a:spLocks xmlns:a="http://schemas.openxmlformats.org/drawingml/2006/main" noGrp="1"/>
          </p:cNvSpPr>
          <p:nvPr/>
        </p:nvSpPr>
        <p:spPr>
          <a:xfrm xmlns:a="http://schemas.openxmlformats.org/drawingml/2006/main">
            <a:off x="6096000" y="18288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즉시 성공률</a:t>
            </a:r>
          </a:p>
        </p:txBody>
      </p:sp>
      <p:sp>
        <p:nvSpPr>
          <p:cNvPr id="8" name="">
            <a:extLst xmlns:a="http://schemas.openxmlformats.org/drawingml/2006/main">
              <a:ext uri="{FF2B5EF4-FFF2-40B4-BE49-F238E27FC236}">
                <a16:creationId xmlns:a16="http://schemas.microsoft.com/office/drawing/2014/main" id="{5A75CDF7-80F4-42CC-A7CF-18722426473C}"/>
              </a:ext>
            </a:extLst>
          </p:cNvPr>
          <p:cNvSpPr>
            <a:spLocks xmlns:a="http://schemas.openxmlformats.org/drawingml/2006/main" noGrp="1"/>
          </p:cNvSpPr>
          <p:nvPr/>
        </p:nvSpPr>
        <p:spPr>
          <a:xfrm xmlns:a="http://schemas.openxmlformats.org/drawingml/2006/main">
            <a:off x="8858250" y="18288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B6472"/>
                </a:solidFill>
              </a:defRPr>
            </a:pPr>
            <a:r>
              <a:rPr sz="1350" b="1">
                <a:solidFill>
                  <a:srgbClr val="5B6472"/>
                </a:solidFill>
              </a:rPr>
              <a:t>이후 최종 성공률</a:t>
            </a:r>
          </a:p>
        </p:txBody>
      </p:sp>
      <p:sp>
        <p:nvSpPr>
          <p:cNvPr id="9" name="">
            <a:extLst xmlns:a="http://schemas.openxmlformats.org/drawingml/2006/main">
              <a:ext uri="{FF2B5EF4-FFF2-40B4-BE49-F238E27FC236}">
                <a16:creationId xmlns:a16="http://schemas.microsoft.com/office/drawing/2014/main" id="{B89E0416-CAAF-4BA5-B042-37F7B0894203}"/>
              </a:ext>
            </a:extLst>
          </p:cNvPr>
          <p:cNvSpPr>
            <a:spLocks xmlns:a="http://schemas.openxmlformats.org/drawingml/2006/main" noGrp="1"/>
          </p:cNvSpPr>
          <p:nvPr/>
        </p:nvSpPr>
        <p:spPr>
          <a:xfrm xmlns:a="http://schemas.openxmlformats.org/drawingml/2006/main">
            <a:off x="685800" y="2200275"/>
            <a:ext cx="10820400" cy="6477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93DF14-B692-42E9-A584-486AA84B440F}"/>
              </a:ext>
            </a:extLst>
          </p:cNvPr>
          <p:cNvSpPr>
            <a:spLocks xmlns:a="http://schemas.openxmlformats.org/drawingml/2006/main" noGrp="1"/>
          </p:cNvSpPr>
          <p:nvPr/>
        </p:nvSpPr>
        <p:spPr>
          <a:xfrm xmlns:a="http://schemas.openxmlformats.org/drawingml/2006/main">
            <a:off x="800100" y="22669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동일 반복형</a:t>
            </a:r>
          </a:p>
        </p:txBody>
      </p:sp>
      <p:sp>
        <p:nvSpPr>
          <p:cNvPr id="11" name="">
            <a:extLst xmlns:a="http://schemas.openxmlformats.org/drawingml/2006/main">
              <a:ext uri="{FF2B5EF4-FFF2-40B4-BE49-F238E27FC236}">
                <a16:creationId xmlns:a16="http://schemas.microsoft.com/office/drawing/2014/main" id="{F3D58235-D0BE-4F24-B5DA-093B255A45BE}"/>
              </a:ext>
            </a:extLst>
          </p:cNvPr>
          <p:cNvSpPr>
            <a:spLocks xmlns:a="http://schemas.openxmlformats.org/drawingml/2006/main" noGrp="1"/>
          </p:cNvSpPr>
          <p:nvPr/>
        </p:nvSpPr>
        <p:spPr>
          <a:xfrm xmlns:a="http://schemas.openxmlformats.org/drawingml/2006/main">
            <a:off x="3905250" y="22669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11827"/>
                </a:solidFill>
              </a:defRPr>
            </a:pPr>
            <a:r>
              <a:rPr sz="1575" b="0">
                <a:solidFill>
                  <a:srgbClr val="111827"/>
                </a:solidFill>
              </a:rPr>
              <a:t>12명</a:t>
            </a:r>
          </a:p>
        </p:txBody>
      </p:sp>
      <p:sp>
        <p:nvSpPr>
          <p:cNvPr id="12" name="">
            <a:extLst xmlns:a="http://schemas.openxmlformats.org/drawingml/2006/main">
              <a:ext uri="{FF2B5EF4-FFF2-40B4-BE49-F238E27FC236}">
                <a16:creationId xmlns:a16="http://schemas.microsoft.com/office/drawing/2014/main" id="{33509A31-9678-463D-950A-EE1BB8A74501}"/>
              </a:ext>
            </a:extLst>
          </p:cNvPr>
          <p:cNvSpPr>
            <a:spLocks xmlns:a="http://schemas.openxmlformats.org/drawingml/2006/main" noGrp="1"/>
          </p:cNvSpPr>
          <p:nvPr/>
        </p:nvSpPr>
        <p:spPr>
          <a:xfrm xmlns:a="http://schemas.openxmlformats.org/drawingml/2006/main">
            <a:off x="6096000" y="226695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D64545"/>
                </a:solidFill>
              </a:defRPr>
            </a:pPr>
            <a:r>
              <a:rPr sz="1575" b="1">
                <a:solidFill>
                  <a:srgbClr val="D64545"/>
                </a:solidFill>
              </a:rPr>
              <a:t>0.0%</a:t>
            </a:r>
          </a:p>
        </p:txBody>
      </p:sp>
      <p:sp>
        <p:nvSpPr>
          <p:cNvPr id="13" name="">
            <a:extLst xmlns:a="http://schemas.openxmlformats.org/drawingml/2006/main">
              <a:ext uri="{FF2B5EF4-FFF2-40B4-BE49-F238E27FC236}">
                <a16:creationId xmlns:a16="http://schemas.microsoft.com/office/drawing/2014/main" id="{CEBD16F1-D4CA-4876-8046-B70A9C2421A0}"/>
              </a:ext>
            </a:extLst>
          </p:cNvPr>
          <p:cNvSpPr>
            <a:spLocks xmlns:a="http://schemas.openxmlformats.org/drawingml/2006/main" noGrp="1"/>
          </p:cNvSpPr>
          <p:nvPr/>
        </p:nvSpPr>
        <p:spPr>
          <a:xfrm xmlns:a="http://schemas.openxmlformats.org/drawingml/2006/main">
            <a:off x="8858250" y="226695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75.0%</a:t>
            </a:r>
          </a:p>
        </p:txBody>
      </p:sp>
      <p:sp>
        <p:nvSpPr>
          <p:cNvPr id="14" name="">
            <a:extLst xmlns:a="http://schemas.openxmlformats.org/drawingml/2006/main">
              <a:ext uri="{FF2B5EF4-FFF2-40B4-BE49-F238E27FC236}">
                <a16:creationId xmlns:a16="http://schemas.microsoft.com/office/drawing/2014/main" id="{3DDF2931-ECD8-436A-8BD5-2DC4CC2D1D76}"/>
              </a:ext>
            </a:extLst>
          </p:cNvPr>
          <p:cNvSpPr>
            <a:spLocks xmlns:a="http://schemas.openxmlformats.org/drawingml/2006/main" noGrp="1"/>
          </p:cNvSpPr>
          <p:nvPr/>
        </p:nvSpPr>
        <p:spPr>
          <a:xfrm xmlns:a="http://schemas.openxmlformats.org/drawingml/2006/main">
            <a:off x="800100" y="30480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필터 완화형</a:t>
            </a:r>
          </a:p>
        </p:txBody>
      </p:sp>
      <p:sp>
        <p:nvSpPr>
          <p:cNvPr id="15" name="">
            <a:extLst xmlns:a="http://schemas.openxmlformats.org/drawingml/2006/main">
              <a:ext uri="{FF2B5EF4-FFF2-40B4-BE49-F238E27FC236}">
                <a16:creationId xmlns:a16="http://schemas.microsoft.com/office/drawing/2014/main" id="{2E7E02A5-32AE-40B5-AB3A-CE62C0B0A2E2}"/>
              </a:ext>
            </a:extLst>
          </p:cNvPr>
          <p:cNvSpPr>
            <a:spLocks xmlns:a="http://schemas.openxmlformats.org/drawingml/2006/main" noGrp="1"/>
          </p:cNvSpPr>
          <p:nvPr/>
        </p:nvSpPr>
        <p:spPr>
          <a:xfrm xmlns:a="http://schemas.openxmlformats.org/drawingml/2006/main">
            <a:off x="3905250" y="30480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11827"/>
                </a:solidFill>
              </a:defRPr>
            </a:pPr>
            <a:r>
              <a:rPr sz="1575" b="0">
                <a:solidFill>
                  <a:srgbClr val="111827"/>
                </a:solidFill>
              </a:rPr>
              <a:t>8명</a:t>
            </a:r>
          </a:p>
        </p:txBody>
      </p:sp>
      <p:sp>
        <p:nvSpPr>
          <p:cNvPr id="16" name="">
            <a:extLst xmlns:a="http://schemas.openxmlformats.org/drawingml/2006/main">
              <a:ext uri="{FF2B5EF4-FFF2-40B4-BE49-F238E27FC236}">
                <a16:creationId xmlns:a16="http://schemas.microsoft.com/office/drawing/2014/main" id="{ED245F97-23B2-4F2E-BCC7-650895FE8B10}"/>
              </a:ext>
            </a:extLst>
          </p:cNvPr>
          <p:cNvSpPr>
            <a:spLocks xmlns:a="http://schemas.openxmlformats.org/drawingml/2006/main" noGrp="1"/>
          </p:cNvSpPr>
          <p:nvPr/>
        </p:nvSpPr>
        <p:spPr>
          <a:xfrm xmlns:a="http://schemas.openxmlformats.org/drawingml/2006/main">
            <a:off x="6096000" y="30480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2F80ED"/>
                </a:solidFill>
              </a:defRPr>
            </a:pPr>
            <a:r>
              <a:rPr sz="1575" b="1">
                <a:solidFill>
                  <a:srgbClr val="2F80ED"/>
                </a:solidFill>
              </a:rPr>
              <a:t>37.5%</a:t>
            </a:r>
          </a:p>
        </p:txBody>
      </p:sp>
      <p:sp>
        <p:nvSpPr>
          <p:cNvPr id="17" name="">
            <a:extLst xmlns:a="http://schemas.openxmlformats.org/drawingml/2006/main">
              <a:ext uri="{FF2B5EF4-FFF2-40B4-BE49-F238E27FC236}">
                <a16:creationId xmlns:a16="http://schemas.microsoft.com/office/drawing/2014/main" id="{233F5330-4FB4-43AC-93C8-2D1133BF2357}"/>
              </a:ext>
            </a:extLst>
          </p:cNvPr>
          <p:cNvSpPr>
            <a:spLocks xmlns:a="http://schemas.openxmlformats.org/drawingml/2006/main" noGrp="1"/>
          </p:cNvSpPr>
          <p:nvPr/>
        </p:nvSpPr>
        <p:spPr>
          <a:xfrm xmlns:a="http://schemas.openxmlformats.org/drawingml/2006/main">
            <a:off x="8858250" y="30480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68A68"/>
                </a:solidFill>
              </a:defRPr>
            </a:pPr>
            <a:r>
              <a:rPr sz="1575" b="1">
                <a:solidFill>
                  <a:srgbClr val="168A68"/>
                </a:solidFill>
              </a:rPr>
              <a:t>100.0%</a:t>
            </a:r>
          </a:p>
        </p:txBody>
      </p:sp>
      <p:sp>
        <p:nvSpPr>
          <p:cNvPr id="18" name="">
            <a:extLst xmlns:a="http://schemas.openxmlformats.org/drawingml/2006/main">
              <a:ext uri="{FF2B5EF4-FFF2-40B4-BE49-F238E27FC236}">
                <a16:creationId xmlns:a16="http://schemas.microsoft.com/office/drawing/2014/main" id="{DE39AAF0-1A5B-4C9E-A333-E1124310561B}"/>
              </a:ext>
            </a:extLst>
          </p:cNvPr>
          <p:cNvSpPr>
            <a:spLocks xmlns:a="http://schemas.openxmlformats.org/drawingml/2006/main" noGrp="1"/>
          </p:cNvSpPr>
          <p:nvPr/>
        </p:nvSpPr>
        <p:spPr>
          <a:xfrm xmlns:a="http://schemas.openxmlformats.org/drawingml/2006/main">
            <a:off x="685800" y="3762375"/>
            <a:ext cx="10820400" cy="64770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04806FE-B93B-4282-897D-5BECB4E549C9}"/>
              </a:ext>
            </a:extLst>
          </p:cNvPr>
          <p:cNvSpPr>
            <a:spLocks xmlns:a="http://schemas.openxmlformats.org/drawingml/2006/main" noGrp="1"/>
          </p:cNvSpPr>
          <p:nvPr/>
        </p:nvSpPr>
        <p:spPr>
          <a:xfrm xmlns:a="http://schemas.openxmlformats.org/drawingml/2006/main">
            <a:off x="800100" y="38290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필터 강화형</a:t>
            </a:r>
          </a:p>
        </p:txBody>
      </p:sp>
      <p:sp>
        <p:nvSpPr>
          <p:cNvPr id="20" name="">
            <a:extLst xmlns:a="http://schemas.openxmlformats.org/drawingml/2006/main">
              <a:ext uri="{FF2B5EF4-FFF2-40B4-BE49-F238E27FC236}">
                <a16:creationId xmlns:a16="http://schemas.microsoft.com/office/drawing/2014/main" id="{743AE3DB-969A-48FF-884E-5E2724B12157}"/>
              </a:ext>
            </a:extLst>
          </p:cNvPr>
          <p:cNvSpPr>
            <a:spLocks xmlns:a="http://schemas.openxmlformats.org/drawingml/2006/main" noGrp="1"/>
          </p:cNvSpPr>
          <p:nvPr/>
        </p:nvSpPr>
        <p:spPr>
          <a:xfrm xmlns:a="http://schemas.openxmlformats.org/drawingml/2006/main">
            <a:off x="3905250" y="3829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11827"/>
                </a:solidFill>
              </a:defRPr>
            </a:pPr>
            <a:r>
              <a:rPr sz="1575" b="0">
                <a:solidFill>
                  <a:srgbClr val="111827"/>
                </a:solidFill>
              </a:rPr>
              <a:t>4명</a:t>
            </a:r>
          </a:p>
        </p:txBody>
      </p:sp>
      <p:sp>
        <p:nvSpPr>
          <p:cNvPr id="21" name="">
            <a:extLst xmlns:a="http://schemas.openxmlformats.org/drawingml/2006/main">
              <a:ext uri="{FF2B5EF4-FFF2-40B4-BE49-F238E27FC236}">
                <a16:creationId xmlns:a16="http://schemas.microsoft.com/office/drawing/2014/main" id="{A4FF1A4B-56FA-42B1-AFE7-E2ED4ABCB59F}"/>
              </a:ext>
            </a:extLst>
          </p:cNvPr>
          <p:cNvSpPr>
            <a:spLocks xmlns:a="http://schemas.openxmlformats.org/drawingml/2006/main" noGrp="1"/>
          </p:cNvSpPr>
          <p:nvPr/>
        </p:nvSpPr>
        <p:spPr>
          <a:xfrm xmlns:a="http://schemas.openxmlformats.org/drawingml/2006/main">
            <a:off x="6096000" y="382905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D64545"/>
                </a:solidFill>
              </a:defRPr>
            </a:pPr>
            <a:r>
              <a:rPr sz="1575" b="1">
                <a:solidFill>
                  <a:srgbClr val="D64545"/>
                </a:solidFill>
              </a:rPr>
              <a:t>0.0%</a:t>
            </a:r>
          </a:p>
        </p:txBody>
      </p:sp>
      <p:sp>
        <p:nvSpPr>
          <p:cNvPr id="22" name="">
            <a:extLst xmlns:a="http://schemas.openxmlformats.org/drawingml/2006/main">
              <a:ext uri="{FF2B5EF4-FFF2-40B4-BE49-F238E27FC236}">
                <a16:creationId xmlns:a16="http://schemas.microsoft.com/office/drawing/2014/main" id="{A7CC645E-60D1-446F-A156-8081F84A6AC0}"/>
              </a:ext>
            </a:extLst>
          </p:cNvPr>
          <p:cNvSpPr>
            <a:spLocks xmlns:a="http://schemas.openxmlformats.org/drawingml/2006/main" noGrp="1"/>
          </p:cNvSpPr>
          <p:nvPr/>
        </p:nvSpPr>
        <p:spPr>
          <a:xfrm xmlns:a="http://schemas.openxmlformats.org/drawingml/2006/main">
            <a:off x="8858250" y="382905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50.0%</a:t>
            </a:r>
          </a:p>
        </p:txBody>
      </p:sp>
      <p:sp>
        <p:nvSpPr>
          <p:cNvPr id="23" name="">
            <a:extLst xmlns:a="http://schemas.openxmlformats.org/drawingml/2006/main">
              <a:ext uri="{FF2B5EF4-FFF2-40B4-BE49-F238E27FC236}">
                <a16:creationId xmlns:a16="http://schemas.microsoft.com/office/drawing/2014/main" id="{401064AA-6121-4924-9BAD-866F611C8B3F}"/>
              </a:ext>
            </a:extLst>
          </p:cNvPr>
          <p:cNvSpPr>
            <a:spLocks xmlns:a="http://schemas.openxmlformats.org/drawingml/2006/main" noGrp="1"/>
          </p:cNvSpPr>
          <p:nvPr/>
        </p:nvSpPr>
        <p:spPr>
          <a:xfrm xmlns:a="http://schemas.openxmlformats.org/drawingml/2006/main">
            <a:off x="800100" y="46101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복합 수정형</a:t>
            </a:r>
          </a:p>
        </p:txBody>
      </p:sp>
      <p:sp>
        <p:nvSpPr>
          <p:cNvPr id="24" name="">
            <a:extLst xmlns:a="http://schemas.openxmlformats.org/drawingml/2006/main">
              <a:ext uri="{FF2B5EF4-FFF2-40B4-BE49-F238E27FC236}">
                <a16:creationId xmlns:a16="http://schemas.microsoft.com/office/drawing/2014/main" id="{9A03D57E-FD26-419C-9B3A-AF16CBB5E34D}"/>
              </a:ext>
            </a:extLst>
          </p:cNvPr>
          <p:cNvSpPr>
            <a:spLocks xmlns:a="http://schemas.openxmlformats.org/drawingml/2006/main" noGrp="1"/>
          </p:cNvSpPr>
          <p:nvPr/>
        </p:nvSpPr>
        <p:spPr>
          <a:xfrm xmlns:a="http://schemas.openxmlformats.org/drawingml/2006/main">
            <a:off x="3905250" y="46101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11827"/>
                </a:solidFill>
              </a:defRPr>
            </a:pPr>
            <a:r>
              <a:rPr sz="1575" b="0">
                <a:solidFill>
                  <a:srgbClr val="111827"/>
                </a:solidFill>
              </a:rPr>
              <a:t>3명</a:t>
            </a:r>
          </a:p>
        </p:txBody>
      </p:sp>
      <p:sp>
        <p:nvSpPr>
          <p:cNvPr id="25" name="">
            <a:extLst xmlns:a="http://schemas.openxmlformats.org/drawingml/2006/main">
              <a:ext uri="{FF2B5EF4-FFF2-40B4-BE49-F238E27FC236}">
                <a16:creationId xmlns:a16="http://schemas.microsoft.com/office/drawing/2014/main" id="{088A2A59-BA51-4F7D-AC3C-C821EF65F068}"/>
              </a:ext>
            </a:extLst>
          </p:cNvPr>
          <p:cNvSpPr>
            <a:spLocks xmlns:a="http://schemas.openxmlformats.org/drawingml/2006/main" noGrp="1"/>
          </p:cNvSpPr>
          <p:nvPr/>
        </p:nvSpPr>
        <p:spPr>
          <a:xfrm xmlns:a="http://schemas.openxmlformats.org/drawingml/2006/main">
            <a:off x="6096000" y="461010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2F80ED"/>
                </a:solidFill>
              </a:defRPr>
            </a:pPr>
            <a:r>
              <a:rPr sz="1575" b="1">
                <a:solidFill>
                  <a:srgbClr val="2F80ED"/>
                </a:solidFill>
              </a:rPr>
              <a:t>33.3%</a:t>
            </a:r>
          </a:p>
        </p:txBody>
      </p:sp>
      <p:sp>
        <p:nvSpPr>
          <p:cNvPr id="26" name="">
            <a:extLst xmlns:a="http://schemas.openxmlformats.org/drawingml/2006/main">
              <a:ext uri="{FF2B5EF4-FFF2-40B4-BE49-F238E27FC236}">
                <a16:creationId xmlns:a16="http://schemas.microsoft.com/office/drawing/2014/main" id="{78D4BE78-0365-4E6F-AFAC-3EB7BE2D0E0D}"/>
              </a:ext>
            </a:extLst>
          </p:cNvPr>
          <p:cNvSpPr>
            <a:spLocks xmlns:a="http://schemas.openxmlformats.org/drawingml/2006/main" noGrp="1"/>
          </p:cNvSpPr>
          <p:nvPr/>
        </p:nvSpPr>
        <p:spPr>
          <a:xfrm xmlns:a="http://schemas.openxmlformats.org/drawingml/2006/main">
            <a:off x="8858250" y="46101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827"/>
                </a:solidFill>
              </a:defRPr>
            </a:pPr>
            <a:r>
              <a:rPr sz="1575" b="1">
                <a:solidFill>
                  <a:srgbClr val="111827"/>
                </a:solidFill>
              </a:rPr>
              <a:t>66.7%</a:t>
            </a:r>
          </a:p>
        </p:txBody>
      </p:sp>
      <p:sp>
        <p:nvSpPr>
          <p:cNvPr id="27" name="">
            <a:extLst xmlns:a="http://schemas.openxmlformats.org/drawingml/2006/main">
              <a:ext uri="{FF2B5EF4-FFF2-40B4-BE49-F238E27FC236}">
                <a16:creationId xmlns:a16="http://schemas.microsoft.com/office/drawing/2014/main" id="{D23DBF6E-7375-4F75-99D8-B78AE1D76287}"/>
              </a:ext>
            </a:extLst>
          </p:cNvPr>
          <p:cNvSpPr>
            <a:spLocks xmlns:a="http://schemas.openxmlformats.org/drawingml/2006/main" noGrp="1"/>
          </p:cNvSpPr>
          <p:nvPr/>
        </p:nvSpPr>
        <p:spPr>
          <a:xfrm xmlns:a="http://schemas.openxmlformats.org/drawingml/2006/main">
            <a:off x="685800" y="5572125"/>
            <a:ext cx="10820400" cy="619125"/>
          </a:xfrm>
          <a:prstGeom xmlns:a="http://schemas.openxmlformats.org/drawingml/2006/main" prst="rect">
            <a:avLst/>
          </a:prstGeom>
          <a:solidFill xmlns:a="http://schemas.openxmlformats.org/drawingml/2006/main">
            <a:srgbClr val="FFF6E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6A2DCA8-E751-4549-B73B-1189A9CCE473}"/>
              </a:ext>
            </a:extLst>
          </p:cNvPr>
          <p:cNvSpPr>
            <a:spLocks xmlns:a="http://schemas.openxmlformats.org/drawingml/2006/main" noGrp="1"/>
          </p:cNvSpPr>
          <p:nvPr/>
        </p:nvSpPr>
        <p:spPr>
          <a:xfrm xmlns:a="http://schemas.openxmlformats.org/drawingml/2006/main">
            <a:off x="914400" y="5724525"/>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E49A2D"/>
                </a:solidFill>
              </a:defRPr>
            </a:pPr>
            <a:r>
              <a:rPr sz="1350" b="1">
                <a:solidFill>
                  <a:srgbClr val="E49A2D"/>
                </a:solidFill>
              </a:rPr>
              <a:t>분모 주의</a:t>
            </a:r>
          </a:p>
        </p:txBody>
      </p:sp>
      <p:sp>
        <p:nvSpPr>
          <p:cNvPr id="29" name="">
            <a:extLst xmlns:a="http://schemas.openxmlformats.org/drawingml/2006/main">
              <a:ext uri="{FF2B5EF4-FFF2-40B4-BE49-F238E27FC236}">
                <a16:creationId xmlns:a16="http://schemas.microsoft.com/office/drawing/2014/main" id="{6CE71A60-D62F-4307-A353-A16ECFED52BE}"/>
              </a:ext>
            </a:extLst>
          </p:cNvPr>
          <p:cNvSpPr>
            <a:spLocks xmlns:a="http://schemas.openxmlformats.org/drawingml/2006/main" noGrp="1"/>
          </p:cNvSpPr>
          <p:nvPr/>
        </p:nvSpPr>
        <p:spPr>
          <a:xfrm xmlns:a="http://schemas.openxmlformats.org/drawingml/2006/main">
            <a:off x="2286000" y="565785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defRPr>
            </a:pPr>
            <a:r>
              <a:rPr sz="1425" b="1">
                <a:solidFill>
                  <a:srgbClr val="111827"/>
                </a:solidFill>
              </a:rPr>
              <a:t>27명은 전체 사용자 비율이 아니라 “첫 실패 직후 조건 변화”를 비교할 수 있는 부분표본이다.</a:t>
            </a:r>
          </a:p>
        </p:txBody>
      </p:sp>
    </p:spTree>
    <p:extLst>
      <p:ext uri="{BB962C8B-B14F-4D97-AF65-F5344CB8AC3E}">
        <p14:creationId xmlns:p14="http://schemas.microsoft.com/office/powerpoint/2010/main" val="241558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972BDFD-CB1D-443D-8A88-6458AD4E3B55}"/>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AUGMENTATION</a:t>
            </a:r>
          </a:p>
        </p:txBody>
      </p:sp>
      <p:sp>
        <p:nvSpPr>
          <p:cNvPr id="2" name="">
            <a:extLst xmlns:a="http://schemas.openxmlformats.org/drawingml/2006/main">
              <a:ext uri="{FF2B5EF4-FFF2-40B4-BE49-F238E27FC236}">
                <a16:creationId xmlns:a16="http://schemas.microsoft.com/office/drawing/2014/main" id="{FB41ABEF-E37E-4590-BB48-B7EB9CBA25B8}"/>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6개 테이블을 사용자–검색–행동 순서로 함께 증강한다</a:t>
            </a:r>
          </a:p>
        </p:txBody>
      </p:sp>
      <p:sp>
        <p:nvSpPr>
          <p:cNvPr id="3" name="">
            <a:extLst xmlns:a="http://schemas.openxmlformats.org/drawingml/2006/main">
              <a:ext uri="{FF2B5EF4-FFF2-40B4-BE49-F238E27FC236}">
                <a16:creationId xmlns:a16="http://schemas.microsoft.com/office/drawing/2014/main" id="{87DA9028-2265-431B-834D-D941B065BBFC}"/>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3F5F5619-0060-41A8-A6B7-15E8D34175E0}"/>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09</a:t>
            </a:r>
          </a:p>
        </p:txBody>
      </p:sp>
      <p:sp>
        <p:nvSpPr>
          <p:cNvPr id="5" name="">
            <a:extLst xmlns:a="http://schemas.openxmlformats.org/drawingml/2006/main">
              <a:ext uri="{FF2B5EF4-FFF2-40B4-BE49-F238E27FC236}">
                <a16:creationId xmlns:a16="http://schemas.microsoft.com/office/drawing/2014/main" id="{97D90AA6-8346-467F-B5B5-7CB7AD139443}"/>
              </a:ext>
            </a:extLst>
          </p:cNvPr>
          <p:cNvSpPr>
            <a:spLocks xmlns:a="http://schemas.openxmlformats.org/drawingml/2006/main" noGrp="1"/>
          </p:cNvSpPr>
          <p:nvPr/>
        </p:nvSpPr>
        <p:spPr>
          <a:xfrm xmlns:a="http://schemas.openxmlformats.org/drawingml/2006/main">
            <a:off x="742950" y="17621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5B6472"/>
                </a:solidFill>
              </a:defRPr>
            </a:pPr>
            <a:r>
              <a:rPr sz="1275" b="1">
                <a:solidFill>
                  <a:srgbClr val="5B6472"/>
                </a:solidFill>
              </a:rPr>
              <a:t>테이블</a:t>
            </a:r>
          </a:p>
        </p:txBody>
      </p:sp>
      <p:sp>
        <p:nvSpPr>
          <p:cNvPr id="6" name="">
            <a:extLst xmlns:a="http://schemas.openxmlformats.org/drawingml/2006/main">
              <a:ext uri="{FF2B5EF4-FFF2-40B4-BE49-F238E27FC236}">
                <a16:creationId xmlns:a16="http://schemas.microsoft.com/office/drawing/2014/main" id="{EBAEFA3E-5780-4B94-BC3B-853EF3F83A7C}"/>
              </a:ext>
            </a:extLst>
          </p:cNvPr>
          <p:cNvSpPr>
            <a:spLocks xmlns:a="http://schemas.openxmlformats.org/drawingml/2006/main" noGrp="1"/>
          </p:cNvSpPr>
          <p:nvPr/>
        </p:nvSpPr>
        <p:spPr>
          <a:xfrm xmlns:a="http://schemas.openxmlformats.org/drawingml/2006/main">
            <a:off x="2857500" y="176212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5B6472"/>
                </a:solidFill>
              </a:defRPr>
            </a:pPr>
            <a:r>
              <a:rPr sz="1275" b="1">
                <a:solidFill>
                  <a:srgbClr val="5B6472"/>
                </a:solidFill>
              </a:rPr>
              <a:t>키 연결</a:t>
            </a:r>
          </a:p>
        </p:txBody>
      </p:sp>
      <p:sp>
        <p:nvSpPr>
          <p:cNvPr id="7" name="">
            <a:extLst xmlns:a="http://schemas.openxmlformats.org/drawingml/2006/main">
              <a:ext uri="{FF2B5EF4-FFF2-40B4-BE49-F238E27FC236}">
                <a16:creationId xmlns:a16="http://schemas.microsoft.com/office/drawing/2014/main" id="{BB0590B3-FAD1-412D-88A7-FC3DA71E07A5}"/>
              </a:ext>
            </a:extLst>
          </p:cNvPr>
          <p:cNvSpPr>
            <a:spLocks xmlns:a="http://schemas.openxmlformats.org/drawingml/2006/main" noGrp="1"/>
          </p:cNvSpPr>
          <p:nvPr/>
        </p:nvSpPr>
        <p:spPr>
          <a:xfrm xmlns:a="http://schemas.openxmlformats.org/drawingml/2006/main">
            <a:off x="6381750" y="1762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5B6472"/>
                </a:solidFill>
              </a:defRPr>
            </a:pPr>
            <a:r>
              <a:rPr sz="1275" b="1">
                <a:solidFill>
                  <a:srgbClr val="5B6472"/>
                </a:solidFill>
              </a:rPr>
              <a:t>주요 증강 필드·방식</a:t>
            </a:r>
          </a:p>
        </p:txBody>
      </p:sp>
      <p:sp>
        <p:nvSpPr>
          <p:cNvPr id="8" name="">
            <a:extLst xmlns:a="http://schemas.openxmlformats.org/drawingml/2006/main">
              <a:ext uri="{FF2B5EF4-FFF2-40B4-BE49-F238E27FC236}">
                <a16:creationId xmlns:a16="http://schemas.microsoft.com/office/drawing/2014/main" id="{C65AE6A2-E988-47E6-A23B-B4631A62E7B7}"/>
              </a:ext>
            </a:extLst>
          </p:cNvPr>
          <p:cNvSpPr>
            <a:spLocks xmlns:a="http://schemas.openxmlformats.org/drawingml/2006/main" noGrp="1"/>
          </p:cNvSpPr>
          <p:nvPr/>
        </p:nvSpPr>
        <p:spPr>
          <a:xfrm xmlns:a="http://schemas.openxmlformats.org/drawingml/2006/main">
            <a:off x="685800" y="2124075"/>
            <a:ext cx="10820400" cy="571500"/>
          </a:xfrm>
          <a:prstGeom xmlns:a="http://schemas.openxmlformats.org/drawingml/2006/main" prst="rect">
            <a:avLst/>
          </a:prstGeom>
          <a:solidFill xmlns:a="http://schemas.openxmlformats.org/drawingml/2006/main">
            <a:srgbClr val="F7F8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8BC0189-D504-4195-B802-F9541BCCE763}"/>
              </a:ext>
            </a:extLst>
          </p:cNvPr>
          <p:cNvSpPr>
            <a:spLocks xmlns:a="http://schemas.openxmlformats.org/drawingml/2006/main" noGrp="1"/>
          </p:cNvSpPr>
          <p:nvPr/>
        </p:nvSpPr>
        <p:spPr>
          <a:xfrm xmlns:a="http://schemas.openxmlformats.org/drawingml/2006/main">
            <a:off x="781050" y="21907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USER</a:t>
            </a:r>
          </a:p>
        </p:txBody>
      </p:sp>
      <p:sp>
        <p:nvSpPr>
          <p:cNvPr id="10" name="">
            <a:extLst xmlns:a="http://schemas.openxmlformats.org/drawingml/2006/main">
              <a:ext uri="{FF2B5EF4-FFF2-40B4-BE49-F238E27FC236}">
                <a16:creationId xmlns:a16="http://schemas.microsoft.com/office/drawing/2014/main" id="{1323AA85-830E-4266-B1DB-0473F4AE7B0E}"/>
              </a:ext>
            </a:extLst>
          </p:cNvPr>
          <p:cNvSpPr>
            <a:spLocks xmlns:a="http://schemas.openxmlformats.org/drawingml/2006/main" noGrp="1"/>
          </p:cNvSpPr>
          <p:nvPr/>
        </p:nvSpPr>
        <p:spPr>
          <a:xfrm xmlns:a="http://schemas.openxmlformats.org/drawingml/2006/main">
            <a:off x="2857500" y="21907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user_id 고정</a:t>
            </a:r>
          </a:p>
        </p:txBody>
      </p:sp>
      <p:sp>
        <p:nvSpPr>
          <p:cNvPr id="11" name="">
            <a:extLst xmlns:a="http://schemas.openxmlformats.org/drawingml/2006/main">
              <a:ext uri="{FF2B5EF4-FFF2-40B4-BE49-F238E27FC236}">
                <a16:creationId xmlns:a16="http://schemas.microsoft.com/office/drawing/2014/main" id="{7FC254AD-E582-44F0-BA01-CBD516B2F3A6}"/>
              </a:ext>
            </a:extLst>
          </p:cNvPr>
          <p:cNvSpPr>
            <a:spLocks xmlns:a="http://schemas.openxmlformats.org/drawingml/2006/main" noGrp="1"/>
          </p:cNvSpPr>
          <p:nvPr/>
        </p:nvSpPr>
        <p:spPr>
          <a:xfrm xmlns:a="http://schemas.openxmlformats.org/drawingml/2006/main">
            <a:off x="6381750" y="2190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성향·세그먼트 배정</a:t>
            </a:r>
          </a:p>
        </p:txBody>
      </p:sp>
      <p:sp>
        <p:nvSpPr>
          <p:cNvPr id="12" name="">
            <a:extLst xmlns:a="http://schemas.openxmlformats.org/drawingml/2006/main">
              <a:ext uri="{FF2B5EF4-FFF2-40B4-BE49-F238E27FC236}">
                <a16:creationId xmlns:a16="http://schemas.microsoft.com/office/drawing/2014/main" id="{1A0ADBA9-2983-49BB-92E0-3CE7C0CA7E56}"/>
              </a:ext>
            </a:extLst>
          </p:cNvPr>
          <p:cNvSpPr>
            <a:spLocks xmlns:a="http://schemas.openxmlformats.org/drawingml/2006/main" noGrp="1"/>
          </p:cNvSpPr>
          <p:nvPr/>
        </p:nvSpPr>
        <p:spPr>
          <a:xfrm xmlns:a="http://schemas.openxmlformats.org/drawingml/2006/main">
            <a:off x="781050" y="28194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SEARCH</a:t>
            </a:r>
          </a:p>
        </p:txBody>
      </p:sp>
      <p:sp>
        <p:nvSpPr>
          <p:cNvPr id="13" name="">
            <a:extLst xmlns:a="http://schemas.openxmlformats.org/drawingml/2006/main">
              <a:ext uri="{FF2B5EF4-FFF2-40B4-BE49-F238E27FC236}">
                <a16:creationId xmlns:a16="http://schemas.microsoft.com/office/drawing/2014/main" id="{CE690F07-00B2-4188-86A2-B4D320C42C49}"/>
              </a:ext>
            </a:extLst>
          </p:cNvPr>
          <p:cNvSpPr>
            <a:spLocks xmlns:a="http://schemas.openxmlformats.org/drawingml/2006/main" noGrp="1"/>
          </p:cNvSpPr>
          <p:nvPr/>
        </p:nvSpPr>
        <p:spPr>
          <a:xfrm xmlns:a="http://schemas.openxmlformats.org/drawingml/2006/main">
            <a:off x="2857500" y="28194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search_id / session_id</a:t>
            </a:r>
          </a:p>
        </p:txBody>
      </p:sp>
      <p:sp>
        <p:nvSpPr>
          <p:cNvPr id="14" name="">
            <a:extLst xmlns:a="http://schemas.openxmlformats.org/drawingml/2006/main">
              <a:ext uri="{FF2B5EF4-FFF2-40B4-BE49-F238E27FC236}">
                <a16:creationId xmlns:a16="http://schemas.microsoft.com/office/drawing/2014/main" id="{3D30E6E1-243A-460B-8EDB-40C81ABCCF79}"/>
              </a:ext>
            </a:extLst>
          </p:cNvPr>
          <p:cNvSpPr>
            <a:spLocks xmlns:a="http://schemas.openxmlformats.org/drawingml/2006/main" noGrp="1"/>
          </p:cNvSpPr>
          <p:nvPr/>
        </p:nvSpPr>
        <p:spPr>
          <a:xfrm xmlns:a="http://schemas.openxmlformats.org/drawingml/2006/main">
            <a:off x="6381750" y="28194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검색어·지역·일정·인원</a:t>
            </a:r>
          </a:p>
        </p:txBody>
      </p:sp>
      <p:sp>
        <p:nvSpPr>
          <p:cNvPr id="15" name="">
            <a:extLst xmlns:a="http://schemas.openxmlformats.org/drawingml/2006/main">
              <a:ext uri="{FF2B5EF4-FFF2-40B4-BE49-F238E27FC236}">
                <a16:creationId xmlns:a16="http://schemas.microsoft.com/office/drawing/2014/main" id="{FA110646-3C2D-488E-9AC8-BDBC72C90525}"/>
              </a:ext>
            </a:extLst>
          </p:cNvPr>
          <p:cNvSpPr>
            <a:spLocks xmlns:a="http://schemas.openxmlformats.org/drawingml/2006/main" noGrp="1"/>
          </p:cNvSpPr>
          <p:nvPr/>
        </p:nvSpPr>
        <p:spPr>
          <a:xfrm xmlns:a="http://schemas.openxmlformats.org/drawingml/2006/main">
            <a:off x="685800" y="3381375"/>
            <a:ext cx="10820400" cy="571500"/>
          </a:xfrm>
          <a:prstGeom xmlns:a="http://schemas.openxmlformats.org/drawingml/2006/main" prst="rect">
            <a:avLst/>
          </a:prstGeom>
          <a:solidFill xmlns:a="http://schemas.openxmlformats.org/drawingml/2006/main">
            <a:srgbClr val="F7F8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BE472B4-A839-4398-AE82-C6D98A360E73}"/>
              </a:ext>
            </a:extLst>
          </p:cNvPr>
          <p:cNvSpPr>
            <a:spLocks xmlns:a="http://schemas.openxmlformats.org/drawingml/2006/main" noGrp="1"/>
          </p:cNvSpPr>
          <p:nvPr/>
        </p:nvSpPr>
        <p:spPr>
          <a:xfrm xmlns:a="http://schemas.openxmlformats.org/drawingml/2006/main">
            <a:off x="781050" y="34480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SEARCH_FILTER</a:t>
            </a:r>
          </a:p>
        </p:txBody>
      </p:sp>
      <p:sp>
        <p:nvSpPr>
          <p:cNvPr id="17" name="">
            <a:extLst xmlns:a="http://schemas.openxmlformats.org/drawingml/2006/main">
              <a:ext uri="{FF2B5EF4-FFF2-40B4-BE49-F238E27FC236}">
                <a16:creationId xmlns:a16="http://schemas.microsoft.com/office/drawing/2014/main" id="{0FACF9AF-25ED-42BE-93C0-B2FF798D6572}"/>
              </a:ext>
            </a:extLst>
          </p:cNvPr>
          <p:cNvSpPr>
            <a:spLocks xmlns:a="http://schemas.openxmlformats.org/drawingml/2006/main" noGrp="1"/>
          </p:cNvSpPr>
          <p:nvPr/>
        </p:nvSpPr>
        <p:spPr>
          <a:xfrm xmlns:a="http://schemas.openxmlformats.org/drawingml/2006/main">
            <a:off x="2857500" y="34480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search_filter_id / search_id</a:t>
            </a:r>
          </a:p>
        </p:txBody>
      </p:sp>
      <p:sp>
        <p:nvSpPr>
          <p:cNvPr id="18" name="">
            <a:extLst xmlns:a="http://schemas.openxmlformats.org/drawingml/2006/main">
              <a:ext uri="{FF2B5EF4-FFF2-40B4-BE49-F238E27FC236}">
                <a16:creationId xmlns:a16="http://schemas.microsoft.com/office/drawing/2014/main" id="{5279D09A-5A39-4F33-A630-258A9C007ACA}"/>
              </a:ext>
            </a:extLst>
          </p:cNvPr>
          <p:cNvSpPr>
            <a:spLocks xmlns:a="http://schemas.openxmlformats.org/drawingml/2006/main" noGrp="1"/>
          </p:cNvSpPr>
          <p:nvPr/>
        </p:nvSpPr>
        <p:spPr>
          <a:xfrm xmlns:a="http://schemas.openxmlformats.org/drawingml/2006/main">
            <a:off x="6381750" y="34480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평점·가격·편의시설 수</a:t>
            </a:r>
          </a:p>
        </p:txBody>
      </p:sp>
      <p:sp>
        <p:nvSpPr>
          <p:cNvPr id="19" name="">
            <a:extLst xmlns:a="http://schemas.openxmlformats.org/drawingml/2006/main">
              <a:ext uri="{FF2B5EF4-FFF2-40B4-BE49-F238E27FC236}">
                <a16:creationId xmlns:a16="http://schemas.microsoft.com/office/drawing/2014/main" id="{C4317C99-8CCE-457B-995F-0141843CFAD4}"/>
              </a:ext>
            </a:extLst>
          </p:cNvPr>
          <p:cNvSpPr>
            <a:spLocks xmlns:a="http://schemas.openxmlformats.org/drawingml/2006/main" noGrp="1"/>
          </p:cNvSpPr>
          <p:nvPr/>
        </p:nvSpPr>
        <p:spPr>
          <a:xfrm xmlns:a="http://schemas.openxmlformats.org/drawingml/2006/main">
            <a:off x="781050" y="40767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SEARCH_RESULT</a:t>
            </a:r>
          </a:p>
        </p:txBody>
      </p:sp>
      <p:sp>
        <p:nvSpPr>
          <p:cNvPr id="20" name="">
            <a:extLst xmlns:a="http://schemas.openxmlformats.org/drawingml/2006/main">
              <a:ext uri="{FF2B5EF4-FFF2-40B4-BE49-F238E27FC236}">
                <a16:creationId xmlns:a16="http://schemas.microsoft.com/office/drawing/2014/main" id="{3C6BBAB7-24FB-4D2E-BC43-64D29C6D9B3E}"/>
              </a:ext>
            </a:extLst>
          </p:cNvPr>
          <p:cNvSpPr>
            <a:spLocks xmlns:a="http://schemas.openxmlformats.org/drawingml/2006/main" noGrp="1"/>
          </p:cNvSpPr>
          <p:nvPr/>
        </p:nvSpPr>
        <p:spPr>
          <a:xfrm xmlns:a="http://schemas.openxmlformats.org/drawingml/2006/main">
            <a:off x="2857500" y="40767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search_result_id / search_id</a:t>
            </a:r>
          </a:p>
        </p:txBody>
      </p:sp>
      <p:sp>
        <p:nvSpPr>
          <p:cNvPr id="21" name="">
            <a:extLst xmlns:a="http://schemas.openxmlformats.org/drawingml/2006/main">
              <a:ext uri="{FF2B5EF4-FFF2-40B4-BE49-F238E27FC236}">
                <a16:creationId xmlns:a16="http://schemas.microsoft.com/office/drawing/2014/main" id="{E9375347-40D3-4B8E-87FD-C46107C8F83D}"/>
              </a:ext>
            </a:extLst>
          </p:cNvPr>
          <p:cNvSpPr>
            <a:spLocks xmlns:a="http://schemas.openxmlformats.org/drawingml/2006/main" noGrp="1"/>
          </p:cNvSpPr>
          <p:nvPr/>
        </p:nvSpPr>
        <p:spPr>
          <a:xfrm xmlns:a="http://schemas.openxmlformats.org/drawingml/2006/main">
            <a:off x="6381750" y="4076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검색당 24~25개 노출·순위</a:t>
            </a:r>
          </a:p>
        </p:txBody>
      </p:sp>
      <p:sp>
        <p:nvSpPr>
          <p:cNvPr id="22" name="">
            <a:extLst xmlns:a="http://schemas.openxmlformats.org/drawingml/2006/main">
              <a:ext uri="{FF2B5EF4-FFF2-40B4-BE49-F238E27FC236}">
                <a16:creationId xmlns:a16="http://schemas.microsoft.com/office/drawing/2014/main" id="{C53C7A7A-9520-4AAE-BE8D-4C8B0E52C756}"/>
              </a:ext>
            </a:extLst>
          </p:cNvPr>
          <p:cNvSpPr>
            <a:spLocks xmlns:a="http://schemas.openxmlformats.org/drawingml/2006/main" noGrp="1"/>
          </p:cNvSpPr>
          <p:nvPr/>
        </p:nvSpPr>
        <p:spPr>
          <a:xfrm xmlns:a="http://schemas.openxmlformats.org/drawingml/2006/main">
            <a:off x="685800" y="4638675"/>
            <a:ext cx="10820400" cy="571500"/>
          </a:xfrm>
          <a:prstGeom xmlns:a="http://schemas.openxmlformats.org/drawingml/2006/main" prst="rect">
            <a:avLst/>
          </a:prstGeom>
          <a:solidFill xmlns:a="http://schemas.openxmlformats.org/drawingml/2006/main">
            <a:srgbClr val="F7F8F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4FCAF5C-2BE0-4C20-9EF6-A3CC5CE2F45E}"/>
              </a:ext>
            </a:extLst>
          </p:cNvPr>
          <p:cNvSpPr>
            <a:spLocks xmlns:a="http://schemas.openxmlformats.org/drawingml/2006/main" noGrp="1"/>
          </p:cNvSpPr>
          <p:nvPr/>
        </p:nvSpPr>
        <p:spPr>
          <a:xfrm xmlns:a="http://schemas.openxmlformats.org/drawingml/2006/main">
            <a:off x="781050" y="47053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EVENT</a:t>
            </a:r>
          </a:p>
        </p:txBody>
      </p:sp>
      <p:sp>
        <p:nvSpPr>
          <p:cNvPr id="24" name="">
            <a:extLst xmlns:a="http://schemas.openxmlformats.org/drawingml/2006/main">
              <a:ext uri="{FF2B5EF4-FFF2-40B4-BE49-F238E27FC236}">
                <a16:creationId xmlns:a16="http://schemas.microsoft.com/office/drawing/2014/main" id="{9DF763D3-07E4-4FA7-831A-5DA648DD0C6B}"/>
              </a:ext>
            </a:extLst>
          </p:cNvPr>
          <p:cNvSpPr>
            <a:spLocks xmlns:a="http://schemas.openxmlformats.org/drawingml/2006/main" noGrp="1"/>
          </p:cNvSpPr>
          <p:nvPr/>
        </p:nvSpPr>
        <p:spPr>
          <a:xfrm xmlns:a="http://schemas.openxmlformats.org/drawingml/2006/main">
            <a:off x="2857500" y="47053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event_id / user_id / search_id</a:t>
            </a:r>
          </a:p>
        </p:txBody>
      </p:sp>
      <p:sp>
        <p:nvSpPr>
          <p:cNvPr id="25" name="">
            <a:extLst xmlns:a="http://schemas.openxmlformats.org/drawingml/2006/main">
              <a:ext uri="{FF2B5EF4-FFF2-40B4-BE49-F238E27FC236}">
                <a16:creationId xmlns:a16="http://schemas.microsoft.com/office/drawing/2014/main" id="{7BB4191C-7805-40CA-9EC8-334B67608C0B}"/>
              </a:ext>
            </a:extLst>
          </p:cNvPr>
          <p:cNvSpPr>
            <a:spLocks xmlns:a="http://schemas.openxmlformats.org/drawingml/2006/main" noGrp="1"/>
          </p:cNvSpPr>
          <p:nvPr/>
        </p:nvSpPr>
        <p:spPr>
          <a:xfrm xmlns:a="http://schemas.openxmlformats.org/drawingml/2006/main">
            <a:off x="6381750" y="47053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클릭·필터·정렬·exit·end_time</a:t>
            </a:r>
          </a:p>
        </p:txBody>
      </p:sp>
      <p:sp>
        <p:nvSpPr>
          <p:cNvPr id="26" name="">
            <a:extLst xmlns:a="http://schemas.openxmlformats.org/drawingml/2006/main">
              <a:ext uri="{FF2B5EF4-FFF2-40B4-BE49-F238E27FC236}">
                <a16:creationId xmlns:a16="http://schemas.microsoft.com/office/drawing/2014/main" id="{742FC60C-87C9-4A33-A1A1-7EBE21EF10B7}"/>
              </a:ext>
            </a:extLst>
          </p:cNvPr>
          <p:cNvSpPr>
            <a:spLocks xmlns:a="http://schemas.openxmlformats.org/drawingml/2006/main" noGrp="1"/>
          </p:cNvSpPr>
          <p:nvPr/>
        </p:nvSpPr>
        <p:spPr>
          <a:xfrm xmlns:a="http://schemas.openxmlformats.org/drawingml/2006/main">
            <a:off x="781050" y="53340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BOOKING</a:t>
            </a:r>
          </a:p>
        </p:txBody>
      </p:sp>
      <p:sp>
        <p:nvSpPr>
          <p:cNvPr id="27" name="">
            <a:extLst xmlns:a="http://schemas.openxmlformats.org/drawingml/2006/main">
              <a:ext uri="{FF2B5EF4-FFF2-40B4-BE49-F238E27FC236}">
                <a16:creationId xmlns:a16="http://schemas.microsoft.com/office/drawing/2014/main" id="{AE720CD1-9678-4072-93B3-641D325070A1}"/>
              </a:ext>
            </a:extLst>
          </p:cNvPr>
          <p:cNvSpPr>
            <a:spLocks xmlns:a="http://schemas.openxmlformats.org/drawingml/2006/main" noGrp="1"/>
          </p:cNvSpPr>
          <p:nvPr/>
        </p:nvSpPr>
        <p:spPr>
          <a:xfrm xmlns:a="http://schemas.openxmlformats.org/drawingml/2006/main">
            <a:off x="2857500" y="53340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booking_id / user_id / hotel_id / room_id</a:t>
            </a:r>
          </a:p>
        </p:txBody>
      </p:sp>
      <p:sp>
        <p:nvSpPr>
          <p:cNvPr id="28" name="">
            <a:extLst xmlns:a="http://schemas.openxmlformats.org/drawingml/2006/main">
              <a:ext uri="{FF2B5EF4-FFF2-40B4-BE49-F238E27FC236}">
                <a16:creationId xmlns:a16="http://schemas.microsoft.com/office/drawing/2014/main" id="{B95D4271-DCCB-42FD-8683-306C55CAC864}"/>
              </a:ext>
            </a:extLst>
          </p:cNvPr>
          <p:cNvSpPr>
            <a:spLocks xmlns:a="http://schemas.openxmlformats.org/drawingml/2006/main" noGrp="1"/>
          </p:cNvSpPr>
          <p:nvPr/>
        </p:nvSpPr>
        <p:spPr>
          <a:xfrm xmlns:a="http://schemas.openxmlformats.org/drawingml/2006/main">
            <a:off x="6381750" y="53340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클릭 이후 일부만 생성</a:t>
            </a:r>
          </a:p>
        </p:txBody>
      </p:sp>
      <p:sp>
        <p:nvSpPr>
          <p:cNvPr id="29" name="">
            <a:extLst xmlns:a="http://schemas.openxmlformats.org/drawingml/2006/main">
              <a:ext uri="{FF2B5EF4-FFF2-40B4-BE49-F238E27FC236}">
                <a16:creationId xmlns:a16="http://schemas.microsoft.com/office/drawing/2014/main" id="{47D295B4-4F1C-47B7-BBAC-02197DE0C6A1}"/>
              </a:ext>
            </a:extLst>
          </p:cNvPr>
          <p:cNvSpPr>
            <a:spLocks xmlns:a="http://schemas.openxmlformats.org/drawingml/2006/main" noGrp="1"/>
          </p:cNvSpPr>
          <p:nvPr/>
        </p:nvSpPr>
        <p:spPr>
          <a:xfrm xmlns:a="http://schemas.openxmlformats.org/drawingml/2006/main">
            <a:off x="685800" y="6115050"/>
            <a:ext cx="704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D64545"/>
                </a:solidFill>
              </a:defRPr>
            </a:pPr>
            <a:r>
              <a:rPr sz="1275" b="1">
                <a:solidFill>
                  <a:srgbClr val="D64545"/>
                </a:solidFill>
              </a:rPr>
              <a:t>HOTEL·ROOM은 기준정보로 유지하며 증강 대상에서 제외</a:t>
            </a:r>
          </a:p>
        </p:txBody>
      </p:sp>
    </p:spTree>
    <p:extLst>
      <p:ext uri="{BB962C8B-B14F-4D97-AF65-F5344CB8AC3E}">
        <p14:creationId xmlns:p14="http://schemas.microsoft.com/office/powerpoint/2010/main" val="17641022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338B86D-7839-431F-9619-4F70CC13BAC2}"/>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ROW LOGIC</a:t>
            </a:r>
          </a:p>
        </p:txBody>
      </p:sp>
      <p:sp>
        <p:nvSpPr>
          <p:cNvPr id="2" name="">
            <a:extLst xmlns:a="http://schemas.openxmlformats.org/drawingml/2006/main">
              <a:ext uri="{FF2B5EF4-FFF2-40B4-BE49-F238E27FC236}">
                <a16:creationId xmlns:a16="http://schemas.microsoft.com/office/drawing/2014/main" id="{D623E7AA-3C6D-4233-A32F-AC1371F73416}"/>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한 사용자의 연속 행동을 만들고, 결과는 확률로 결정한다</a:t>
            </a:r>
          </a:p>
        </p:txBody>
      </p:sp>
      <p:sp>
        <p:nvSpPr>
          <p:cNvPr id="3" name="">
            <a:extLst xmlns:a="http://schemas.openxmlformats.org/drawingml/2006/main">
              <a:ext uri="{FF2B5EF4-FFF2-40B4-BE49-F238E27FC236}">
                <a16:creationId xmlns:a16="http://schemas.microsoft.com/office/drawing/2014/main" id="{D5F2958A-D02B-4C06-9D4E-03D8741B2642}"/>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07BABF5C-969F-41AA-9DE6-F98FA7FCF255}"/>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10</a:t>
            </a:r>
          </a:p>
        </p:txBody>
      </p:sp>
      <p:sp>
        <p:nvSpPr>
          <p:cNvPr id="5" name="">
            <a:extLst xmlns:a="http://schemas.openxmlformats.org/drawingml/2006/main">
              <a:ext uri="{FF2B5EF4-FFF2-40B4-BE49-F238E27FC236}">
                <a16:creationId xmlns:a16="http://schemas.microsoft.com/office/drawing/2014/main" id="{63755FB4-D8B0-483B-AF0B-CA57FF8501A8}"/>
              </a:ext>
            </a:extLst>
          </p:cNvPr>
          <p:cNvSpPr>
            <a:spLocks xmlns:a="http://schemas.openxmlformats.org/drawingml/2006/main" noGrp="1"/>
          </p:cNvSpPr>
          <p:nvPr/>
        </p:nvSpPr>
        <p:spPr>
          <a:xfrm xmlns:a="http://schemas.openxmlformats.org/drawingml/2006/main">
            <a:off x="704850" y="2000250"/>
            <a:ext cx="3143250" cy="2047875"/>
          </a:xfrm>
          <a:prstGeom xmlns:a="http://schemas.openxmlformats.org/drawingml/2006/main" prst="rect">
            <a:avLst/>
          </a:prstGeom>
          <a:solidFill xmlns:a="http://schemas.openxmlformats.org/drawingml/2006/main">
            <a:srgbClr val="FFF0F0"/>
          </a:solidFill>
          <a:ln xmlns:a="http://schemas.openxmlformats.org/drawingml/2006/main" w="9525">
            <a:solidFill>
              <a:srgbClr val="D64545"/>
            </a:solidFill>
            <a:prstDash val="solid"/>
          </a:ln>
        </p:spPr>
      </p:sp>
      <p:sp>
        <p:nvSpPr>
          <p:cNvPr id="6" name="">
            <a:extLst xmlns:a="http://schemas.openxmlformats.org/drawingml/2006/main">
              <a:ext uri="{FF2B5EF4-FFF2-40B4-BE49-F238E27FC236}">
                <a16:creationId xmlns:a16="http://schemas.microsoft.com/office/drawing/2014/main" id="{D9EAA6C1-7BAC-438D-BA19-5E48A4598E44}"/>
              </a:ext>
            </a:extLst>
          </p:cNvPr>
          <p:cNvSpPr>
            <a:spLocks xmlns:a="http://schemas.openxmlformats.org/drawingml/2006/main" noGrp="1"/>
          </p:cNvSpPr>
          <p:nvPr/>
        </p:nvSpPr>
        <p:spPr>
          <a:xfrm xmlns:a="http://schemas.openxmlformats.org/drawingml/2006/main">
            <a:off x="933450" y="21907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S001</a:t>
            </a:r>
          </a:p>
        </p:txBody>
      </p:sp>
      <p:sp>
        <p:nvSpPr>
          <p:cNvPr id="7" name="">
            <a:extLst xmlns:a="http://schemas.openxmlformats.org/drawingml/2006/main">
              <a:ext uri="{FF2B5EF4-FFF2-40B4-BE49-F238E27FC236}">
                <a16:creationId xmlns:a16="http://schemas.microsoft.com/office/drawing/2014/main" id="{AD5C2374-0076-4DF4-A4D1-6D17852ED928}"/>
              </a:ext>
            </a:extLst>
          </p:cNvPr>
          <p:cNvSpPr>
            <a:spLocks xmlns:a="http://schemas.openxmlformats.org/drawingml/2006/main" noGrp="1"/>
          </p:cNvSpPr>
          <p:nvPr/>
        </p:nvSpPr>
        <p:spPr>
          <a:xfrm xmlns:a="http://schemas.openxmlformats.org/drawingml/2006/main">
            <a:off x="933450" y="2647950"/>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도쿄 · 4성 · 20만원</a:t>
            </a:r>
          </a:p>
        </p:txBody>
      </p:sp>
      <p:sp>
        <p:nvSpPr>
          <p:cNvPr id="8" name="">
            <a:extLst xmlns:a="http://schemas.openxmlformats.org/drawingml/2006/main">
              <a:ext uri="{FF2B5EF4-FFF2-40B4-BE49-F238E27FC236}">
                <a16:creationId xmlns:a16="http://schemas.microsoft.com/office/drawing/2014/main" id="{E0908EF7-4DB2-4BDF-9F8A-0F1187E6DE8D}"/>
              </a:ext>
            </a:extLst>
          </p:cNvPr>
          <p:cNvSpPr>
            <a:spLocks xmlns:a="http://schemas.openxmlformats.org/drawingml/2006/main" noGrp="1"/>
          </p:cNvSpPr>
          <p:nvPr/>
        </p:nvSpPr>
        <p:spPr>
          <a:xfrm xmlns:a="http://schemas.openxmlformats.org/drawingml/2006/main">
            <a:off x="933450" y="32861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D64545"/>
                </a:solidFill>
              </a:defRPr>
            </a:pPr>
            <a:r>
              <a:rPr sz="1500" b="1">
                <a:solidFill>
                  <a:srgbClr val="D64545"/>
                </a:solidFill>
              </a:rPr>
              <a:t>0건</a:t>
            </a:r>
          </a:p>
        </p:txBody>
      </p:sp>
      <p:sp>
        <p:nvSpPr>
          <p:cNvPr id="9" name="">
            <a:extLst xmlns:a="http://schemas.openxmlformats.org/drawingml/2006/main">
              <a:ext uri="{FF2B5EF4-FFF2-40B4-BE49-F238E27FC236}">
                <a16:creationId xmlns:a16="http://schemas.microsoft.com/office/drawing/2014/main" id="{A0942D22-9413-4729-A521-231CC9C52E0A}"/>
              </a:ext>
            </a:extLst>
          </p:cNvPr>
          <p:cNvSpPr>
            <a:spLocks xmlns:a="http://schemas.openxmlformats.org/drawingml/2006/main" noGrp="1"/>
          </p:cNvSpPr>
          <p:nvPr/>
        </p:nvSpPr>
        <p:spPr>
          <a:xfrm xmlns:a="http://schemas.openxmlformats.org/drawingml/2006/main">
            <a:off x="933450" y="366712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재검색</a:t>
            </a:r>
          </a:p>
        </p:txBody>
      </p:sp>
      <p:sp>
        <p:nvSpPr>
          <p:cNvPr id="10" name="">
            <a:extLst xmlns:a="http://schemas.openxmlformats.org/drawingml/2006/main">
              <a:ext uri="{FF2B5EF4-FFF2-40B4-BE49-F238E27FC236}">
                <a16:creationId xmlns:a16="http://schemas.microsoft.com/office/drawing/2014/main" id="{373DE169-F366-4D14-8D5E-BE32CADFF48C}"/>
              </a:ext>
            </a:extLst>
          </p:cNvPr>
          <p:cNvSpPr>
            <a:spLocks xmlns:a="http://schemas.openxmlformats.org/drawingml/2006/main" noGrp="1"/>
          </p:cNvSpPr>
          <p:nvPr/>
        </p:nvSpPr>
        <p:spPr>
          <a:xfrm xmlns:a="http://schemas.openxmlformats.org/drawingml/2006/main">
            <a:off x="4371975" y="2000250"/>
            <a:ext cx="3143250" cy="2047875"/>
          </a:xfrm>
          <a:prstGeom xmlns:a="http://schemas.openxmlformats.org/drawingml/2006/main" prst="rect">
            <a:avLst/>
          </a:prstGeom>
          <a:solidFill xmlns:a="http://schemas.openxmlformats.org/drawingml/2006/main">
            <a:srgbClr val="EAF7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2F0497D-9013-43FB-B276-F723CE39A130}"/>
              </a:ext>
            </a:extLst>
          </p:cNvPr>
          <p:cNvSpPr>
            <a:spLocks xmlns:a="http://schemas.openxmlformats.org/drawingml/2006/main" noGrp="1"/>
          </p:cNvSpPr>
          <p:nvPr/>
        </p:nvSpPr>
        <p:spPr>
          <a:xfrm xmlns:a="http://schemas.openxmlformats.org/drawingml/2006/main">
            <a:off x="4600575" y="21907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S002</a:t>
            </a:r>
          </a:p>
        </p:txBody>
      </p:sp>
      <p:sp>
        <p:nvSpPr>
          <p:cNvPr id="12" name="">
            <a:extLst xmlns:a="http://schemas.openxmlformats.org/drawingml/2006/main">
              <a:ext uri="{FF2B5EF4-FFF2-40B4-BE49-F238E27FC236}">
                <a16:creationId xmlns:a16="http://schemas.microsoft.com/office/drawing/2014/main" id="{97313565-30DA-44E7-8876-57F6FD07CF45}"/>
              </a:ext>
            </a:extLst>
          </p:cNvPr>
          <p:cNvSpPr>
            <a:spLocks xmlns:a="http://schemas.openxmlformats.org/drawingml/2006/main" noGrp="1"/>
          </p:cNvSpPr>
          <p:nvPr/>
        </p:nvSpPr>
        <p:spPr>
          <a:xfrm xmlns:a="http://schemas.openxmlformats.org/drawingml/2006/main">
            <a:off x="4600575" y="2647950"/>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가격 25만원으로 완화</a:t>
            </a:r>
          </a:p>
        </p:txBody>
      </p:sp>
      <p:sp>
        <p:nvSpPr>
          <p:cNvPr id="13" name="">
            <a:extLst xmlns:a="http://schemas.openxmlformats.org/drawingml/2006/main">
              <a:ext uri="{FF2B5EF4-FFF2-40B4-BE49-F238E27FC236}">
                <a16:creationId xmlns:a16="http://schemas.microsoft.com/office/drawing/2014/main" id="{E04F8249-5455-4B36-9C30-42AA2762A9F4}"/>
              </a:ext>
            </a:extLst>
          </p:cNvPr>
          <p:cNvSpPr>
            <a:spLocks xmlns:a="http://schemas.openxmlformats.org/drawingml/2006/main" noGrp="1"/>
          </p:cNvSpPr>
          <p:nvPr/>
        </p:nvSpPr>
        <p:spPr>
          <a:xfrm xmlns:a="http://schemas.openxmlformats.org/drawingml/2006/main">
            <a:off x="4600575" y="32861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68A68"/>
                </a:solidFill>
              </a:defRPr>
            </a:pPr>
            <a:r>
              <a:rPr sz="1500" b="1">
                <a:solidFill>
                  <a:srgbClr val="168A68"/>
                </a:solidFill>
              </a:rPr>
              <a:t>결과 있음</a:t>
            </a:r>
          </a:p>
        </p:txBody>
      </p:sp>
      <p:sp>
        <p:nvSpPr>
          <p:cNvPr id="14" name="">
            <a:extLst xmlns:a="http://schemas.openxmlformats.org/drawingml/2006/main">
              <a:ext uri="{FF2B5EF4-FFF2-40B4-BE49-F238E27FC236}">
                <a16:creationId xmlns:a16="http://schemas.microsoft.com/office/drawing/2014/main" id="{0BAF75A5-B3C4-4384-B38C-A3A0C5B6E523}"/>
              </a:ext>
            </a:extLst>
          </p:cNvPr>
          <p:cNvSpPr>
            <a:spLocks xmlns:a="http://schemas.openxmlformats.org/drawingml/2006/main" noGrp="1"/>
          </p:cNvSpPr>
          <p:nvPr/>
        </p:nvSpPr>
        <p:spPr>
          <a:xfrm xmlns:a="http://schemas.openxmlformats.org/drawingml/2006/main">
            <a:off x="4600575" y="366712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호텔 클릭</a:t>
            </a:r>
          </a:p>
        </p:txBody>
      </p:sp>
      <p:sp>
        <p:nvSpPr>
          <p:cNvPr id="15" name="">
            <a:extLst xmlns:a="http://schemas.openxmlformats.org/drawingml/2006/main">
              <a:ext uri="{FF2B5EF4-FFF2-40B4-BE49-F238E27FC236}">
                <a16:creationId xmlns:a16="http://schemas.microsoft.com/office/drawing/2014/main" id="{507E2276-4ABF-47A8-8A38-749762C7ADCB}"/>
              </a:ext>
            </a:extLst>
          </p:cNvPr>
          <p:cNvSpPr>
            <a:spLocks xmlns:a="http://schemas.openxmlformats.org/drawingml/2006/main" noGrp="1"/>
          </p:cNvSpPr>
          <p:nvPr/>
        </p:nvSpPr>
        <p:spPr>
          <a:xfrm xmlns:a="http://schemas.openxmlformats.org/drawingml/2006/main">
            <a:off x="8039100" y="2000250"/>
            <a:ext cx="3143250" cy="2047875"/>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C5EA91C-0204-4863-B76A-BFFD3B9A9CDA}"/>
              </a:ext>
            </a:extLst>
          </p:cNvPr>
          <p:cNvSpPr>
            <a:spLocks xmlns:a="http://schemas.openxmlformats.org/drawingml/2006/main" noGrp="1"/>
          </p:cNvSpPr>
          <p:nvPr/>
        </p:nvSpPr>
        <p:spPr>
          <a:xfrm xmlns:a="http://schemas.openxmlformats.org/drawingml/2006/main">
            <a:off x="8267700" y="21907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F80ED"/>
                </a:solidFill>
              </a:defRPr>
            </a:pPr>
            <a:r>
              <a:rPr sz="1350" b="1">
                <a:solidFill>
                  <a:srgbClr val="2F80ED"/>
                </a:solidFill>
              </a:rPr>
              <a:t>S003</a:t>
            </a:r>
          </a:p>
        </p:txBody>
      </p:sp>
      <p:sp>
        <p:nvSpPr>
          <p:cNvPr id="17" name="">
            <a:extLst xmlns:a="http://schemas.openxmlformats.org/drawingml/2006/main">
              <a:ext uri="{FF2B5EF4-FFF2-40B4-BE49-F238E27FC236}">
                <a16:creationId xmlns:a16="http://schemas.microsoft.com/office/drawing/2014/main" id="{78271292-12B9-4678-AB94-04DD5F55CC80}"/>
              </a:ext>
            </a:extLst>
          </p:cNvPr>
          <p:cNvSpPr>
            <a:spLocks xmlns:a="http://schemas.openxmlformats.org/drawingml/2006/main" noGrp="1"/>
          </p:cNvSpPr>
          <p:nvPr/>
        </p:nvSpPr>
        <p:spPr>
          <a:xfrm xmlns:a="http://schemas.openxmlformats.org/drawingml/2006/main">
            <a:off x="8267700" y="2647950"/>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동일 지역 · 날짜 변경</a:t>
            </a:r>
          </a:p>
        </p:txBody>
      </p:sp>
      <p:sp>
        <p:nvSpPr>
          <p:cNvPr id="18" name="">
            <a:extLst xmlns:a="http://schemas.openxmlformats.org/drawingml/2006/main">
              <a:ext uri="{FF2B5EF4-FFF2-40B4-BE49-F238E27FC236}">
                <a16:creationId xmlns:a16="http://schemas.microsoft.com/office/drawing/2014/main" id="{373041BF-50CC-4E01-8C70-FE65A385CFAC}"/>
              </a:ext>
            </a:extLst>
          </p:cNvPr>
          <p:cNvSpPr>
            <a:spLocks xmlns:a="http://schemas.openxmlformats.org/drawingml/2006/main" noGrp="1"/>
          </p:cNvSpPr>
          <p:nvPr/>
        </p:nvSpPr>
        <p:spPr>
          <a:xfrm xmlns:a="http://schemas.openxmlformats.org/drawingml/2006/main">
            <a:off x="8267700" y="32861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68A68"/>
                </a:solidFill>
              </a:defRPr>
            </a:pPr>
            <a:r>
              <a:rPr sz="1500" b="1">
                <a:solidFill>
                  <a:srgbClr val="168A68"/>
                </a:solidFill>
              </a:rPr>
              <a:t>결과 있음</a:t>
            </a:r>
          </a:p>
        </p:txBody>
      </p:sp>
      <p:sp>
        <p:nvSpPr>
          <p:cNvPr id="19" name="">
            <a:extLst xmlns:a="http://schemas.openxmlformats.org/drawingml/2006/main">
              <a:ext uri="{FF2B5EF4-FFF2-40B4-BE49-F238E27FC236}">
                <a16:creationId xmlns:a16="http://schemas.microsoft.com/office/drawing/2014/main" id="{671659D9-319E-4C3B-A6B0-313E5B0251EC}"/>
              </a:ext>
            </a:extLst>
          </p:cNvPr>
          <p:cNvSpPr>
            <a:spLocks xmlns:a="http://schemas.openxmlformats.org/drawingml/2006/main" noGrp="1"/>
          </p:cNvSpPr>
          <p:nvPr/>
        </p:nvSpPr>
        <p:spPr>
          <a:xfrm xmlns:a="http://schemas.openxmlformats.org/drawingml/2006/main">
            <a:off x="8267700" y="3667125"/>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defRPr>
            </a:pPr>
            <a:r>
              <a:rPr sz="1275" b="0">
                <a:solidFill>
                  <a:srgbClr val="5B6472"/>
                </a:solidFill>
              </a:rPr>
              <a:t>종료</a:t>
            </a:r>
          </a:p>
        </p:txBody>
      </p:sp>
      <p:sp>
        <p:nvSpPr>
          <p:cNvPr id="20" name="">
            <a:extLst xmlns:a="http://schemas.openxmlformats.org/drawingml/2006/main">
              <a:ext uri="{FF2B5EF4-FFF2-40B4-BE49-F238E27FC236}">
                <a16:creationId xmlns:a16="http://schemas.microsoft.com/office/drawing/2014/main" id="{2930820D-6A80-4290-8F6F-B674D242A796}"/>
              </a:ext>
            </a:extLst>
          </p:cNvPr>
          <p:cNvSpPr>
            <a:spLocks xmlns:a="http://schemas.openxmlformats.org/drawingml/2006/main" noGrp="1"/>
          </p:cNvSpPr>
          <p:nvPr/>
        </p:nvSpPr>
        <p:spPr>
          <a:xfrm xmlns:a="http://schemas.openxmlformats.org/drawingml/2006/main">
            <a:off x="704850" y="46482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F80ED"/>
                </a:solidFill>
              </a:defRPr>
            </a:pPr>
            <a:r>
              <a:rPr sz="1650" b="1">
                <a:solidFill>
                  <a:srgbClr val="2F80ED"/>
                </a:solidFill>
              </a:rPr>
              <a:t>생성 원칙</a:t>
            </a:r>
          </a:p>
        </p:txBody>
      </p:sp>
      <p:sp>
        <p:nvSpPr>
          <p:cNvPr id="21" name="">
            <a:extLst xmlns:a="http://schemas.openxmlformats.org/drawingml/2006/main">
              <a:ext uri="{FF2B5EF4-FFF2-40B4-BE49-F238E27FC236}">
                <a16:creationId xmlns:a16="http://schemas.microsoft.com/office/drawing/2014/main" id="{2C421E20-7C45-4717-A5BA-A0817CF2B0F3}"/>
              </a:ext>
            </a:extLst>
          </p:cNvPr>
          <p:cNvSpPr>
            <a:spLocks xmlns:a="http://schemas.openxmlformats.org/drawingml/2006/main" noGrp="1"/>
          </p:cNvSpPr>
          <p:nvPr/>
        </p:nvSpPr>
        <p:spPr>
          <a:xfrm xmlns:a="http://schemas.openxmlformats.org/drawingml/2006/main">
            <a:off x="704850" y="509587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① 기존 조건 1~2개만 변경   ② 불일치=무조건 이탈 금지   ③ 세그먼트별 확률 범위만 다르게 설정</a:t>
            </a:r>
          </a:p>
        </p:txBody>
      </p:sp>
      <p:sp>
        <p:nvSpPr>
          <p:cNvPr id="22" name="">
            <a:extLst xmlns:a="http://schemas.openxmlformats.org/drawingml/2006/main">
              <a:ext uri="{FF2B5EF4-FFF2-40B4-BE49-F238E27FC236}">
                <a16:creationId xmlns:a16="http://schemas.microsoft.com/office/drawing/2014/main" id="{06D9EFF9-5E00-4FA6-93C5-545D1C183AB3}"/>
              </a:ext>
            </a:extLst>
          </p:cNvPr>
          <p:cNvSpPr>
            <a:spLocks xmlns:a="http://schemas.openxmlformats.org/drawingml/2006/main" noGrp="1"/>
          </p:cNvSpPr>
          <p:nvPr/>
        </p:nvSpPr>
        <p:spPr>
          <a:xfrm xmlns:a="http://schemas.openxmlformats.org/drawingml/2006/main">
            <a:off x="704850" y="569595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D64545"/>
                </a:solidFill>
              </a:defRPr>
            </a:pPr>
            <a:r>
              <a:rPr sz="1275" b="0">
                <a:solidFill>
                  <a:srgbClr val="D64545"/>
                </a:solidFill>
              </a:rPr>
              <a:t>날짜 예약 가능성은 임의 ROOM 데이터이므로 일치도 계산에서 제외하고 한계로 명시</a:t>
            </a:r>
          </a:p>
        </p:txBody>
      </p:sp>
    </p:spTree>
    <p:extLst>
      <p:ext uri="{BB962C8B-B14F-4D97-AF65-F5344CB8AC3E}">
        <p14:creationId xmlns:p14="http://schemas.microsoft.com/office/powerpoint/2010/main" val="19769150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7B3FC34-854D-4821-9AD5-30F4C7FE2912}"/>
              </a:ext>
            </a:extLst>
          </p:cNvPr>
          <p:cNvSpPr>
            <a:spLocks xmlns:a="http://schemas.openxmlformats.org/drawingml/2006/main" noGrp="1"/>
          </p:cNvSpPr>
          <p:nvPr/>
        </p:nvSpPr>
        <p:spPr>
          <a:xfrm xmlns:a="http://schemas.openxmlformats.org/drawingml/2006/main">
            <a:off x="685800" y="400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F80ED"/>
                </a:solidFill>
              </a:defRPr>
            </a:pPr>
            <a:r>
              <a:rPr sz="1050" b="1">
                <a:solidFill>
                  <a:srgbClr val="2F80ED"/>
                </a:solidFill>
              </a:rPr>
              <a:t>VALIDATION</a:t>
            </a:r>
          </a:p>
        </p:txBody>
      </p:sp>
      <p:sp>
        <p:nvSpPr>
          <p:cNvPr id="2" name="">
            <a:extLst xmlns:a="http://schemas.openxmlformats.org/drawingml/2006/main">
              <a:ext uri="{FF2B5EF4-FFF2-40B4-BE49-F238E27FC236}">
                <a16:creationId xmlns:a16="http://schemas.microsoft.com/office/drawing/2014/main" id="{0152DCD9-D45A-463C-8098-CA96ECF13355}"/>
              </a:ext>
            </a:extLst>
          </p:cNvPr>
          <p:cNvSpPr>
            <a:spLocks xmlns:a="http://schemas.openxmlformats.org/drawingml/2006/main" noGrp="1"/>
          </p:cNvSpPr>
          <p:nvPr/>
        </p:nvSpPr>
        <p:spPr>
          <a:xfrm xmlns:a="http://schemas.openxmlformats.org/drawingml/2006/main">
            <a:off x="685800" y="76200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증강 후에도 실제 분포와 가설 검증 가능성을 함께 지킨다</a:t>
            </a:r>
          </a:p>
        </p:txBody>
      </p:sp>
      <p:sp>
        <p:nvSpPr>
          <p:cNvPr id="3" name="">
            <a:extLst xmlns:a="http://schemas.openxmlformats.org/drawingml/2006/main">
              <a:ext uri="{FF2B5EF4-FFF2-40B4-BE49-F238E27FC236}">
                <a16:creationId xmlns:a16="http://schemas.microsoft.com/office/drawing/2014/main" id="{907780A9-7235-41F8-BDF6-535635963AB4}"/>
              </a:ext>
            </a:extLst>
          </p:cNvPr>
          <p:cNvSpPr>
            <a:spLocks xmlns:a="http://schemas.openxmlformats.org/drawingml/2006/main" noGrp="1"/>
          </p:cNvSpPr>
          <p:nvPr/>
        </p:nvSpPr>
        <p:spPr>
          <a:xfrm xmlns:a="http://schemas.openxmlformats.org/drawingml/2006/main">
            <a:off x="685800" y="1504950"/>
            <a:ext cx="10820400" cy="0"/>
          </a:xfrm>
          <a:prstGeom xmlns:a="http://schemas.openxmlformats.org/drawingml/2006/main" prst="line">
            <a:avLst/>
          </a:prstGeom>
          <a:noFill xmlns:a="http://schemas.openxmlformats.org/drawingml/2006/main"/>
          <a:ln xmlns:a="http://schemas.openxmlformats.org/drawingml/2006/main" w="9525">
            <a:solidFill>
              <a:srgbClr val="CBD0D8"/>
            </a:solidFill>
            <a:prstDash val="solid"/>
          </a:ln>
        </p:spPr>
      </p:sp>
      <p:sp>
        <p:nvSpPr>
          <p:cNvPr id="4" name="">
            <a:extLst xmlns:a="http://schemas.openxmlformats.org/drawingml/2006/main">
              <a:ext uri="{FF2B5EF4-FFF2-40B4-BE49-F238E27FC236}">
                <a16:creationId xmlns:a16="http://schemas.microsoft.com/office/drawing/2014/main" id="{41C2E67D-8D63-496D-8260-30EAFC6DE48E}"/>
              </a:ext>
            </a:extLst>
          </p:cNvPr>
          <p:cNvSpPr>
            <a:spLocks xmlns:a="http://schemas.openxmlformats.org/drawingml/2006/main" noGrp="1"/>
          </p:cNvSpPr>
          <p:nvPr/>
        </p:nvSpPr>
        <p:spPr>
          <a:xfrm xmlns:a="http://schemas.openxmlformats.org/drawingml/2006/main">
            <a:off x="11144250" y="400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5B6472"/>
                </a:solidFill>
              </a:defRPr>
            </a:pPr>
            <a:r>
              <a:rPr sz="1050" b="1">
                <a:solidFill>
                  <a:srgbClr val="5B6472"/>
                </a:solidFill>
              </a:rPr>
              <a:t>11</a:t>
            </a:r>
          </a:p>
        </p:txBody>
      </p:sp>
      <p:sp>
        <p:nvSpPr>
          <p:cNvPr id="5" name="">
            <a:extLst xmlns:a="http://schemas.openxmlformats.org/drawingml/2006/main">
              <a:ext uri="{FF2B5EF4-FFF2-40B4-BE49-F238E27FC236}">
                <a16:creationId xmlns:a16="http://schemas.microsoft.com/office/drawing/2014/main" id="{7DF6B5EC-B8BA-4F23-B47C-B85DA2556C16}"/>
              </a:ext>
            </a:extLst>
          </p:cNvPr>
          <p:cNvSpPr>
            <a:spLocks xmlns:a="http://schemas.openxmlformats.org/drawingml/2006/main" noGrp="1"/>
          </p:cNvSpPr>
          <p:nvPr/>
        </p:nvSpPr>
        <p:spPr>
          <a:xfrm xmlns:a="http://schemas.openxmlformats.org/drawingml/2006/main">
            <a:off x="742950" y="18859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F80ED"/>
                </a:solidFill>
              </a:defRPr>
            </a:pPr>
            <a:r>
              <a:rPr sz="1800" b="1">
                <a:solidFill>
                  <a:srgbClr val="2F80ED"/>
                </a:solidFill>
              </a:rPr>
              <a:t>01</a:t>
            </a:r>
          </a:p>
        </p:txBody>
      </p:sp>
      <p:sp>
        <p:nvSpPr>
          <p:cNvPr id="6" name="">
            <a:extLst xmlns:a="http://schemas.openxmlformats.org/drawingml/2006/main">
              <a:ext uri="{FF2B5EF4-FFF2-40B4-BE49-F238E27FC236}">
                <a16:creationId xmlns:a16="http://schemas.microsoft.com/office/drawing/2014/main" id="{7EBCB293-1F7C-4A46-A0F4-EB46CA46B643}"/>
              </a:ext>
            </a:extLst>
          </p:cNvPr>
          <p:cNvSpPr>
            <a:spLocks xmlns:a="http://schemas.openxmlformats.org/drawingml/2006/main" noGrp="1"/>
          </p:cNvSpPr>
          <p:nvPr/>
        </p:nvSpPr>
        <p:spPr>
          <a:xfrm xmlns:a="http://schemas.openxmlformats.org/drawingml/2006/main">
            <a:off x="1524000" y="18859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분포</a:t>
            </a:r>
          </a:p>
        </p:txBody>
      </p:sp>
      <p:sp>
        <p:nvSpPr>
          <p:cNvPr id="7" name="">
            <a:extLst xmlns:a="http://schemas.openxmlformats.org/drawingml/2006/main">
              <a:ext uri="{FF2B5EF4-FFF2-40B4-BE49-F238E27FC236}">
                <a16:creationId xmlns:a16="http://schemas.microsoft.com/office/drawing/2014/main" id="{AFCFF6E7-3706-4887-B304-B0BEEDF1561B}"/>
              </a:ext>
            </a:extLst>
          </p:cNvPr>
          <p:cNvSpPr>
            <a:spLocks xmlns:a="http://schemas.openxmlformats.org/drawingml/2006/main" noGrp="1"/>
          </p:cNvSpPr>
          <p:nvPr/>
        </p:nvSpPr>
        <p:spPr>
          <a:xfrm xmlns:a="http://schemas.openxmlformats.org/drawingml/2006/main">
            <a:off x="3143250" y="18859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B6472"/>
                </a:solidFill>
              </a:defRPr>
            </a:pPr>
            <a:r>
              <a:rPr sz="1500" b="0">
                <a:solidFill>
                  <a:srgbClr val="5B6472"/>
                </a:solidFill>
              </a:rPr>
              <a:t>상대비율·사용자 집중도·가중치가 허용범위 안인가</a:t>
            </a:r>
          </a:p>
        </p:txBody>
      </p:sp>
      <p:sp>
        <p:nvSpPr>
          <p:cNvPr id="8" name="">
            <a:extLst xmlns:a="http://schemas.openxmlformats.org/drawingml/2006/main">
              <a:ext uri="{FF2B5EF4-FFF2-40B4-BE49-F238E27FC236}">
                <a16:creationId xmlns:a16="http://schemas.microsoft.com/office/drawing/2014/main" id="{6B2EE7FC-3AE5-4F3D-9CE7-F368B62FE4DB}"/>
              </a:ext>
            </a:extLst>
          </p:cNvPr>
          <p:cNvSpPr>
            <a:spLocks xmlns:a="http://schemas.openxmlformats.org/drawingml/2006/main" noGrp="1"/>
          </p:cNvSpPr>
          <p:nvPr/>
        </p:nvSpPr>
        <p:spPr>
          <a:xfrm xmlns:a="http://schemas.openxmlformats.org/drawingml/2006/main">
            <a:off x="742950" y="26670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F80ED"/>
                </a:solidFill>
              </a:defRPr>
            </a:pPr>
            <a:r>
              <a:rPr sz="1800" b="1">
                <a:solidFill>
                  <a:srgbClr val="2F80ED"/>
                </a:solidFill>
              </a:rPr>
              <a:t>02</a:t>
            </a:r>
          </a:p>
        </p:txBody>
      </p:sp>
      <p:sp>
        <p:nvSpPr>
          <p:cNvPr id="9" name="">
            <a:extLst xmlns:a="http://schemas.openxmlformats.org/drawingml/2006/main">
              <a:ext uri="{FF2B5EF4-FFF2-40B4-BE49-F238E27FC236}">
                <a16:creationId xmlns:a16="http://schemas.microsoft.com/office/drawing/2014/main" id="{B292262D-5EAC-4B2B-9960-65A59719A714}"/>
              </a:ext>
            </a:extLst>
          </p:cNvPr>
          <p:cNvSpPr>
            <a:spLocks xmlns:a="http://schemas.openxmlformats.org/drawingml/2006/main" noGrp="1"/>
          </p:cNvSpPr>
          <p:nvPr/>
        </p:nvSpPr>
        <p:spPr>
          <a:xfrm xmlns:a="http://schemas.openxmlformats.org/drawingml/2006/main">
            <a:off x="1524000" y="26670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관계</a:t>
            </a:r>
          </a:p>
        </p:txBody>
      </p:sp>
      <p:sp>
        <p:nvSpPr>
          <p:cNvPr id="10" name="">
            <a:extLst xmlns:a="http://schemas.openxmlformats.org/drawingml/2006/main">
              <a:ext uri="{FF2B5EF4-FFF2-40B4-BE49-F238E27FC236}">
                <a16:creationId xmlns:a16="http://schemas.microsoft.com/office/drawing/2014/main" id="{BF6902B6-5FD5-4D93-AFF0-72437BE500D6}"/>
              </a:ext>
            </a:extLst>
          </p:cNvPr>
          <p:cNvSpPr>
            <a:spLocks xmlns:a="http://schemas.openxmlformats.org/drawingml/2006/main" noGrp="1"/>
          </p:cNvSpPr>
          <p:nvPr/>
        </p:nvSpPr>
        <p:spPr>
          <a:xfrm xmlns:a="http://schemas.openxmlformats.org/drawingml/2006/main">
            <a:off x="3143250" y="266700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B6472"/>
                </a:solidFill>
              </a:defRPr>
            </a:pPr>
            <a:r>
              <a:rPr sz="1500" b="0">
                <a:solidFill>
                  <a:srgbClr val="5B6472"/>
                </a:solidFill>
              </a:rPr>
              <a:t>PK/FK와 search→result→event 순서가 보존되는가</a:t>
            </a:r>
          </a:p>
        </p:txBody>
      </p:sp>
      <p:sp>
        <p:nvSpPr>
          <p:cNvPr id="11" name="">
            <a:extLst xmlns:a="http://schemas.openxmlformats.org/drawingml/2006/main">
              <a:ext uri="{FF2B5EF4-FFF2-40B4-BE49-F238E27FC236}">
                <a16:creationId xmlns:a16="http://schemas.microsoft.com/office/drawing/2014/main" id="{1DD28E64-B3CD-4AB9-A51A-E92C6A0CEC8A}"/>
              </a:ext>
            </a:extLst>
          </p:cNvPr>
          <p:cNvSpPr>
            <a:spLocks xmlns:a="http://schemas.openxmlformats.org/drawingml/2006/main" noGrp="1"/>
          </p:cNvSpPr>
          <p:nvPr/>
        </p:nvSpPr>
        <p:spPr>
          <a:xfrm xmlns:a="http://schemas.openxmlformats.org/drawingml/2006/main">
            <a:off x="742950" y="344805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F80ED"/>
                </a:solidFill>
              </a:defRPr>
            </a:pPr>
            <a:r>
              <a:rPr sz="1800" b="1">
                <a:solidFill>
                  <a:srgbClr val="2F80ED"/>
                </a:solidFill>
              </a:rPr>
              <a:t>03</a:t>
            </a:r>
          </a:p>
        </p:txBody>
      </p:sp>
      <p:sp>
        <p:nvSpPr>
          <p:cNvPr id="12" name="">
            <a:extLst xmlns:a="http://schemas.openxmlformats.org/drawingml/2006/main">
              <a:ext uri="{FF2B5EF4-FFF2-40B4-BE49-F238E27FC236}">
                <a16:creationId xmlns:a16="http://schemas.microsoft.com/office/drawing/2014/main" id="{EBC8F6CE-4746-473A-9C40-8425C459094E}"/>
              </a:ext>
            </a:extLst>
          </p:cNvPr>
          <p:cNvSpPr>
            <a:spLocks xmlns:a="http://schemas.openxmlformats.org/drawingml/2006/main" noGrp="1"/>
          </p:cNvSpPr>
          <p:nvPr/>
        </p:nvSpPr>
        <p:spPr>
          <a:xfrm xmlns:a="http://schemas.openxmlformats.org/drawingml/2006/main">
            <a:off x="1524000" y="34480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편향</a:t>
            </a:r>
          </a:p>
        </p:txBody>
      </p:sp>
      <p:sp>
        <p:nvSpPr>
          <p:cNvPr id="13" name="">
            <a:extLst xmlns:a="http://schemas.openxmlformats.org/drawingml/2006/main">
              <a:ext uri="{FF2B5EF4-FFF2-40B4-BE49-F238E27FC236}">
                <a16:creationId xmlns:a16="http://schemas.microsoft.com/office/drawing/2014/main" id="{31F13991-690C-4A92-A9A5-CD3828AC7673}"/>
              </a:ext>
            </a:extLst>
          </p:cNvPr>
          <p:cNvSpPr>
            <a:spLocks xmlns:a="http://schemas.openxmlformats.org/drawingml/2006/main" noGrp="1"/>
          </p:cNvSpPr>
          <p:nvPr/>
        </p:nvSpPr>
        <p:spPr>
          <a:xfrm xmlns:a="http://schemas.openxmlformats.org/drawingml/2006/main">
            <a:off x="3143250" y="34480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B6472"/>
                </a:solidFill>
              </a:defRPr>
            </a:pPr>
            <a:r>
              <a:rPr sz="1500" b="0">
                <a:solidFill>
                  <a:srgbClr val="5B6472"/>
                </a:solidFill>
              </a:rPr>
              <a:t>특정 세그먼트·결론을 과도하게 심지 않았는가</a:t>
            </a:r>
          </a:p>
        </p:txBody>
      </p:sp>
      <p:sp>
        <p:nvSpPr>
          <p:cNvPr id="14" name="">
            <a:extLst xmlns:a="http://schemas.openxmlformats.org/drawingml/2006/main">
              <a:ext uri="{FF2B5EF4-FFF2-40B4-BE49-F238E27FC236}">
                <a16:creationId xmlns:a16="http://schemas.microsoft.com/office/drawing/2014/main" id="{E5BB986B-CA35-4C19-ACE4-E2C2129DA44B}"/>
              </a:ext>
            </a:extLst>
          </p:cNvPr>
          <p:cNvSpPr>
            <a:spLocks xmlns:a="http://schemas.openxmlformats.org/drawingml/2006/main" noGrp="1"/>
          </p:cNvSpPr>
          <p:nvPr/>
        </p:nvSpPr>
        <p:spPr>
          <a:xfrm xmlns:a="http://schemas.openxmlformats.org/drawingml/2006/main">
            <a:off x="742950" y="42291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F80ED"/>
                </a:solidFill>
              </a:defRPr>
            </a:pPr>
            <a:r>
              <a:rPr sz="1800" b="1">
                <a:solidFill>
                  <a:srgbClr val="2F80ED"/>
                </a:solidFill>
              </a:rPr>
              <a:t>04</a:t>
            </a:r>
          </a:p>
        </p:txBody>
      </p:sp>
      <p:sp>
        <p:nvSpPr>
          <p:cNvPr id="15" name="">
            <a:extLst xmlns:a="http://schemas.openxmlformats.org/drawingml/2006/main">
              <a:ext uri="{FF2B5EF4-FFF2-40B4-BE49-F238E27FC236}">
                <a16:creationId xmlns:a16="http://schemas.microsoft.com/office/drawing/2014/main" id="{218481A5-3376-466F-B923-7D9AB05A53E4}"/>
              </a:ext>
            </a:extLst>
          </p:cNvPr>
          <p:cNvSpPr>
            <a:spLocks xmlns:a="http://schemas.openxmlformats.org/drawingml/2006/main" noGrp="1"/>
          </p:cNvSpPr>
          <p:nvPr/>
        </p:nvSpPr>
        <p:spPr>
          <a:xfrm xmlns:a="http://schemas.openxmlformats.org/drawingml/2006/main">
            <a:off x="1524000" y="42291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827"/>
                </a:solidFill>
              </a:defRPr>
            </a:pPr>
            <a:r>
              <a:rPr sz="1650" b="1">
                <a:solidFill>
                  <a:srgbClr val="111827"/>
                </a:solidFill>
              </a:rPr>
              <a:t>가설</a:t>
            </a:r>
          </a:p>
        </p:txBody>
      </p:sp>
      <p:sp>
        <p:nvSpPr>
          <p:cNvPr id="16" name="">
            <a:extLst xmlns:a="http://schemas.openxmlformats.org/drawingml/2006/main">
              <a:ext uri="{FF2B5EF4-FFF2-40B4-BE49-F238E27FC236}">
                <a16:creationId xmlns:a16="http://schemas.microsoft.com/office/drawing/2014/main" id="{F3029D14-EB97-4D84-917F-05C732E4E1EC}"/>
              </a:ext>
            </a:extLst>
          </p:cNvPr>
          <p:cNvSpPr>
            <a:spLocks xmlns:a="http://schemas.openxmlformats.org/drawingml/2006/main" noGrp="1"/>
          </p:cNvSpPr>
          <p:nvPr/>
        </p:nvSpPr>
        <p:spPr>
          <a:xfrm xmlns:a="http://schemas.openxmlformats.org/drawingml/2006/main">
            <a:off x="3143250" y="422910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B6472"/>
                </a:solidFill>
              </a:defRPr>
            </a:pPr>
            <a:r>
              <a:rPr sz="1500" b="0">
                <a:solidFill>
                  <a:srgbClr val="5B6472"/>
                </a:solidFill>
              </a:rPr>
              <a:t>조건 조합·재검색 전략별 차이를 다시 검증할 수 있는가</a:t>
            </a:r>
          </a:p>
        </p:txBody>
      </p:sp>
      <p:sp>
        <p:nvSpPr>
          <p:cNvPr id="17" name="">
            <a:extLst xmlns:a="http://schemas.openxmlformats.org/drawingml/2006/main">
              <a:ext uri="{FF2B5EF4-FFF2-40B4-BE49-F238E27FC236}">
                <a16:creationId xmlns:a16="http://schemas.microsoft.com/office/drawing/2014/main" id="{DA4024D1-4550-4204-A2BF-D600463A4131}"/>
              </a:ext>
            </a:extLst>
          </p:cNvPr>
          <p:cNvSpPr>
            <a:spLocks xmlns:a="http://schemas.openxmlformats.org/drawingml/2006/main" noGrp="1"/>
          </p:cNvSpPr>
          <p:nvPr/>
        </p:nvSpPr>
        <p:spPr>
          <a:xfrm xmlns:a="http://schemas.openxmlformats.org/drawingml/2006/main">
            <a:off x="685800" y="5238750"/>
            <a:ext cx="10820400" cy="8763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CCA31AD-FA7B-43A8-866B-166AAE344DE7}"/>
              </a:ext>
            </a:extLst>
          </p:cNvPr>
          <p:cNvSpPr>
            <a:spLocks xmlns:a="http://schemas.openxmlformats.org/drawingml/2006/main" noGrp="1"/>
          </p:cNvSpPr>
          <p:nvPr/>
        </p:nvSpPr>
        <p:spPr>
          <a:xfrm xmlns:a="http://schemas.openxmlformats.org/drawingml/2006/main">
            <a:off x="933450" y="5476875"/>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F80ED"/>
                </a:solidFill>
              </a:defRPr>
            </a:pPr>
            <a:r>
              <a:rPr sz="1500" b="1">
                <a:solidFill>
                  <a:srgbClr val="2F80ED"/>
                </a:solidFill>
              </a:rPr>
              <a:t>결론</a:t>
            </a:r>
          </a:p>
        </p:txBody>
      </p:sp>
      <p:sp>
        <p:nvSpPr>
          <p:cNvPr id="19" name="">
            <a:extLst xmlns:a="http://schemas.openxmlformats.org/drawingml/2006/main">
              <a:ext uri="{FF2B5EF4-FFF2-40B4-BE49-F238E27FC236}">
                <a16:creationId xmlns:a16="http://schemas.microsoft.com/office/drawing/2014/main" id="{E82B384E-7216-424F-9BA4-5C7B3002F219}"/>
              </a:ext>
            </a:extLst>
          </p:cNvPr>
          <p:cNvSpPr>
            <a:spLocks xmlns:a="http://schemas.openxmlformats.org/drawingml/2006/main" noGrp="1"/>
          </p:cNvSpPr>
          <p:nvPr/>
        </p:nvSpPr>
        <p:spPr>
          <a:xfrm xmlns:a="http://schemas.openxmlformats.org/drawingml/2006/main">
            <a:off x="2143125" y="5381625"/>
            <a:ext cx="8810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defRPr>
            </a:pPr>
            <a:r>
              <a:rPr sz="1875" b="1">
                <a:solidFill>
                  <a:srgbClr val="FFFFFF"/>
                </a:solidFill>
              </a:rPr>
              <a:t>전체 검색 퍼널을 유지하고, 0건을 중심으로 조건·회복 가설을 검증한다.</a:t>
            </a:r>
          </a:p>
        </p:txBody>
      </p:sp>
    </p:spTree>
    <p:extLst>
      <p:ext uri="{BB962C8B-B14F-4D97-AF65-F5344CB8AC3E}">
        <p14:creationId xmlns:p14="http://schemas.microsoft.com/office/powerpoint/2010/main" val="19257021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2026-09-01T07:15:41.9000000Z</dcterms:created>
  <dcterms:modified xsi:type="dcterms:W3CDTF">2026-09-01T07:15:41.9000000Z</dcterms:modified>
</coreProperties>
</file>