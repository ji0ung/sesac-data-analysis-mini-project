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501f317684c66" /><Relationship Type="http://schemas.openxmlformats.org/officeDocument/2006/relationships/extended-properties" Target="/docProps/app.xml" Id="R48afbba53e3348a3" /><Relationship Type="http://schemas.openxmlformats.org/officeDocument/2006/relationships/officeDocument" Target="/ppt/presentation.xml" Id="Rd7d0f9cbc1aa45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a8f82d9d349c4"/>
  </p:sldMasterIdLst>
  <p:notesMasterIdLst>
    <p:notesMasterId xmlns:r="http://schemas.openxmlformats.org/officeDocument/2006/relationships" r:id="Rf9f8da0f444348b6"/>
  </p:notesMasterIdLst>
  <p:sldIdLst>
    <p:sldId xmlns:r="http://schemas.openxmlformats.org/officeDocument/2006/relationships" id="256" r:id="R8aeae8acf476459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9f2ae47f3d4aa5" /><Relationship Type="http://schemas.openxmlformats.org/officeDocument/2006/relationships/slideMaster" Target="/ppt/slideMasters/slideMaster1.xml" Id="R0e4a8f82d9d349c4" /><Relationship Type="http://schemas.openxmlformats.org/officeDocument/2006/relationships/notesMaster" Target="/ppt/notesMasters/notesMaster1.xml" Id="Rf9f8da0f444348b6" /><Relationship Type="http://schemas.openxmlformats.org/officeDocument/2006/relationships/presProps" Target="/ppt/presProps.xml" Id="Rbca2674cae3e46f9" /><Relationship Type="http://schemas.openxmlformats.org/officeDocument/2006/relationships/tableStyles" Target="/ppt/tableStyles.xml" Id="R0931bc556d8640c8" /><Relationship Type="http://schemas.openxmlformats.org/officeDocument/2006/relationships/slide" Target="/ppt/slides/slide1.xml" Id="R8aeae8acf476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6b4ba9c051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751407d5b44360" /><Relationship Type="http://schemas.openxmlformats.org/officeDocument/2006/relationships/notesMaster" Target="/ppt/notesMasters/notesMaster1.xml" Id="Rc33f1a1cf5f443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9d52585844d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8ddb55ee849f8" /><Relationship Type="http://schemas.openxmlformats.org/officeDocument/2006/relationships/slideLayout" Target="/ppt/slideLayouts/slideLayout1.xml" Id="Rd2e88ecac9aa4e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88ecac9aa4e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89c9909194a98" /><Relationship Type="http://schemas.openxmlformats.org/officeDocument/2006/relationships/notesSlide" Target="/ppt/notesSlides/notesSlide1.xml" Id="R05b44d7bd97c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eyebrow">
            <a:extLst xmlns:a="http://schemas.openxmlformats.org/drawingml/2006/main">
              <a:ext uri="{FF2B5EF4-FFF2-40B4-BE49-F238E27FC236}">
                <a16:creationId xmlns:a16="http://schemas.microsoft.com/office/drawing/2014/main" id="{0D098C7B-29C5-4D41-B611-AFC6F769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SEARCH INTENT × OUTCOME SEGMENT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CBE1EE-CF8E-4027-8E56-D641EE8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검색 의도에 맞는 제안이 SG4를 SG3로 이동시킨다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C10B328-21C4-4A04-8D7B-4377FEC0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검색 전 6개 의도군으로 제안을 선택하고, 검색 후 4개 성과군으로 개선 여부를 판단</a:t>
            </a:r>
          </a:p>
        </p:txBody>
      </p:sp>
      <p:sp>
        <p:nvSpPr>
          <p:cNvPr id="4" name="sample">
            <a:extLst xmlns:a="http://schemas.openxmlformats.org/drawingml/2006/main">
              <a:ext uri="{FF2B5EF4-FFF2-40B4-BE49-F238E27FC236}">
                <a16:creationId xmlns:a16="http://schemas.microsoft.com/office/drawing/2014/main" id="{BEE30B9D-B622-4735-AFB0-17A36EDD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57200"/>
            <a:ext cx="1619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ample-text">
            <a:extLst xmlns:a="http://schemas.openxmlformats.org/drawingml/2006/main">
              <a:ext uri="{FF2B5EF4-FFF2-40B4-BE49-F238E27FC236}">
                <a16:creationId xmlns:a16="http://schemas.microsoft.com/office/drawing/2014/main" id="{31BA0607-3653-4DF4-B998-54E0C8B3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429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성과 기준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1,000세션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0D0F3CFC-85F3-4D80-A44A-E50397A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4151"/>
                </a:solidFill>
              </a:defRPr>
            </a:pPr>
            <a:r>
              <a:rPr sz="1350" b="1">
                <a:solidFill>
                  <a:srgbClr val="374151"/>
                </a:solidFill>
              </a:rPr>
              <a:t>검색 전 · 사용자 기준</a:t>
            </a:r>
          </a:p>
        </p:txBody>
      </p:sp>
      <p:sp>
        <p:nvSpPr>
          <p:cNvPr id="7" name="left-title">
            <a:extLst xmlns:a="http://schemas.openxmlformats.org/drawingml/2006/main">
              <a:ext uri="{FF2B5EF4-FFF2-40B4-BE49-F238E27FC236}">
                <a16:creationId xmlns:a16="http://schemas.microsoft.com/office/drawing/2014/main" id="{B863D953-20B1-4997-8388-B4743A35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6개 검색 의도 → 맞춤 제안</a:t>
            </a:r>
          </a:p>
        </p:txBody>
      </p:sp>
      <p:sp>
        <p:nvSpPr>
          <p:cNvPr id="8" name="row-01">
            <a:extLst xmlns:a="http://schemas.openxmlformats.org/drawingml/2006/main">
              <a:ext uri="{FF2B5EF4-FFF2-40B4-BE49-F238E27FC236}">
                <a16:creationId xmlns:a16="http://schemas.microsoft.com/office/drawing/2014/main" id="{03A4CC1B-129C-4C18-BB5F-FF61A61B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7810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num-01">
            <a:extLst xmlns:a="http://schemas.openxmlformats.org/drawingml/2006/main">
              <a:ext uri="{FF2B5EF4-FFF2-40B4-BE49-F238E27FC236}">
                <a16:creationId xmlns:a16="http://schemas.microsoft.com/office/drawing/2014/main" id="{126B53AD-A158-46D0-97D5-B386907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umt-01">
            <a:extLst xmlns:a="http://schemas.openxmlformats.org/drawingml/2006/main">
              <a:ext uri="{FF2B5EF4-FFF2-40B4-BE49-F238E27FC236}">
                <a16:creationId xmlns:a16="http://schemas.microsoft.com/office/drawing/2014/main" id="{132E8BF3-730D-4550-8910-1095FAFB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intent-01">
            <a:extLst xmlns:a="http://schemas.openxmlformats.org/drawingml/2006/main">
              <a:ext uri="{FF2B5EF4-FFF2-40B4-BE49-F238E27FC236}">
                <a16:creationId xmlns:a16="http://schemas.microsoft.com/office/drawing/2014/main" id="{1B69B0F4-5269-402F-811E-6B6E2CCE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19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예산 유연형</a:t>
            </a:r>
          </a:p>
        </p:txBody>
      </p:sp>
      <p:sp>
        <p:nvSpPr>
          <p:cNvPr id="12" name="target-01">
            <a:extLst xmlns:a="http://schemas.openxmlformats.org/drawingml/2006/main">
              <a:ext uri="{FF2B5EF4-FFF2-40B4-BE49-F238E27FC236}">
                <a16:creationId xmlns:a16="http://schemas.microsoft.com/office/drawing/2014/main" id="{918DB3E9-1CC2-40CF-A372-49B751F8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62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가격 설정 사용자</a:t>
            </a:r>
          </a:p>
        </p:txBody>
      </p:sp>
      <p:sp>
        <p:nvSpPr>
          <p:cNvPr id="13" name="arrow-01">
            <a:extLst xmlns:a="http://schemas.openxmlformats.org/drawingml/2006/main">
              <a:ext uri="{FF2B5EF4-FFF2-40B4-BE49-F238E27FC236}">
                <a16:creationId xmlns:a16="http://schemas.microsoft.com/office/drawing/2014/main" id="{C1256F71-7A12-4597-B802-6B439B2D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CA3AF"/>
                </a:solidFill>
              </a:defRPr>
            </a:pPr>
            <a:r>
              <a:rPr sz="195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4" name="action-01">
            <a:extLst xmlns:a="http://schemas.openxmlformats.org/drawingml/2006/main">
              <a:ext uri="{FF2B5EF4-FFF2-40B4-BE49-F238E27FC236}">
                <a16:creationId xmlns:a16="http://schemas.microsoft.com/office/drawing/2014/main" id="{5D0A165E-D968-4BB7-94CF-35195FC6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47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가격 범위 확대</a:t>
            </a:r>
          </a:p>
        </p:txBody>
      </p:sp>
      <p:sp>
        <p:nvSpPr>
          <p:cNvPr id="15" name="kpi-01">
            <a:extLst xmlns:a="http://schemas.openxmlformats.org/drawingml/2006/main">
              <a:ext uri="{FF2B5EF4-FFF2-40B4-BE49-F238E27FC236}">
                <a16:creationId xmlns:a16="http://schemas.microsoft.com/office/drawing/2014/main" id="{49131F96-253F-4977-B67C-6F6F191B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4151"/>
                </a:solidFill>
              </a:defRPr>
            </a:pPr>
            <a:r>
              <a:rPr sz="1200" b="1">
                <a:solidFill>
                  <a:srgbClr val="374151"/>
                </a:solidFill>
              </a:rPr>
              <a:t>SG3 ↑  ·  SG4 ↓  ·  회복률 ↑</a:t>
            </a:r>
          </a:p>
        </p:txBody>
      </p:sp>
      <p:sp>
        <p:nvSpPr>
          <p:cNvPr id="16" name="row-02">
            <a:extLst xmlns:a="http://schemas.openxmlformats.org/drawingml/2006/main">
              <a:ext uri="{FF2B5EF4-FFF2-40B4-BE49-F238E27FC236}">
                <a16:creationId xmlns:a16="http://schemas.microsoft.com/office/drawing/2014/main" id="{A0A1078B-0B88-467D-94B9-C4BA2186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7810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num-02">
            <a:extLst xmlns:a="http://schemas.openxmlformats.org/drawingml/2006/main">
              <a:ext uri="{FF2B5EF4-FFF2-40B4-BE49-F238E27FC236}">
                <a16:creationId xmlns:a16="http://schemas.microsoft.com/office/drawing/2014/main" id="{89683C64-7CC0-4456-AA84-4885F719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t-02">
            <a:extLst xmlns:a="http://schemas.openxmlformats.org/drawingml/2006/main">
              <a:ext uri="{FF2B5EF4-FFF2-40B4-BE49-F238E27FC236}">
                <a16:creationId xmlns:a16="http://schemas.microsoft.com/office/drawing/2014/main" id="{EE2ED6DA-D782-4BB9-BE49-9474D434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intent-02">
            <a:extLst xmlns:a="http://schemas.openxmlformats.org/drawingml/2006/main">
              <a:ext uri="{FF2B5EF4-FFF2-40B4-BE49-F238E27FC236}">
                <a16:creationId xmlns:a16="http://schemas.microsoft.com/office/drawing/2014/main" id="{F16DF002-80AE-47AA-9428-E5DBE17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옵션 수 유연형</a:t>
            </a:r>
          </a:p>
        </p:txBody>
      </p:sp>
      <p:sp>
        <p:nvSpPr>
          <p:cNvPr id="20" name="target-02">
            <a:extLst xmlns:a="http://schemas.openxmlformats.org/drawingml/2006/main">
              <a:ext uri="{FF2B5EF4-FFF2-40B4-BE49-F238E27FC236}">
                <a16:creationId xmlns:a16="http://schemas.microsoft.com/office/drawing/2014/main" id="{BA17D525-08AD-48B4-827B-875819FE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19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옵션 다수 설정 사용자</a:t>
            </a:r>
          </a:p>
        </p:txBody>
      </p:sp>
      <p:sp>
        <p:nvSpPr>
          <p:cNvPr id="21" name="arrow-02">
            <a:extLst xmlns:a="http://schemas.openxmlformats.org/drawingml/2006/main">
              <a:ext uri="{FF2B5EF4-FFF2-40B4-BE49-F238E27FC236}">
                <a16:creationId xmlns:a16="http://schemas.microsoft.com/office/drawing/2014/main" id="{F29C18A8-76C8-45D6-A22A-DE46FF6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CA3AF"/>
                </a:solidFill>
              </a:defRPr>
            </a:pPr>
            <a:r>
              <a:rPr sz="195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2" name="action-02">
            <a:extLst xmlns:a="http://schemas.openxmlformats.org/drawingml/2006/main">
              <a:ext uri="{FF2B5EF4-FFF2-40B4-BE49-F238E27FC236}">
                <a16:creationId xmlns:a16="http://schemas.microsoft.com/office/drawing/2014/main" id="{875F772A-A7AE-4B6E-8252-7D3A199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05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요구 옵션 수 감소</a:t>
            </a:r>
          </a:p>
        </p:txBody>
      </p:sp>
      <p:sp>
        <p:nvSpPr>
          <p:cNvPr id="23" name="kpi-02">
            <a:extLst xmlns:a="http://schemas.openxmlformats.org/drawingml/2006/main">
              <a:ext uri="{FF2B5EF4-FFF2-40B4-BE49-F238E27FC236}">
                <a16:creationId xmlns:a16="http://schemas.microsoft.com/office/drawing/2014/main" id="{9DD97BA7-9272-4AB5-8D42-82F2CCF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4151"/>
                </a:solidFill>
              </a:defRPr>
            </a:pPr>
            <a:r>
              <a:rPr sz="1200" b="1">
                <a:solidFill>
                  <a:srgbClr val="374151"/>
                </a:solidFill>
              </a:rPr>
              <a:t>SG3 ↑  ·  SG4 ↓</a:t>
            </a:r>
          </a:p>
        </p:txBody>
      </p:sp>
      <p:sp>
        <p:nvSpPr>
          <p:cNvPr id="24" name="row-03">
            <a:extLst xmlns:a="http://schemas.openxmlformats.org/drawingml/2006/main">
              <a:ext uri="{FF2B5EF4-FFF2-40B4-BE49-F238E27FC236}">
                <a16:creationId xmlns:a16="http://schemas.microsoft.com/office/drawing/2014/main" id="{2886A037-7D81-485E-BE14-4E119E6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7810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num-03">
            <a:extLst xmlns:a="http://schemas.openxmlformats.org/drawingml/2006/main">
              <a:ext uri="{FF2B5EF4-FFF2-40B4-BE49-F238E27FC236}">
                <a16:creationId xmlns:a16="http://schemas.microsoft.com/office/drawing/2014/main" id="{949DBDF4-C27E-4E99-9157-EDB7902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umt-03">
            <a:extLst xmlns:a="http://schemas.openxmlformats.org/drawingml/2006/main">
              <a:ext uri="{FF2B5EF4-FFF2-40B4-BE49-F238E27FC236}">
                <a16:creationId xmlns:a16="http://schemas.microsoft.com/office/drawing/2014/main" id="{7AB0D1A5-F883-44CC-AAE3-3D94FB3C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intent-03">
            <a:extLst xmlns:a="http://schemas.openxmlformats.org/drawingml/2006/main">
              <a:ext uri="{FF2B5EF4-FFF2-40B4-BE49-F238E27FC236}">
                <a16:creationId xmlns:a16="http://schemas.microsoft.com/office/drawing/2014/main" id="{382096D1-FC96-4DCB-AF06-4621E63A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34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지역 유연형</a:t>
            </a:r>
          </a:p>
        </p:txBody>
      </p:sp>
      <p:sp>
        <p:nvSpPr>
          <p:cNvPr id="28" name="target-03">
            <a:extLst xmlns:a="http://schemas.openxmlformats.org/drawingml/2006/main">
              <a:ext uri="{FF2B5EF4-FFF2-40B4-BE49-F238E27FC236}">
                <a16:creationId xmlns:a16="http://schemas.microsoft.com/office/drawing/2014/main" id="{193BA96C-D0EE-4C42-B131-502C5C4B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목적지 변경 가능 사용자</a:t>
            </a:r>
          </a:p>
        </p:txBody>
      </p:sp>
      <p:sp>
        <p:nvSpPr>
          <p:cNvPr id="29" name="arrow-03">
            <a:extLst xmlns:a="http://schemas.openxmlformats.org/drawingml/2006/main">
              <a:ext uri="{FF2B5EF4-FFF2-40B4-BE49-F238E27FC236}">
                <a16:creationId xmlns:a16="http://schemas.microsoft.com/office/drawing/2014/main" id="{3D689C51-7F02-4816-8B7D-2C7E18FF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245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CA3AF"/>
                </a:solidFill>
              </a:defRPr>
            </a:pPr>
            <a:r>
              <a:rPr sz="195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30" name="action-03">
            <a:extLst xmlns:a="http://schemas.openxmlformats.org/drawingml/2006/main">
              <a:ext uri="{FF2B5EF4-FFF2-40B4-BE49-F238E27FC236}">
                <a16:creationId xmlns:a16="http://schemas.microsoft.com/office/drawing/2014/main" id="{06E2945C-41C1-452B-990E-626B1F7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625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인접지역 확대</a:t>
            </a:r>
          </a:p>
        </p:txBody>
      </p:sp>
      <p:sp>
        <p:nvSpPr>
          <p:cNvPr id="31" name="kpi-03">
            <a:extLst xmlns:a="http://schemas.openxmlformats.org/drawingml/2006/main">
              <a:ext uri="{FF2B5EF4-FFF2-40B4-BE49-F238E27FC236}">
                <a16:creationId xmlns:a16="http://schemas.microsoft.com/office/drawing/2014/main" id="{D275D27D-DB29-42B0-9908-BBE1C93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95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4151"/>
                </a:solidFill>
              </a:defRPr>
            </a:pPr>
            <a:r>
              <a:rPr sz="1200" b="1">
                <a:solidFill>
                  <a:srgbClr val="374151"/>
                </a:solidFill>
              </a:rPr>
              <a:t>지역 변경 회복률 ↑  ·  SG3 ↑</a:t>
            </a:r>
          </a:p>
        </p:txBody>
      </p:sp>
      <p:sp>
        <p:nvSpPr>
          <p:cNvPr id="32" name="secondary-label">
            <a:extLst xmlns:a="http://schemas.openxmlformats.org/drawingml/2006/main">
              <a:ext uri="{FF2B5EF4-FFF2-40B4-BE49-F238E27FC236}">
                <a16:creationId xmlns:a16="http://schemas.microsoft.com/office/drawing/2014/main" id="{39C081E6-454C-4557-8C5B-EEDEB926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추가 탐색 의도군</a:t>
            </a:r>
          </a:p>
        </p:txBody>
      </p:sp>
      <p:sp>
        <p:nvSpPr>
          <p:cNvPr id="33" name="sec-조건 유지형">
            <a:extLst xmlns:a="http://schemas.openxmlformats.org/drawingml/2006/main">
              <a:ext uri="{FF2B5EF4-FFF2-40B4-BE49-F238E27FC236}">
                <a16:creationId xmlns:a16="http://schemas.microsoft.com/office/drawing/2014/main" id="{1927B2B7-EEF9-407C-ADA3-66237DCD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15150"/>
            <a:ext cx="24003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ct-조건 유지형">
            <a:extLst xmlns:a="http://schemas.openxmlformats.org/drawingml/2006/main">
              <a:ext uri="{FF2B5EF4-FFF2-40B4-BE49-F238E27FC236}">
                <a16:creationId xmlns:a16="http://schemas.microsoft.com/office/drawing/2014/main" id="{2F46C8BA-D1FD-4ECD-880A-4036D1E4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0087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4151"/>
                </a:solidFill>
              </a:defRPr>
            </a:pPr>
            <a:r>
              <a:rPr sz="1275" b="1">
                <a:solidFill>
                  <a:srgbClr val="374151"/>
                </a:solidFill>
              </a:rPr>
              <a:t>조건 유지형</a:t>
            </a:r>
          </a:p>
        </p:txBody>
      </p:sp>
      <p:sp>
        <p:nvSpPr>
          <p:cNvPr id="35" name="secs-조건 유지형">
            <a:extLst xmlns:a="http://schemas.openxmlformats.org/drawingml/2006/main">
              <a:ext uri="{FF2B5EF4-FFF2-40B4-BE49-F238E27FC236}">
                <a16:creationId xmlns:a16="http://schemas.microsoft.com/office/drawing/2014/main" id="{D58B00E1-4CD1-4555-AE81-6A3C0462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67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반복 경고·완화안</a:t>
            </a:r>
          </a:p>
        </p:txBody>
      </p:sp>
      <p:sp>
        <p:nvSpPr>
          <p:cNvPr id="36" name="sec-검색어 재구성형">
            <a:extLst xmlns:a="http://schemas.openxmlformats.org/drawingml/2006/main">
              <a:ext uri="{FF2B5EF4-FFF2-40B4-BE49-F238E27FC236}">
                <a16:creationId xmlns:a16="http://schemas.microsoft.com/office/drawing/2014/main" id="{A44AE438-F1D1-4B55-AA95-9D4A261F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915150"/>
            <a:ext cx="24003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ct-검색어 재구성형">
            <a:extLst xmlns:a="http://schemas.openxmlformats.org/drawingml/2006/main">
              <a:ext uri="{FF2B5EF4-FFF2-40B4-BE49-F238E27FC236}">
                <a16:creationId xmlns:a16="http://schemas.microsoft.com/office/drawing/2014/main" id="{A1046C83-11E3-4FD9-BE72-C568057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00087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4151"/>
                </a:solidFill>
              </a:defRPr>
            </a:pPr>
            <a:r>
              <a:rPr sz="1275" b="1">
                <a:solidFill>
                  <a:srgbClr val="374151"/>
                </a:solidFill>
              </a:rPr>
              <a:t>검색어 재구성형</a:t>
            </a:r>
          </a:p>
        </p:txBody>
      </p:sp>
      <p:sp>
        <p:nvSpPr>
          <p:cNvPr id="38" name="secs-검색어 재구성형">
            <a:extLst xmlns:a="http://schemas.openxmlformats.org/drawingml/2006/main">
              <a:ext uri="{FF2B5EF4-FFF2-40B4-BE49-F238E27FC236}">
                <a16:creationId xmlns:a16="http://schemas.microsoft.com/office/drawing/2014/main" id="{0D841029-21EC-4FD6-95AF-D109DAC6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267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연관 검색어·자동완성</a:t>
            </a:r>
          </a:p>
        </p:txBody>
      </p:sp>
      <p:sp>
        <p:nvSpPr>
          <p:cNvPr id="39" name="sec-복합 해결형">
            <a:extLst xmlns:a="http://schemas.openxmlformats.org/drawingml/2006/main">
              <a:ext uri="{FF2B5EF4-FFF2-40B4-BE49-F238E27FC236}">
                <a16:creationId xmlns:a16="http://schemas.microsoft.com/office/drawing/2014/main" id="{CC11AA8F-ECC8-4D34-B666-9D262C02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915150"/>
            <a:ext cx="24003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ct-복합 해결형">
            <a:extLst xmlns:a="http://schemas.openxmlformats.org/drawingml/2006/main">
              <a:ext uri="{FF2B5EF4-FFF2-40B4-BE49-F238E27FC236}">
                <a16:creationId xmlns:a16="http://schemas.microsoft.com/office/drawing/2014/main" id="{640A058B-59F3-4881-A84A-96218EE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00087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4151"/>
                </a:solidFill>
              </a:defRPr>
            </a:pPr>
            <a:r>
              <a:rPr sz="1275" b="1">
                <a:solidFill>
                  <a:srgbClr val="374151"/>
                </a:solidFill>
              </a:rPr>
              <a:t>복합 해결형</a:t>
            </a:r>
          </a:p>
        </p:txBody>
      </p:sp>
      <p:sp>
        <p:nvSpPr>
          <p:cNvPr id="41" name="secs-복합 해결형">
            <a:extLst xmlns:a="http://schemas.openxmlformats.org/drawingml/2006/main">
              <a:ext uri="{FF2B5EF4-FFF2-40B4-BE49-F238E27FC236}">
                <a16:creationId xmlns:a16="http://schemas.microsoft.com/office/drawing/2014/main" id="{9B2FF213-D157-4B24-88BB-83864097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67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복수 조건 단계별 조정</a:t>
            </a:r>
          </a:p>
        </p:txBody>
      </p:sp>
      <p:sp>
        <p:nvSpPr>
          <p:cNvPr id="42" name="divider">
            <a:extLst xmlns:a="http://schemas.openxmlformats.org/drawingml/2006/main">
              <a:ext uri="{FF2B5EF4-FFF2-40B4-BE49-F238E27FC236}">
                <a16:creationId xmlns:a16="http://schemas.microsoft.com/office/drawing/2014/main" id="{602C9547-C055-4A20-9E32-49202976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1905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3" name="move">
            <a:extLst xmlns:a="http://schemas.openxmlformats.org/drawingml/2006/main">
              <a:ext uri="{FF2B5EF4-FFF2-40B4-BE49-F238E27FC236}">
                <a16:creationId xmlns:a16="http://schemas.microsoft.com/office/drawing/2014/main" id="{CD5712B8-FA93-423E-9D9D-1EB96A2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move-t">
            <a:extLst xmlns:a="http://schemas.openxmlformats.org/drawingml/2006/main">
              <a:ext uri="{FF2B5EF4-FFF2-40B4-BE49-F238E27FC236}">
                <a16:creationId xmlns:a16="http://schemas.microsoft.com/office/drawing/2014/main" id="{218DAD9D-396E-4340-A410-33F38B4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299A8C82-4EDE-468E-A6EF-C771471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4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4151"/>
                </a:solidFill>
              </a:defRPr>
            </a:pPr>
            <a:r>
              <a:rPr sz="1350" b="1">
                <a:solidFill>
                  <a:srgbClr val="374151"/>
                </a:solidFill>
              </a:rPr>
              <a:t>검색 후 · 세션 기준</a:t>
            </a:r>
          </a:p>
        </p:txBody>
      </p:sp>
      <p:sp>
        <p:nvSpPr>
          <p:cNvPr id="4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C529C5C5-C66D-4FA2-8C1A-ACEFE88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SG1–SG4로 성과 판정</a:t>
            </a:r>
          </a:p>
        </p:txBody>
      </p:sp>
      <p:sp>
        <p:nvSpPr>
          <p:cNvPr id="47" name="branch1">
            <a:extLst xmlns:a="http://schemas.openxmlformats.org/drawingml/2006/main">
              <a:ext uri="{FF2B5EF4-FFF2-40B4-BE49-F238E27FC236}">
                <a16:creationId xmlns:a16="http://schemas.microsoft.com/office/drawing/2014/main" id="{074F6B5B-44F6-4D05-BF0B-5F1EBEE1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4151"/>
                </a:solidFill>
              </a:defRPr>
            </a:pPr>
            <a:r>
              <a:rPr sz="1350" b="1">
                <a:solidFill>
                  <a:srgbClr val="374151"/>
                </a:solidFill>
              </a:rPr>
              <a:t>첫 검색 결과 있음  861</a:t>
            </a:r>
          </a:p>
        </p:txBody>
      </p:sp>
      <p:sp>
        <p:nvSpPr>
          <p:cNvPr id="48" name="branch1-line">
            <a:extLst xmlns:a="http://schemas.openxmlformats.org/drawingml/2006/main">
              <a:ext uri="{FF2B5EF4-FFF2-40B4-BE49-F238E27FC236}">
                <a16:creationId xmlns:a16="http://schemas.microsoft.com/office/drawing/2014/main" id="{76BAD010-BDB5-469C-A711-E663A8DF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9" name="sg1">
            <a:extLst xmlns:a="http://schemas.openxmlformats.org/drawingml/2006/main">
              <a:ext uri="{FF2B5EF4-FFF2-40B4-BE49-F238E27FC236}">
                <a16:creationId xmlns:a16="http://schemas.microsoft.com/office/drawing/2014/main" id="{27010732-5465-41BB-8926-0FB75B8A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2457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B7E4D0"/>
            </a:solidFill>
            <a:prstDash val="solid"/>
          </a:ln>
        </p:spPr>
      </p:sp>
      <p:sp>
        <p:nvSpPr>
          <p:cNvPr id="50" name="sg1-name">
            <a:extLst xmlns:a="http://schemas.openxmlformats.org/drawingml/2006/main">
              <a:ext uri="{FF2B5EF4-FFF2-40B4-BE49-F238E27FC236}">
                <a16:creationId xmlns:a16="http://schemas.microsoft.com/office/drawing/2014/main" id="{9A75575D-75ED-49D9-A230-D15B49C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5B"/>
                </a:solidFill>
              </a:defRPr>
            </a:pPr>
            <a:r>
              <a:rPr sz="1425" b="1">
                <a:solidFill>
                  <a:srgbClr val="087F5B"/>
                </a:solidFill>
              </a:rPr>
              <a:t>SG1  직접 성공</a:t>
            </a:r>
          </a:p>
        </p:txBody>
      </p:sp>
      <p:sp>
        <p:nvSpPr>
          <p:cNvPr id="51" name="sg1-count">
            <a:extLst xmlns:a="http://schemas.openxmlformats.org/drawingml/2006/main">
              <a:ext uri="{FF2B5EF4-FFF2-40B4-BE49-F238E27FC236}">
                <a16:creationId xmlns:a16="http://schemas.microsoft.com/office/drawing/2014/main" id="{83888DB6-8673-40E8-B897-96CF05D1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909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5F46"/>
                </a:solidFill>
              </a:defRPr>
            </a:pPr>
            <a:r>
              <a:rPr sz="2550" b="1">
                <a:solidFill>
                  <a:srgbClr val="065F46"/>
                </a:solidFill>
              </a:rPr>
              <a:t>630</a:t>
            </a:r>
          </a:p>
        </p:txBody>
      </p:sp>
      <p:sp>
        <p:nvSpPr>
          <p:cNvPr id="52" name="sg1-unit">
            <a:extLst xmlns:a="http://schemas.openxmlformats.org/drawingml/2006/main">
              <a:ext uri="{FF2B5EF4-FFF2-40B4-BE49-F238E27FC236}">
                <a16:creationId xmlns:a16="http://schemas.microsoft.com/office/drawing/2014/main" id="{20F58892-337B-4119-B0FC-79670323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957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7A68"/>
                </a:solidFill>
              </a:defRPr>
            </a:pPr>
            <a:r>
              <a:rPr sz="1050" b="0">
                <a:solidFill>
                  <a:srgbClr val="397A68"/>
                </a:solidFill>
              </a:rPr>
              <a:t>세션 · 호텔 클릭 있음</a:t>
            </a:r>
          </a:p>
        </p:txBody>
      </p:sp>
      <p:sp>
        <p:nvSpPr>
          <p:cNvPr id="53" name="sg2">
            <a:extLst xmlns:a="http://schemas.openxmlformats.org/drawingml/2006/main">
              <a:ext uri="{FF2B5EF4-FFF2-40B4-BE49-F238E27FC236}">
                <a16:creationId xmlns:a16="http://schemas.microsoft.com/office/drawing/2014/main" id="{C8EC381A-6264-408C-8E6E-A5B89FF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371850"/>
            <a:ext cx="2457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2F6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54" name="sg2-name">
            <a:extLst xmlns:a="http://schemas.openxmlformats.org/drawingml/2006/main">
              <a:ext uri="{FF2B5EF4-FFF2-40B4-BE49-F238E27FC236}">
                <a16:creationId xmlns:a16="http://schemas.microsoft.com/office/drawing/2014/main" id="{2C79A00C-7970-4C54-A3AA-EA40C7D3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486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SG2  결과 후 미선택</a:t>
            </a:r>
          </a:p>
        </p:txBody>
      </p:sp>
      <p:sp>
        <p:nvSpPr>
          <p:cNvPr id="55" name="sg2-count">
            <a:extLst xmlns:a="http://schemas.openxmlformats.org/drawingml/2006/main">
              <a:ext uri="{FF2B5EF4-FFF2-40B4-BE49-F238E27FC236}">
                <a16:creationId xmlns:a16="http://schemas.microsoft.com/office/drawing/2014/main" id="{CD9941B0-BDB4-4589-B92C-60F2ECBF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7909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4151"/>
                </a:solidFill>
              </a:defRPr>
            </a:pPr>
            <a:r>
              <a:rPr sz="2550" b="1">
                <a:solidFill>
                  <a:srgbClr val="374151"/>
                </a:solidFill>
              </a:rPr>
              <a:t>231</a:t>
            </a:r>
          </a:p>
        </p:txBody>
      </p:sp>
      <p:sp>
        <p:nvSpPr>
          <p:cNvPr id="56" name="sg2-unit">
            <a:extLst xmlns:a="http://schemas.openxmlformats.org/drawingml/2006/main">
              <a:ext uri="{FF2B5EF4-FFF2-40B4-BE49-F238E27FC236}">
                <a16:creationId xmlns:a16="http://schemas.microsoft.com/office/drawing/2014/main" id="{53FB3440-0A47-407B-AE0B-6C3333D3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8957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세션 · 클릭 없음</a:t>
            </a:r>
          </a:p>
        </p:txBody>
      </p:sp>
      <p:sp>
        <p:nvSpPr>
          <p:cNvPr id="57" name="branch2">
            <a:extLst xmlns:a="http://schemas.openxmlformats.org/drawingml/2006/main">
              <a:ext uri="{FF2B5EF4-FFF2-40B4-BE49-F238E27FC236}">
                <a16:creationId xmlns:a16="http://schemas.microsoft.com/office/drawing/2014/main" id="{01514209-A1A9-4356-B056-F5327606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38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4151"/>
                </a:solidFill>
              </a:defRPr>
            </a:pPr>
            <a:r>
              <a:rPr sz="1350" b="1">
                <a:solidFill>
                  <a:srgbClr val="374151"/>
                </a:solidFill>
              </a:rPr>
              <a:t>첫 검색 결과 없음  139</a:t>
            </a:r>
          </a:p>
        </p:txBody>
      </p:sp>
      <p:sp>
        <p:nvSpPr>
          <p:cNvPr id="58" name="branch2-line">
            <a:extLst xmlns:a="http://schemas.openxmlformats.org/drawingml/2006/main">
              <a:ext uri="{FF2B5EF4-FFF2-40B4-BE49-F238E27FC236}">
                <a16:creationId xmlns:a16="http://schemas.microsoft.com/office/drawing/2014/main" id="{12ACF68A-B1F9-4838-918D-D64DA9E8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0065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9" name="sg3">
            <a:extLst xmlns:a="http://schemas.openxmlformats.org/drawingml/2006/main">
              <a:ext uri="{FF2B5EF4-FFF2-40B4-BE49-F238E27FC236}">
                <a16:creationId xmlns:a16="http://schemas.microsoft.com/office/drawing/2014/main" id="{130A6B5D-9703-4A14-ADF8-FDC206C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02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FD2AD"/>
            </a:solidFill>
            <a:prstDash val="solid"/>
          </a:ln>
        </p:spPr>
      </p:sp>
      <p:sp>
        <p:nvSpPr>
          <p:cNvPr id="60" name="sg3-name">
            <a:extLst xmlns:a="http://schemas.openxmlformats.org/drawingml/2006/main">
              <a:ext uri="{FF2B5EF4-FFF2-40B4-BE49-F238E27FC236}">
                <a16:creationId xmlns:a16="http://schemas.microsoft.com/office/drawing/2014/main" id="{402FF4C4-4970-41AC-BCEE-593F4EA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2410C"/>
                </a:solidFill>
              </a:defRPr>
            </a:pPr>
            <a:r>
              <a:rPr sz="1425" b="1">
                <a:solidFill>
                  <a:srgbClr val="C2410C"/>
                </a:solidFill>
              </a:rPr>
              <a:t>SG3  재검색 회복</a:t>
            </a:r>
          </a:p>
        </p:txBody>
      </p:sp>
      <p:sp>
        <p:nvSpPr>
          <p:cNvPr id="61" name="sg3-count">
            <a:extLst xmlns:a="http://schemas.openxmlformats.org/drawingml/2006/main">
              <a:ext uri="{FF2B5EF4-FFF2-40B4-BE49-F238E27FC236}">
                <a16:creationId xmlns:a16="http://schemas.microsoft.com/office/drawing/2014/main" id="{20F8803B-0771-4E49-94DE-11629DC1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293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</a:defRPr>
            </a:pPr>
            <a:r>
              <a:rPr sz="2550" b="1">
                <a:solidFill>
                  <a:srgbClr val="9A3412"/>
                </a:solidFill>
              </a:rPr>
              <a:t>92</a:t>
            </a:r>
          </a:p>
        </p:txBody>
      </p:sp>
      <p:sp>
        <p:nvSpPr>
          <p:cNvPr id="62" name="sg3-unit">
            <a:extLst xmlns:a="http://schemas.openxmlformats.org/drawingml/2006/main">
              <a:ext uri="{FF2B5EF4-FFF2-40B4-BE49-F238E27FC236}">
                <a16:creationId xmlns:a16="http://schemas.microsoft.com/office/drawing/2014/main" id="{DDF27E04-3A10-4A6D-9862-2149E9A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34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410C"/>
                </a:solidFill>
              </a:defRPr>
            </a:pPr>
            <a:r>
              <a:rPr sz="1050" b="0">
                <a:solidFill>
                  <a:srgbClr val="C2410C"/>
                </a:solidFill>
              </a:rPr>
              <a:t>세션</a:t>
            </a:r>
          </a:p>
        </p:txBody>
      </p:sp>
      <p:sp>
        <p:nvSpPr>
          <p:cNvPr id="63" name="sg3-desc">
            <a:extLst xmlns:a="http://schemas.openxmlformats.org/drawingml/2006/main">
              <a:ext uri="{FF2B5EF4-FFF2-40B4-BE49-F238E27FC236}">
                <a16:creationId xmlns:a16="http://schemas.microsoft.com/office/drawing/2014/main" id="{DEFC66D4-CC25-4590-9C69-4FDFE005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0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2D12"/>
                </a:solidFill>
              </a:defRPr>
            </a:pPr>
            <a:r>
              <a:rPr sz="1050" b="0">
                <a:solidFill>
                  <a:srgbClr val="7C2D12"/>
                </a:solidFill>
              </a:rPr>
              <a:t>후속 검색에서 결과 발생</a:t>
            </a:r>
          </a:p>
        </p:txBody>
      </p:sp>
      <p:sp>
        <p:nvSpPr>
          <p:cNvPr id="64" name="sg4">
            <a:extLst xmlns:a="http://schemas.openxmlformats.org/drawingml/2006/main">
              <a:ext uri="{FF2B5EF4-FFF2-40B4-BE49-F238E27FC236}">
                <a16:creationId xmlns:a16="http://schemas.microsoft.com/office/drawing/2014/main" id="{6D12EA85-C774-48D4-9E79-A1B0F26F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4102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F8B4B4"/>
            </a:solidFill>
            <a:prstDash val="solid"/>
          </a:ln>
        </p:spPr>
      </p:sp>
      <p:sp>
        <p:nvSpPr>
          <p:cNvPr id="65" name="sg4-name">
            <a:extLst xmlns:a="http://schemas.openxmlformats.org/drawingml/2006/main">
              <a:ext uri="{FF2B5EF4-FFF2-40B4-BE49-F238E27FC236}">
                <a16:creationId xmlns:a16="http://schemas.microsoft.com/office/drawing/2014/main" id="{EFC1F8F4-DC30-4C89-AEBC-87D681AF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2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SG4  지속 실패</a:t>
            </a:r>
          </a:p>
        </p:txBody>
      </p:sp>
      <p:sp>
        <p:nvSpPr>
          <p:cNvPr id="66" name="sg4-count">
            <a:extLst xmlns:a="http://schemas.openxmlformats.org/drawingml/2006/main">
              <a:ext uri="{FF2B5EF4-FFF2-40B4-BE49-F238E27FC236}">
                <a16:creationId xmlns:a16="http://schemas.microsoft.com/office/drawing/2014/main" id="{81970562-277A-481F-89B4-A6679D77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8293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91B1B"/>
                </a:solidFill>
              </a:defRPr>
            </a:pPr>
            <a:r>
              <a:rPr sz="2550" b="1">
                <a:solidFill>
                  <a:srgbClr val="991B1B"/>
                </a:solidFill>
              </a:rPr>
              <a:t>47</a:t>
            </a:r>
          </a:p>
        </p:txBody>
      </p:sp>
      <p:sp>
        <p:nvSpPr>
          <p:cNvPr id="67" name="sg4-unit">
            <a:extLst xmlns:a="http://schemas.openxmlformats.org/drawingml/2006/main">
              <a:ext uri="{FF2B5EF4-FFF2-40B4-BE49-F238E27FC236}">
                <a16:creationId xmlns:a16="http://schemas.microsoft.com/office/drawing/2014/main" id="{A90997EF-6703-42C3-82E3-7D327CFD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934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42318"/>
                </a:solidFill>
              </a:defRPr>
            </a:pPr>
            <a:r>
              <a:rPr sz="1050" b="0">
                <a:solidFill>
                  <a:srgbClr val="B42318"/>
                </a:solidFill>
              </a:rPr>
              <a:t>세션</a:t>
            </a:r>
          </a:p>
        </p:txBody>
      </p:sp>
      <p:sp>
        <p:nvSpPr>
          <p:cNvPr id="68" name="sg4-desc">
            <a:extLst xmlns:a="http://schemas.openxmlformats.org/drawingml/2006/main">
              <a:ext uri="{FF2B5EF4-FFF2-40B4-BE49-F238E27FC236}">
                <a16:creationId xmlns:a16="http://schemas.microsoft.com/office/drawing/2014/main" id="{14DADD57-52A8-4C4F-8CAE-75C9CDC7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0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F1D1D"/>
                </a:solidFill>
              </a:defRPr>
            </a:pPr>
            <a:r>
              <a:rPr sz="1050" b="0">
                <a:solidFill>
                  <a:srgbClr val="7F1D1D"/>
                </a:solidFill>
              </a:rPr>
              <a:t>후속 검색에서도 회복 없음</a:t>
            </a:r>
          </a:p>
        </p:txBody>
      </p:sp>
      <p:sp>
        <p:nvSpPr>
          <p:cNvPr id="69" name="takeaway">
            <a:extLst xmlns:a="http://schemas.openxmlformats.org/drawingml/2006/main">
              <a:ext uri="{FF2B5EF4-FFF2-40B4-BE49-F238E27FC236}">
                <a16:creationId xmlns:a16="http://schemas.microsoft.com/office/drawing/2014/main" id="{EC23FA5D-6546-4E28-B62C-6899A684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953250"/>
            <a:ext cx="514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3AD1B92-D57E-4E50-A7CA-73608435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048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핵심 목표  SG4 ↓  →  SG3 ↑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가드레일  회복 뒤 호텔 상세진입까지 확인</a:t>
            </a:r>
          </a:p>
        </p:txBody>
      </p:sp>
      <p:sp>
        <p:nvSpPr>
          <p:cNvPr id="71" name="foot">
            <a:extLst xmlns:a="http://schemas.openxmlformats.org/drawingml/2006/main">
              <a:ext uri="{FF2B5EF4-FFF2-40B4-BE49-F238E27FC236}">
                <a16:creationId xmlns:a16="http://schemas.microsoft.com/office/drawing/2014/main" id="{F12ADA97-26BE-48A9-85D3-DAED6C3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※ 의도군은 제안 선택 기준, SG는 검색 후 성과 기준 · SG4에는 추가 검색이 없는 세션도 포함</a:t>
            </a:r>
          </a:p>
        </p:txBody>
      </p:sp>
    </p:spTree>
    <p:extLst>
      <p:ext uri="{BB962C8B-B14F-4D97-AF65-F5344CB8AC3E}">
        <p14:creationId xmlns:p14="http://schemas.microsoft.com/office/powerpoint/2010/main" val="2102473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2026-09-08T07:38:06.0830000Z</dcterms:created>
  <dcterms:modified xsi:type="dcterms:W3CDTF">2026-09-08T07:38:06.0830000Z</dcterms:modified>
</coreProperties>
</file>