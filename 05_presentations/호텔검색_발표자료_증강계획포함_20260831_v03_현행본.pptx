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5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청중·결정·행동이 한 방향으로 연결되도록 질문을 한 문장으로 고정했습니다.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BI시각화 30일차 기초실습 해답 DOCX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팀 의사결정 질문 합의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전체 EVENT 사용자 142명 중 USER 67명과 일치하는 이벤트만 사용했고, 비참여자 78명은 제외했습니다.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참여자데이터_KST_0828_1800이후_20260831_v01.csv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search_2026-08-31.csv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search_filter_2026-08-31.csv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event_2026-08-31.csv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room_2026-08-31.csv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booking_2026-08-31.csv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재검색은 같은 session_id에서 search_time 순으로 다음 검색이 존재하는 경우입니다.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search_2026-08-31.csv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event_2026-08-31.csv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팀 실측과 논문 결과를 분리했습니다. 논문은 행동이 다양한 탐색 신호로 나타날 수 있다는 해석 근거입니다.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event_2026-08-31.csv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search_2026-08-31.csv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팀 제공 논문 PDF 요약: 필터 10.34%, 정렬 6.86%, 평균 135.60초, 순위별 CTR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목표값을 임의로 고정하지 않고 대조군과 실험군 차이로 판단합니다. 최종 데이터 추가 후 베이스라인은 다시 집계합니다.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팀 KPI·이탈 정의 합의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search_2026-08-31.csv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event_2026-08-31.csv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8fc5addd32f64efa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43acb04cdf694b1c" Type="http://schemas.openxmlformats.org/officeDocument/2006/relationships/theme" Target="../theme/theme1.xml"  /><Relationship Id="Re0968a80e2394eee" Type="http://schemas.openxmlformats.org/officeDocument/2006/relationships/slideLayout" Target="../slideLayouts/slideLayout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968a80e2394e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2a39fb5a96f64edf" Type="http://schemas.openxmlformats.org/officeDocument/2006/relationships/slideLayout" Target="../slideLayouts/slideLayout1.xml"  /><Relationship Id="Rbeb3ccd6e7bf47ff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41c1981281334c28" Type="http://schemas.openxmlformats.org/officeDocument/2006/relationships/notesSlide" Target="../notesSlides/notesSlide1.xml"  /><Relationship Id="R61406fbc6dd643ba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78d27a56362d473e" Type="http://schemas.openxmlformats.org/officeDocument/2006/relationships/notesSlide" Target="../notesSlides/notesSlide2.xml"  /><Relationship Id="R8a844d3768cf4bcf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646cac79cc1c4ec5" Type="http://schemas.openxmlformats.org/officeDocument/2006/relationships/slideLayout" Target="../slideLayouts/slideLayout1.xml"  /><Relationship Id="R89507e834f7147ca" Type="http://schemas.openxmlformats.org/officeDocument/2006/relationships/notesSlide" Target="../notesSlides/notesSlide4.xml"  /><Relationship Id="Rc539ea4bb1834ec4" Type="http://schemas.openxmlformats.org/officeDocument/2006/relationships/chart" Target="charts/chart1.xml"  /></Relationships>
</file>

<file path=ppt/slides/_rels/slide5.xml.rels><?xml version="1.0" encoding="UTF-8" standalone="yes" ?><Relationships xmlns="http://schemas.openxmlformats.org/package/2006/relationships"><Relationship Id="R6463b94692934a98" Type="http://schemas.openxmlformats.org/officeDocument/2006/relationships/notesSlide" Target="../notesSlides/notesSlide3.xml"  /><Relationship Id="Rb7641ec2ba244d69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a08616cc211c40b4" Type="http://schemas.openxmlformats.org/officeDocument/2006/relationships/notesSlide" Target="../notesSlides/notesSlide4.xml"  /><Relationship Id="Rb32c436d7dc244aa" Type="http://schemas.openxmlformats.org/officeDocument/2006/relationships/chart" Target="charts/chart2.xml"  /><Relationship Id="Rd4fec325d1af4657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059d4b504d13492c" Type="http://schemas.openxmlformats.org/officeDocument/2006/relationships/slideLayout" Target="../slideLayouts/slideLayout1.xml"  /><Relationship Id="R1ef2bf21b66c4fbc" Type="http://schemas.openxmlformats.org/officeDocument/2006/relationships/notesSlide" Target="../notesSlides/notesSlide7.xml"  /><Relationship Id="Rb8d995d515c2455e" Type="http://schemas.openxmlformats.org/officeDocument/2006/relationships/chart" Target="charts/chart3.xml"  /></Relationships>
</file>

<file path=ppt/slides/_rels/slide8.xml.rels><?xml version="1.0" encoding="UTF-8" standalone="yes" ?><Relationships xmlns="http://schemas.openxmlformats.org/package/2006/relationships"><Relationship Id="R1fdd09e9f75d4af1" Type="http://schemas.openxmlformats.org/officeDocument/2006/relationships/slideLayout" Target="../slideLayouts/slideLayout1.xml"  /><Relationship Id="Rc5fc64307e6048ff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1165379456574edf" Type="http://schemas.openxmlformats.org/officeDocument/2006/relationships/slideLayout" Target="../slideLayouts/slideLayout1.xml"  /><Relationship Id="R468cadc26dda460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3e279c9db7794de2" Type="http://schemas.openxmlformats.org/officeDocument/2006/relationships/slideLayout" Target="../slideLayouts/slideLayout1.xml"  /><Relationship Id="R8076f43b56c34ca3" Type="http://schemas.openxmlformats.org/officeDocument/2006/relationships/chart" Target="charts/chart4.xml"  /><Relationship Id="Re07d05e55469477d" Type="http://schemas.openxmlformats.org/officeDocument/2006/relationships/notesSlide" Target="../notesSlides/notesSlide11.xml" 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AA6AE-B736-4F18-9B7E-EF5C63A8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rPr>
              <a:t>BI 시각화 30일차 · 2팀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1526F-D6FB-4174-9FBD-0677B524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9810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검색 결과 없음 이후의</a:t>
            </a:r>
          </a:p>
          <a:p xmlns:a="http://schemas.openxmlformats.org/drawingml/2006/main">
            <a:pPr algn="l">
              <a:defRPr sz="4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실패형 재검색을 줄여야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2B9C8-BDE9-4AF6-BFDC-ED7956F3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일본 호텔 검색 행동 대시보드 · 5개 지역 자유 검색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296E8-CA69-439D-9822-81A042FA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1201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42DDC-0FB8-4A6B-8859-4E06512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권순성 · 박지현 · 손지영 · 이소이  |  2026-08-31</a:t>
            </a:r>
          </a:p>
        </p:txBody>
      </p:sp>
    </p:spTree>
    <p:extLst>
      <p:ext uri="{BB962C8B-B14F-4D97-AF65-F5344CB8AC3E}">
        <p14:creationId xmlns:p14="http://schemas.microsoft.com/office/powerpoint/2010/main" val="890446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36619-8183-4F1B-8C72-421A5CBD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[의사결정 질문] 결과 없음 사용자의 탐색 지속을 도와야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5167C-1413-4EE6-A588-0D7C1488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9A6BD-0321-4818-82AF-F7C09EAF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rPr>
              <a:t>의사결정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BB36A-6808-4FCB-8D3B-D08D3BBC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5개 일본 여행 지역에서 검색 결과 없음과 실패형 재검색을 줄이기 위해 어떤 검색 경험을 우선 개선해야 하는가?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179FA-1430-4E52-8764-28459E63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19F00-B54F-413F-848A-F4973C8F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rPr>
              <a:t>의사결정자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FA43F-E292-4474-AA1D-0EE437F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호텔 검색 경험을 기획·개선하는 PO/PM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51E7E-0408-4D0E-9E14-C310139C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B8251-9797-4F69-BC89-D13156E7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rPr>
              <a:t>우선 행동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CAFD4-6D57-4CF5-A64C-1B36414A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442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0건 화면에서 같은 도시의 인접 지역 추천을 실험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BF264-2F24-4685-A9D5-F45B41BD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2팀 · BI 시각화 30일차</a:t>
            </a:r>
          </a:p>
        </p:txBody>
      </p:sp>
    </p:spTree>
    <p:extLst>
      <p:ext uri="{BB962C8B-B14F-4D97-AF65-F5344CB8AC3E}">
        <p14:creationId xmlns:p14="http://schemas.microsoft.com/office/powerpoint/2010/main" val="476507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85407-E56B-4993-B8B4-422A21A7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[데이터·grain] 실제 참여자 로그만 검색·세션 단위로 검증했다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76887-FA2C-4200-83A2-35862231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6E8B-20FB-49E7-ACED-2F0019D1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실제 행동과 가상 속성을 섞지 않고 핵심 결론의 근거를 제한했다.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3CD77-BC98-4EF3-93F5-FF0ECABA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7AC65-9302-494C-B7D5-AE3546B1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95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23572-726B-4D6F-AFD5-CF55FBE7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76475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67명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5C2EF-70DC-4F1B-A041-7E8F3316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57550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등록 참여자 · USER seed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EB1AE-5F7E-4CFA-AEC4-A9B14241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733D5-F75B-4D80-91AA-BAEE96F7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95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4971C-C38B-43D1-972B-B4BBAAE3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76475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34명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74F5D-F924-4F26-83AB-4BD05353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57550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검색을 1회 이상 수행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4BC1F-83C7-4D1B-92EE-454196CE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E82BC-DE41-4FC6-BDD6-BFA98A5F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95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EE836-9435-4FA3-8ECA-65A17F74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76475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264건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7EC83-B1FB-4ECF-8A1B-E2E105EB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57550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고유 search_id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2CC42-3990-46A4-A6CF-377A5725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11144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A916E-122E-4AB3-85CE-A72CFFA9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사용 범위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5B028-89B0-42C1-8669-A545AB9A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SEARCH·FILTER·EVENT는 실제 행동  |  ROOM·BOOKING은 전체 가상  |  날짜별 재고는 일치도 계산에서 제외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E0A350-9822-4AFC-A424-69881E50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2팀 · BI 시각화 30일차</a:t>
            </a:r>
          </a:p>
        </p:txBody>
      </p:sp>
    </p:spTree>
    <p:extLst>
      <p:ext uri="{BB962C8B-B14F-4D97-AF65-F5344CB8AC3E}">
        <p14:creationId xmlns:p14="http://schemas.microsoft.com/office/powerpoint/2010/main" val="344692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78EBC-AE71-4E97-AC65-5139F733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[사실 1] 실제 검색의 절반인 50.4%가 결과 없음으로 끝났다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2D267-FF0B-4F1F-90A3-1040B82C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39ea4bb1834ec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5A842-C58C-4D35-8F8F-54697E67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B3720-B745-45F0-AAB7-993A6355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133 / 264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F84FB-21D1-400F-B100-8B89DBEF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결과 없음 검색률</a:t>
            </a:r>
          </a:p>
          <a:p xmlns:a="http://schemas.openxmlformats.org/drawingml/2006/main">
            <a:pPr algn="l">
              <a:defRPr sz="20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50.4%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11F07-A161-4333-A16F-AA45C2B5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검색 사용자 34명 중 24명(70.6%)이 0건을 한 번 이상 경험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2C428-30F3-4C31-AAF7-30F19436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2팀 · BI 시각화 30일차</a:t>
            </a:r>
          </a:p>
        </p:txBody>
      </p:sp>
    </p:spTree>
    <p:extLst>
      <p:ext uri="{BB962C8B-B14F-4D97-AF65-F5344CB8AC3E}">
        <p14:creationId xmlns:p14="http://schemas.microsoft.com/office/powerpoint/2010/main" val="549176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5710F-3681-4452-856A-349C0E5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[사실 2] 재검색 94.7%에도 다음 검색 해소율은 16.7%였다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C684A-C8CA-42D1-83B7-4BC3E68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2952750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8A999"/>
            </a:solidFill>
            <a:prstDash val="solid"/>
          </a:ln>
        </p:spPr>
      </p:cxnSp>
      <p:cxnSp>
        <p:nvCxnSpPr>
          <p:cNvPr id="20" name=""/>
          <p:cNvCxnSpPr/>
          <p:nvPr/>
        </p:nvCxnSpPr>
        <p:spPr>
          <a:xfrm xmlns:a="http://schemas.openxmlformats.org/drawingml/2006/main">
            <a:off x="7239000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8A99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7EFAE-7536-4C04-A483-6C44DF8A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428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2011E-A844-4D68-B5D8-F54F0842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762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F7E37-8E76-471C-A46E-53A20BDC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4D85F-998E-43FE-914D-AFF7495B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133건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7AD9B-F0EA-460B-B352-D5E1B451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861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결과 없음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23594-3B22-42ED-923B-EEBFEF5B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rPr>
              <a:t>126건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8D24C-A414-4AE4-A2CA-8A9D5851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1945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같은 세션에서 재검색</a:t>
            </a:r>
          </a:p>
          <a:p xmlns:a="http://schemas.openxmlformats.org/drawingml/2006/main">
            <a:pPr algn="ctr">
              <a:defRPr sz="15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94.7%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7C81B-7737-4F0A-8100-B42CCB40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288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21건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15BBD-ADE5-489B-8108-B13BC16D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1945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다음 검색에서 해소</a:t>
            </a:r>
          </a:p>
          <a:p xmlns:a="http://schemas.openxmlformats.org/drawingml/2006/main">
            <a:pPr algn="ctr">
              <a:defRPr sz="15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16.7%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6B53F-EF75-47A8-9A33-1EA2C2D5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57750"/>
            <a:ext cx="10715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F1323-F905-48D8-85E1-1C7FF7F6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05400"/>
            <a:ext cx="1014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대부분 다시 검색했지만 6번 중 1번만 바로 결과를 얻었다.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DFBC5-2469-4B22-B69D-DE2972A3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2팀 · BI 시각화 30일차</a:t>
            </a:r>
          </a:p>
        </p:txBody>
      </p:sp>
    </p:spTree>
    <p:extLst>
      <p:ext uri="{BB962C8B-B14F-4D97-AF65-F5344CB8AC3E}">
        <p14:creationId xmlns:p14="http://schemas.microsoft.com/office/powerpoint/2010/main" val="492153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BEDCA-622E-4AFE-B421-E33D7BA9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[해석] 결과 없음은 실패형 재검색·이탈과 연결됐을 가능성이 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D8402-F823-468A-97FC-2D32A1FC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5810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2c436d7dc244a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E4C09-6D9E-41EB-9366-0F9F56E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rPr>
              <a:t>팀 실측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24435-64AF-45D1-8105-EA0C3A85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905375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E14C9-5616-4DC0-B9B2-172897F0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14500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논문으로 확인한 탐색 행동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545A8-3F36-47E4-831A-0B836402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10.34%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E8663-D36F-4222-86C8-6177C177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필터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FE0D3-2B2B-46C0-834B-D5D44F55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rPr>
              <a:t>6.86%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67EED-DDD8-451C-BD4B-E9EE46B3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28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정렬 변경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82138-808F-4B79-9B36-C571C694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7187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135.6초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FF693-6FAA-494A-8800-E60A0BB3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95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호텔별 평균 탐색시간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574FF-19CB-4481-AFE9-BB6709AD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33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순위별 CTR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859E3-972E-4A3A-8EFE-AF6CA418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86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1위 5.75%  →  25위 0.5% 미만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7A359-AA67-4AE4-ABCF-A224272B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104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4FBC2-2F64-4414-92A5-01B5D12E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논문은 해석을 보완하는 외부 근거이며, 팀 이탈률의 분모나 표본을 늘리는 데 사용하지 않는다.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09F4A-DFDD-4DAE-AB25-723B73CE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2팀 · BI 시각화 30일차</a:t>
            </a:r>
          </a:p>
        </p:txBody>
      </p:sp>
    </p:spTree>
    <p:extLst>
      <p:ext uri="{BB962C8B-B14F-4D97-AF65-F5344CB8AC3E}">
        <p14:creationId xmlns:p14="http://schemas.microsoft.com/office/powerpoint/2010/main" val="1432208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61EC9-AD93-4CD0-82F9-001D5236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[결정] 같은 도시 안에서 결과가 존재하는 인접 지역을 추천한다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8C8D3-EF1A-4884-9E44-99B3B96D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53816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d995d515c2455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C6D0E-FF08-4CC3-AF32-16893F91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5238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9726C-EDDD-4B17-8EDE-941F2AC1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rPr>
              <a:t>0건 화면 개선안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C1BDF-274A-438C-A460-67C9C3B7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1. 같은 도시의 인접 지역 탐색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4E727-6104-4CE5-95CA-8A309F4C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2. 결과가 존재하는 지역만 추천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D1531-EC93-419C-9E62-F72F539C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3. 날짜·인원·선호조건을 유지해 재검색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8AFAA-0FE9-4ABA-A375-CF72262B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지역 변경 n=18로 표본이 작아 ‘검증된 효과’가 아니라 우선 실험 후보로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9598E-DB92-409C-AC8B-7A4EFB9F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084EF-783D-4C83-AB60-F3DD44F1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필터 반복보다 결과가 존재하는 대안을 바로 보여준다.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1F986-B650-4EF9-ACB7-6A6D1AA7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2팀 · BI 시각화 30일차</a:t>
            </a:r>
          </a:p>
        </p:txBody>
      </p:sp>
    </p:spTree>
    <p:extLst>
      <p:ext uri="{BB962C8B-B14F-4D97-AF65-F5344CB8AC3E}">
        <p14:creationId xmlns:p14="http://schemas.microsoft.com/office/powerpoint/2010/main" val="853401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53751-8B3B-49A6-A172-CC63FD53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[한계·추가 데이터] 현재 결과만으로 인과관계는 단정할 수 없다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85393-9488-47E4-9EE6-13DF44E6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300F7-D1A0-4F7C-910A-7AA749EF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114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FD81A-9601-456C-A0F5-A9DF517F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97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5개 지역 제한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A901F-8CDF-4B56-A7FA-BCB0734F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0972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일본 호텔 검색 전체로 일반화하지 않는다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18046-3ED7-4478-8B99-2365A970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1114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EC107-DA10-4458-A3F2-7B99844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검색 세션 36개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F5D82-ADF6-46CF-8B97-07750241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8602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차이를 확정 효과가 아닌 실험 후보로 해석한다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E99CE-D869-4033-8215-B1F2A579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81350"/>
            <a:ext cx="1114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323A0-6756-403A-9E3D-C5EBECC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날짜별 재고 임의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3395A-22A8-4C18-A060-0EC1E121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6232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날짜 적합도를 일치도 계산에서 제외한다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64D1C-7F86-4CF9-BFD0-6FEE8465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1114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E5A28-0726-44A6-92B3-5DA007E9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호텔 일부·객실·예약 가상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F7878-D72B-471E-B757-65A361AD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3862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핵심 결론의 직접 근거에서 제외한다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51CD5-1898-4547-8621-0B359569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33950"/>
            <a:ext cx="1114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840B8-7C49-4D20-BB47-CAF77111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exit 이벤트 없음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AFE37-D617-4415-9811-9CAD4F4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1492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후속 행동 부재를 이탈 프록시로 사용한다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6F4DE-67EF-4A7E-A1E7-7D5678CB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2팀 · BI 시각화 30일차</a:t>
            </a:r>
          </a:p>
        </p:txBody>
      </p:sp>
    </p:spTree>
    <p:extLst>
      <p:ext uri="{BB962C8B-B14F-4D97-AF65-F5344CB8AC3E}">
        <p14:creationId xmlns:p14="http://schemas.microsoft.com/office/powerpoint/2010/main" val="821587374"/>
      </p:ext>
    </p:extLst>
  </p:cSld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>
            <a:spLocks noGrp="1"/>
          </p:cNvSpPr>
          <p:nvPr/>
        </p:nvSpPr>
        <p:spPr>
          <a:xfrm>
            <a:off x="495300" y="361950"/>
            <a:ext cx="10668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/>
          </a:bodyPr>
          <a:lstStyle/>
          <a:p>
            <a:pPr algn="l">
              <a:defRPr sz="285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rPr>
              <a:t>[행동] 대체 지역 추천 실험으로 검색 세션 이탈률 감소를 검증한다</a:t>
            </a:r>
            <a:endParaRPr sz="2850" b="1">
              <a:solidFill>
                <a:srgbClr val="173f5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11258550" y="4857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1050" b="0">
                <a:solidFill>
                  <a:srgbClr val="5f6b76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5f6b76"/>
                </a:solidFill>
                <a:latin typeface="맑은 고딕"/>
                <a:ea typeface="맑은 고딕"/>
                <a:cs typeface="맑은 고딕"/>
              </a:rPr>
              <a:t>09</a:t>
            </a:r>
            <a:endParaRPr sz="1050" b="0">
              <a:solidFill>
                <a:srgbClr val="5f6b76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1" name=""/>
          <p:cNvCxnSpPr/>
          <p:nvPr/>
        </p:nvCxnSpPr>
        <p:spPr>
          <a:xfrm>
            <a:off x="1070032" y="3143249"/>
            <a:ext cx="9216968" cy="0"/>
          </a:xfrm>
          <a:prstGeom prst="straightConnector1">
            <a:avLst/>
          </a:prstGeom>
          <a:ln w="28575">
            <a:solidFill>
              <a:srgbClr val="173f5f"/>
            </a:solidFill>
            <a:prstDash val="solid"/>
          </a:ln>
        </p:spPr>
      </p:cxnSp>
      <p:sp>
        <p:nvSpPr>
          <p:cNvPr id="4" name=""/>
          <p:cNvSpPr>
            <a:spLocks noGrp="1"/>
          </p:cNvSpPr>
          <p:nvPr/>
        </p:nvSpPr>
        <p:spPr>
          <a:xfrm>
            <a:off x="962025" y="3057525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173f5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523875" y="242887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8a999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18a999"/>
                </a:solidFill>
                <a:latin typeface="맑은 고딕"/>
                <a:ea typeface="맑은 고딕"/>
                <a:cs typeface="맑은 고딕"/>
              </a:rPr>
              <a:t>설계</a:t>
            </a:r>
            <a:endParaRPr sz="1350" b="1">
              <a:solidFill>
                <a:srgbClr val="18a99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523875" y="3619500"/>
            <a:ext cx="1952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rPr>
              <a:t>인접 지역 기준</a:t>
            </a:r>
            <a:endParaRPr sz="1500" b="1">
              <a:solidFill>
                <a:srgbClr val="173f5f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rPr>
              <a:t>추천 노출 규칙</a:t>
            </a:r>
            <a:endParaRPr sz="1500" b="1">
              <a:solidFill>
                <a:srgbClr val="173f5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4057650" y="3057525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173f5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3619500" y="242887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8a999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18a999"/>
                </a:solidFill>
                <a:latin typeface="맑은 고딕"/>
                <a:ea typeface="맑은 고딕"/>
                <a:cs typeface="맑은 고딕"/>
              </a:rPr>
              <a:t>구현</a:t>
            </a:r>
            <a:endParaRPr sz="1350" b="1">
              <a:solidFill>
                <a:srgbClr val="18a99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3619500" y="3619500"/>
            <a:ext cx="1952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rPr>
              <a:t>기존 조건 유지</a:t>
            </a:r>
            <a:endParaRPr sz="1500" b="1">
              <a:solidFill>
                <a:srgbClr val="173f5f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rPr>
              <a:t>이벤트 설계</a:t>
            </a:r>
            <a:endParaRPr sz="1500" b="1">
              <a:solidFill>
                <a:srgbClr val="173f5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7153275" y="3057525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173f5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6715125" y="242887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8a999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18a999"/>
                </a:solidFill>
                <a:latin typeface="맑은 고딕"/>
                <a:ea typeface="맑은 고딕"/>
                <a:cs typeface="맑은 고딕"/>
              </a:rPr>
              <a:t>A/B 테스트</a:t>
            </a:r>
            <a:endParaRPr sz="1350" b="1">
              <a:solidFill>
                <a:srgbClr val="18a99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6715125" y="3619500"/>
            <a:ext cx="1952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rPr>
              <a:t>대조군 vs 실험군</a:t>
            </a:r>
            <a:endParaRPr sz="1500" b="1">
              <a:solidFill>
                <a:srgbClr val="173f5f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rPr>
              <a:t>세션 단위 비교</a:t>
            </a:r>
            <a:endParaRPr sz="1500" b="1">
              <a:solidFill>
                <a:srgbClr val="173f5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10201275" y="3057525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18a999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9763125" y="242887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8a999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18a999"/>
                </a:solidFill>
                <a:latin typeface="맑은 고딕"/>
                <a:ea typeface="맑은 고딕"/>
                <a:cs typeface="맑은 고딕"/>
              </a:rPr>
              <a:t>판단</a:t>
            </a:r>
            <a:endParaRPr sz="1350" b="1">
              <a:solidFill>
                <a:srgbClr val="18a99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9763125" y="3619500"/>
            <a:ext cx="1952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rPr>
              <a:t>이탈률 감소와</a:t>
            </a:r>
            <a:endParaRPr sz="1500" b="1">
              <a:solidFill>
                <a:srgbClr val="173f5f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rPr>
              <a:t>보조 KPI 확인</a:t>
            </a:r>
            <a:endParaRPr sz="1500" b="1">
              <a:solidFill>
                <a:srgbClr val="173f5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523875" y="5095875"/>
            <a:ext cx="11144250" cy="714375"/>
          </a:xfrm>
          <a:prstGeom prst="roundRect">
            <a:avLst>
              <a:gd name="adj" fmla="val 10667"/>
            </a:avLst>
          </a:prstGeom>
          <a:solidFill>
            <a:srgbClr val="eaf6f4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781050" y="5286375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3f5f"/>
                </a:solidFill>
                <a:latin typeface="맑은 고딕"/>
                <a:ea typeface="맑은 고딕"/>
                <a:cs typeface="맑은 고딕"/>
              </a:rPr>
              <a:t>1순위 KPI  검색 세션 이탈률  |  보조 KPI  0건 해소율 · 추천 클릭률 · 반복 검색 횟수 · 상세 진입률</a:t>
            </a:r>
            <a:endParaRPr sz="1500" b="1">
              <a:solidFill>
                <a:srgbClr val="173f5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495300" y="6400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l">
              <a:defRPr sz="900" b="0">
                <a:solidFill>
                  <a:srgbClr val="5f6b76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f6b76"/>
                </a:solidFill>
                <a:latin typeface="맑은 고딕"/>
                <a:ea typeface="맑은 고딕"/>
                <a:cs typeface="맑은 고딕"/>
              </a:rPr>
              <a:t>2팀 · BI 시각화 30일차</a:t>
            </a:r>
            <a:endParaRPr sz="900" b="0">
              <a:solidFill>
                <a:srgbClr val="5f6b76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37006-8391-4CE1-A9F3-6DC7D0ED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[부록 A] 10,000명 seed에서 검색·노출·행동 로그를 순차 증강한다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C4DF1-A0A1-4220-8065-A929431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CDF17-5006-44E9-80E6-6D909CC0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1114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14766-1B08-4DB7-97D7-8B81CC9E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B668A-AA0C-4894-B730-AF41A419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478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 증감 원리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0CA54-5697-4E0B-A4CE-DEAAF7FF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478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46420-8497-4099-9969-7C7317CF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1114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3CE06-5621-46D2-98A5-3C350D8C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0D37B-C507-471F-9226-331AB770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526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10,000 고정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BFD3F-AF2F-4649-8CC9-53F0A671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프로젝트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64E4A-2647-43FD-B02C-5FB34FD0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1114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607B8-CB8B-4031-BF0F-D40B5D92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30C96-1542-4933-AEEF-9A104574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241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월 평균 7~8회부터 분포 보정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9E00B-6B55-4501-AADA-F5E0961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논문 조합 추론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FDF38-5650-4B8E-979A-4A4B5E75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33700"/>
            <a:ext cx="1114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E7D8B-319E-4289-8940-2084FAF2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SEARCH_FILTER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36605-AB39-4C83-8897-82935482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956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검색 1건당 1세트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56536-3CA1-41F6-B0F9-77B36FE3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36BB-AF4E-41E2-A0E2-5240367B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05200"/>
            <a:ext cx="1114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E3660-A93A-43E6-9480-46BA010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SEARCH_RESULT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A889E-CDC2-48A0-902E-154A940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671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검색당 24~25개 호텔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FB4B0-675C-407C-851F-349FE487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67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rPr>
              <a:t>강한 근거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D50BA-BE70-45CA-B44B-ABA2C7E3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76700"/>
            <a:ext cx="1114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CDEDE-FBFA-40B7-9BB5-0F835D2F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클릭 EVENT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7F241-EC17-40B0-A6A9-6CD85C91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386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평균 1.11회 · 90%가 1호텔 클릭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035A95-3B90-4363-A19C-875D0F29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386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rPr>
              <a:t>강한 근거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86F64-AC63-49DD-B350-4F0DCD20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1114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A1E9FF-2FA8-49D1-9F43-A068608A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부가 EVENT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260B2-8DDC-48EB-ADA7-E033E647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01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이미지·필터·정렬·호텔정보 비율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34E7F-0FE2-472A-AA29-466C569A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10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근거 있음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A40CCA-7192-4D2D-947B-BB467AED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1114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EE696-BDE3-4271-8EE0-3F671A57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탐색시간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0FE0FE-9A12-427E-8930-97CABA45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816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평균 135.6초 + 양수 분산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79DF81-F772-4311-AFF1-575A08EF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816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근거 있음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B9C981-6F0A-4179-8D2F-BEC1E038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53125"/>
            <a:ext cx="11144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8E6156-F464-410F-A7F1-DE421A74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2932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실제 67명 로그 분석과 별도: data_origin · scenario_id · generation_version으로 구분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AC513-3B51-48D4-B94D-CEBF38CC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부록 · 합성 데이터 증강 계획</a:t>
            </a:r>
          </a:p>
        </p:txBody>
      </p:sp>
    </p:spTree>
    <p:extLst>
      <p:ext uri="{BB962C8B-B14F-4D97-AF65-F5344CB8AC3E}">
        <p14:creationId xmlns:p14="http://schemas.microsoft.com/office/powerpoint/2010/main" val="1779112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F7B92-7CF9-4CE7-B476-9F0AA508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[부록 B] 예약·이탈·재검색은 팀 가정으로 분리해 민감도를 비교한다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F851D-1CEF-498C-81A9-4BB50A07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85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25FB5-6D0B-4505-A238-BAD05583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5572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B6177-FC3E-4AC7-98A4-22509725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5257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BOOKING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67D6A-B4B1-49DA-9EAC-7EDE5F54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5335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클릭·상세조회 이후 일부만 생성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95EB7-CE5B-4DDF-8655-BF421483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716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팀 가정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15872-F32A-4B6E-A959-9F1D8651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5572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571E7-BD78-48CB-95CB-B43A6019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이탈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89193-96B3-40FE-825B-88172EB2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384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적합도에 따라 확률 차등 · 불일치=100% 이탈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7B1B8-22BD-4CD3-9516-5253028C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팀 가정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04648-5232-4863-B5A9-363234EB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90875"/>
            <a:ext cx="5572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FEE23-DFC7-4874-A019-71C66B39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재검색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27E56-569A-48BD-A7E3-384A8B2E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432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0건·적합도에 따라 확률 차등 · 조건 1~2개만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D7437-23B1-4ECF-8D9A-22B91950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팀 가정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1E55E-5767-4AFF-AD58-99028FDD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A999"/>
                </a:solidFill>
                <a:latin typeface="Malgun Gothic"/>
                <a:ea typeface="Malgun Gothic"/>
                <a:cs typeface="Malgun Gothic"/>
              </a:rPr>
              <a:t>시나리오 민감도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6572250" y="1809750"/>
          <a:ext xmlns:a="http://schemas.openxmlformats.org/drawingml/2006/main" cx="4762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76f43b56c34ca3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57C22-F2CA-4C4B-97B7-6E2A7816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3F5F"/>
                </a:solidFill>
                <a:latin typeface="Malgun Gothic"/>
                <a:ea typeface="Malgun Gothic"/>
                <a:cs typeface="Malgun Gothic"/>
              </a:rPr>
              <a:t>적합도: 기준 / +10% / +20% / -10~-20%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19277-98EF-41E6-AFA8-83CDE8D0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10810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91BF5-9F67-43A4-859A-95C64BC6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해석 금지선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8C5A4-29E8-42CC-9C58-1B37ADEA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합성 로그의 예약·이탈·재검색률을 실제 성과로 발표하지 않는다. 생성 규칙을 다시 읽는 결과일 수 있으므로 반드시 ‘시뮬레이션’으로 표시한다.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54E15-40C9-41EF-B53F-22DAA3E2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B76"/>
                </a:solidFill>
                <a:latin typeface="Malgun Gothic"/>
                <a:ea typeface="Malgun Gothic"/>
                <a:cs typeface="Malgun Gothic"/>
              </a:rPr>
              <a:t>부록 · 팀 가정 및 시나리오</a:t>
            </a:r>
          </a:p>
        </p:txBody>
      </p:sp>
    </p:spTree>
    <p:extLst>
      <p:ext uri="{BB962C8B-B14F-4D97-AF65-F5344CB8AC3E}">
        <p14:creationId xmlns:p14="http://schemas.microsoft.com/office/powerpoint/2010/main" val="1967322945"/>
      </p:ext>
    </p:extLst>
  </p:cSld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573</ep:Words>
  <ep:PresentationFormat>Converted Presentation</ep:PresentationFormat>
  <ep:Paragraphs>141</ep:Paragraphs>
  <ep:Slides>11</ep:Slides>
  <ep:Notes>11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ENCO</cp:lastModifiedBy>
  <dcterms:modified xsi:type="dcterms:W3CDTF">2026-08-31T06:30:09.501</dcterms:modified>
  <cp:revision>1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